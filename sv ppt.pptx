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5" r:id="rId3"/>
    <p:sldId id="257" r:id="rId4"/>
    <p:sldId id="270" r:id="rId5"/>
    <p:sldId id="259" r:id="rId6"/>
    <p:sldId id="282" r:id="rId7"/>
    <p:sldId id="291" r:id="rId8"/>
    <p:sldId id="292" r:id="rId9"/>
    <p:sldId id="274" r:id="rId10"/>
    <p:sldId id="283" r:id="rId11"/>
    <p:sldId id="284" r:id="rId12"/>
    <p:sldId id="276" r:id="rId13"/>
    <p:sldId id="288" r:id="rId14"/>
    <p:sldId id="289" r:id="rId15"/>
    <p:sldId id="273" r:id="rId16"/>
    <p:sldId id="290" r:id="rId17"/>
    <p:sldId id="287" r:id="rId18"/>
    <p:sldId id="271" r:id="rId19"/>
    <p:sldId id="280" r:id="rId20"/>
    <p:sldId id="281" r:id="rId21"/>
    <p:sldId id="277" r:id="rId22"/>
    <p:sldId id="279" r:id="rId23"/>
    <p:sldId id="278" r:id="rId24"/>
    <p:sldId id="275" r:id="rId25"/>
    <p:sldId id="272"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1667D6-F8C9-489E-B82C-6E6EDA493641}" v="14" dt="2025-04-24T17:13:3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10" autoAdjust="0"/>
    <p:restoredTop sz="94610"/>
  </p:normalViewPr>
  <p:slideViewPr>
    <p:cSldViewPr snapToGrid="0" snapToObjects="1">
      <p:cViewPr varScale="1">
        <p:scale>
          <a:sx n="84" d="100"/>
          <a:sy n="84" d="100"/>
        </p:scale>
        <p:origin x="744"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3677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p:nvPr/>
        </p:nvSpPr>
        <p:spPr>
          <a:xfrm>
            <a:off x="758381" y="2122408"/>
            <a:ext cx="7620000" cy="898731"/>
          </a:xfrm>
          <a:prstGeom prst="rect">
            <a:avLst/>
          </a:prstGeom>
          <a:noFill/>
          <a:ln/>
        </p:spPr>
        <p:txBody>
          <a:bodyPr wrap="square" rtlCol="0" anchor="ctr"/>
          <a:lstStyle/>
          <a:p>
            <a:pPr marL="0" indent="0" algn="ctr">
              <a:buNone/>
            </a:pPr>
            <a:endParaRPr lang="en-US" sz="2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Box 17">
            <a:extLst>
              <a:ext uri="{FF2B5EF4-FFF2-40B4-BE49-F238E27FC236}">
                <a16:creationId xmlns:a16="http://schemas.microsoft.com/office/drawing/2014/main" id="{858E34A5-CC41-727F-A76B-9AF31A39ACCD}"/>
              </a:ext>
            </a:extLst>
          </p:cNvPr>
          <p:cNvSpPr txBox="1"/>
          <p:nvPr/>
        </p:nvSpPr>
        <p:spPr>
          <a:xfrm>
            <a:off x="1309902" y="1586075"/>
            <a:ext cx="7521678"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sz="1600" dirty="0">
              <a:latin typeface="Times New Roman" panose="02020603050405020304" pitchFamily="18" charset="0"/>
              <a:cs typeface="Times New Roman" panose="02020603050405020304" pitchFamily="18" charset="0"/>
            </a:endParaRPr>
          </a:p>
        </p:txBody>
      </p:sp>
      <p:sp>
        <p:nvSpPr>
          <p:cNvPr id="12" name="TextBox 19">
            <a:extLst>
              <a:ext uri="{FF2B5EF4-FFF2-40B4-BE49-F238E27FC236}">
                <a16:creationId xmlns:a16="http://schemas.microsoft.com/office/drawing/2014/main" id="{2A596AAD-35E9-BFDD-E4DE-AABAED076489}"/>
              </a:ext>
            </a:extLst>
          </p:cNvPr>
          <p:cNvSpPr txBox="1"/>
          <p:nvPr/>
        </p:nvSpPr>
        <p:spPr>
          <a:xfrm>
            <a:off x="409166" y="2389120"/>
            <a:ext cx="8012621" cy="86177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1600" b="1" dirty="0">
                <a:solidFill>
                  <a:srgbClr val="002060"/>
                </a:solidFill>
                <a:latin typeface="Times New Roman" panose="02020603050405020304" pitchFamily="18" charset="0"/>
                <a:cs typeface="Times New Roman" panose="02020603050405020304" pitchFamily="18" charset="0"/>
              </a:rPr>
              <a:t>“ IMAGE CLASSIFICATION-BASED RANSOMWARE ATTACK DETECTION USING A DEEP-LEARNING ALGORITHM ”</a:t>
            </a:r>
          </a:p>
          <a:p>
            <a:pPr algn="ct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13" name="TextBox 20">
            <a:extLst>
              <a:ext uri="{FF2B5EF4-FFF2-40B4-BE49-F238E27FC236}">
                <a16:creationId xmlns:a16="http://schemas.microsoft.com/office/drawing/2014/main" id="{CC330673-E17D-D4FA-63DA-AA77404362AB}"/>
              </a:ext>
            </a:extLst>
          </p:cNvPr>
          <p:cNvSpPr txBox="1"/>
          <p:nvPr/>
        </p:nvSpPr>
        <p:spPr>
          <a:xfrm>
            <a:off x="566305" y="3114880"/>
            <a:ext cx="3707485" cy="132343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1600" b="1" dirty="0">
                <a:solidFill>
                  <a:srgbClr val="0070C0"/>
                </a:solidFill>
                <a:latin typeface="Times New Roman" panose="02020603050405020304" pitchFamily="18" charset="0"/>
                <a:cs typeface="Times New Roman" panose="02020603050405020304" pitchFamily="18" charset="0"/>
              </a:rPr>
              <a:t>Project Team Members</a:t>
            </a:r>
          </a:p>
          <a:p>
            <a:r>
              <a:rPr lang="en-US" altLang="en-US" sz="1600" dirty="0">
                <a:solidFill>
                  <a:srgbClr val="7030A0"/>
                </a:solidFill>
                <a:latin typeface="Times New Roman" panose="02020603050405020304" pitchFamily="18" charset="0"/>
                <a:cs typeface="Times New Roman" panose="02020603050405020304" pitchFamily="18" charset="0"/>
              </a:rPr>
              <a:t>Name   </a:t>
            </a:r>
            <a:r>
              <a:rPr lang="en-US" altLang="en-US" sz="1600" dirty="0">
                <a:latin typeface="Times New Roman" panose="02020603050405020304" pitchFamily="18" charset="0"/>
                <a:cs typeface="Times New Roman" panose="02020603050405020304" pitchFamily="18" charset="0"/>
              </a:rPr>
              <a:t>                         </a:t>
            </a:r>
            <a:r>
              <a:rPr lang="en-US" altLang="en-US" sz="1600" dirty="0">
                <a:solidFill>
                  <a:srgbClr val="7030A0"/>
                </a:solidFill>
                <a:latin typeface="Times New Roman" panose="02020603050405020304" pitchFamily="18" charset="0"/>
                <a:cs typeface="Times New Roman" panose="02020603050405020304" pitchFamily="18" charset="0"/>
              </a:rPr>
              <a:t>USN</a:t>
            </a:r>
            <a:endParaRPr lang="en-US" sz="16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sz="1600" dirty="0">
                <a:solidFill>
                  <a:schemeClr val="accent2">
                    <a:lumMod val="50000"/>
                  </a:schemeClr>
                </a:solidFill>
                <a:latin typeface="Times New Roman" panose="02020603050405020304" pitchFamily="18" charset="0"/>
                <a:cs typeface="Times New Roman" panose="02020603050405020304" pitchFamily="18" charset="0"/>
              </a:rPr>
              <a:t>P N PAVITHRA          1SJ22AD031</a:t>
            </a:r>
          </a:p>
          <a:p>
            <a:pPr algn="just"/>
            <a:r>
              <a:rPr lang="en-US" sz="1600" dirty="0">
                <a:solidFill>
                  <a:schemeClr val="accent2">
                    <a:lumMod val="50000"/>
                  </a:schemeClr>
                </a:solidFill>
                <a:latin typeface="Times New Roman" panose="02020603050405020304" pitchFamily="18" charset="0"/>
                <a:cs typeface="Times New Roman" panose="02020603050405020304" pitchFamily="18" charset="0"/>
              </a:rPr>
              <a:t>SHIRISHA C              1SJ22AD042</a:t>
            </a:r>
          </a:p>
          <a:p>
            <a:pPr algn="just"/>
            <a:r>
              <a:rPr lang="en-US" sz="1600" dirty="0">
                <a:solidFill>
                  <a:schemeClr val="accent2">
                    <a:lumMod val="50000"/>
                  </a:schemeClr>
                </a:solidFill>
                <a:latin typeface="Times New Roman" panose="02020603050405020304" pitchFamily="18" charset="0"/>
                <a:cs typeface="Times New Roman" panose="02020603050405020304" pitchFamily="18" charset="0"/>
              </a:rPr>
              <a:t>VARSHA S V             1SJ22AD057</a:t>
            </a:r>
            <a:endParaRPr lang="en-IN" sz="1600" dirty="0">
              <a:latin typeface="Times New Roman" panose="02020603050405020304" pitchFamily="18" charset="0"/>
              <a:cs typeface="Times New Roman" panose="02020603050405020304" pitchFamily="18" charset="0"/>
            </a:endParaRPr>
          </a:p>
        </p:txBody>
      </p:sp>
      <p:sp>
        <p:nvSpPr>
          <p:cNvPr id="14" name="TextBox 21">
            <a:extLst>
              <a:ext uri="{FF2B5EF4-FFF2-40B4-BE49-F238E27FC236}">
                <a16:creationId xmlns:a16="http://schemas.microsoft.com/office/drawing/2014/main" id="{63E1D173-52B1-1198-57D1-211E856BFA03}"/>
              </a:ext>
            </a:extLst>
          </p:cNvPr>
          <p:cNvSpPr txBox="1"/>
          <p:nvPr/>
        </p:nvSpPr>
        <p:spPr>
          <a:xfrm>
            <a:off x="6553049" y="3204997"/>
            <a:ext cx="3942736" cy="92333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en-US" sz="1800" b="1" dirty="0">
                <a:solidFill>
                  <a:srgbClr val="0070C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Ms. Sandhya R</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2" name="Picture 3">
            <a:extLst>
              <a:ext uri="{FF2B5EF4-FFF2-40B4-BE49-F238E27FC236}">
                <a16:creationId xmlns:a16="http://schemas.microsoft.com/office/drawing/2014/main" id="{548DAF44-B469-C07A-8E64-7DB35FA7A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 y="64075"/>
            <a:ext cx="8397240" cy="152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a:extLst>
              <a:ext uri="{FF2B5EF4-FFF2-40B4-BE49-F238E27FC236}">
                <a16:creationId xmlns:a16="http://schemas.microsoft.com/office/drawing/2014/main" id="{9ABF39A3-EED8-5941-21FD-4ADDB403F32C}"/>
              </a:ext>
            </a:extLst>
          </p:cNvPr>
          <p:cNvSpPr txBox="1"/>
          <p:nvPr/>
        </p:nvSpPr>
        <p:spPr>
          <a:xfrm>
            <a:off x="1309902" y="2028667"/>
            <a:ext cx="6086168" cy="523220"/>
          </a:xfrm>
          <a:prstGeom prst="rect">
            <a:avLst/>
          </a:prstGeom>
          <a:noFill/>
        </p:spPr>
        <p:txBody>
          <a:bodyPr wrap="square" rtlCol="0">
            <a:spAutoFit/>
          </a:bodyPr>
          <a:lstStyle/>
          <a:p>
            <a:pPr algn="ctr"/>
            <a:r>
              <a:rPr lang="en-US" altLang="en-US" sz="1400" b="1" dirty="0">
                <a:solidFill>
                  <a:srgbClr val="00B0F0"/>
                </a:solidFill>
                <a:latin typeface="Times New Roman" panose="02020603050405020304" pitchFamily="18" charset="0"/>
                <a:cs typeface="Times New Roman" panose="02020603050405020304" pitchFamily="18" charset="0"/>
              </a:rPr>
              <a:t>Project Review </a:t>
            </a:r>
          </a:p>
          <a:p>
            <a:pPr algn="ctr"/>
            <a:endParaRPr lang="en-US" altLang="en-US" sz="1400" b="1"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236905" y="193526"/>
            <a:ext cx="8670189" cy="505810"/>
          </a:xfrm>
          <a:prstGeom prst="rect">
            <a:avLst/>
          </a:prstGeom>
          <a:noFill/>
          <a:ln/>
        </p:spPr>
        <p:txBody>
          <a:bodyPr wrap="square" rtlCol="0" anchor="ctr"/>
          <a:lstStyle/>
          <a:p>
            <a:pPr marL="0" indent="0" algn="ctr">
              <a:buNone/>
            </a:pPr>
            <a:r>
              <a:rPr lang="en-US" sz="3200" b="1" dirty="0">
                <a:solidFill>
                  <a:schemeClr val="accent1">
                    <a:lumMod val="50000"/>
                  </a:schemeClr>
                </a:solidFill>
                <a:latin typeface="Times New Roman" panose="02020603050405020304" pitchFamily="18" charset="0"/>
                <a:cs typeface="Times New Roman" panose="02020603050405020304" pitchFamily="18" charset="0"/>
              </a:rPr>
              <a:t>ABSTRACT</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Subtitle 1"/>
          <p:cNvSpPr/>
          <p:nvPr/>
        </p:nvSpPr>
        <p:spPr>
          <a:xfrm>
            <a:off x="584323" y="-392432"/>
            <a:ext cx="5525485" cy="2612047"/>
          </a:xfrm>
          <a:prstGeom prst="rect">
            <a:avLst/>
          </a:prstGeom>
          <a:noFill/>
          <a:ln/>
        </p:spPr>
        <p:txBody>
          <a:bodyPr wrap="square" rtlCol="0" anchor="ctr"/>
          <a:lstStyle/>
          <a:p>
            <a:pPr algn="l"/>
            <a:endParaRPr lang="en-US" sz="1600" dirty="0">
              <a:latin typeface="Times New Roman" panose="02020603050405020304" pitchFamily="18" charset="0"/>
              <a:cs typeface="Times New Roman" panose="02020603050405020304" pitchFamily="18" charset="0"/>
            </a:endParaRPr>
          </a:p>
        </p:txBody>
      </p:sp>
      <p:sp>
        <p:nvSpPr>
          <p:cNvPr id="5" name="Paragraph 1"/>
          <p:cNvSpPr/>
          <p:nvPr/>
        </p:nvSpPr>
        <p:spPr>
          <a:xfrm>
            <a:off x="367644" y="459538"/>
            <a:ext cx="6246007" cy="3688576"/>
          </a:xfrm>
          <a:prstGeom prst="rect">
            <a:avLst/>
          </a:prstGeom>
          <a:noFill/>
          <a:ln/>
        </p:spPr>
        <p:txBody>
          <a:bodyPr wrap="square" rtlCol="0" anchor="ctr"/>
          <a:lstStyle/>
          <a:p>
            <a:pPr marL="0" indent="0" algn="just">
              <a:buNone/>
            </a:pPr>
            <a:endParaRPr lang="en-US" sz="14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F9D515C5-6561-2C85-F0B6-DD6260677CE1}"/>
              </a:ext>
            </a:extLst>
          </p:cNvPr>
          <p:cNvSpPr txBox="1"/>
          <p:nvPr/>
        </p:nvSpPr>
        <p:spPr>
          <a:xfrm>
            <a:off x="297864" y="1171677"/>
            <a:ext cx="8478492" cy="2627899"/>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Ransomware is a significant </a:t>
            </a:r>
            <a:r>
              <a:rPr lang="en-US" sz="2000" b="1" dirty="0">
                <a:latin typeface="Times New Roman" panose="02020603050405020304" pitchFamily="18" charset="0"/>
                <a:cs typeface="Times New Roman" panose="02020603050405020304" pitchFamily="18" charset="0"/>
              </a:rPr>
              <a:t>cybersecurity threat</a:t>
            </a:r>
            <a:r>
              <a:rPr lang="en-US" sz="2000" dirty="0">
                <a:latin typeface="Times New Roman" panose="02020603050405020304" pitchFamily="18" charset="0"/>
                <a:cs typeface="Times New Roman" panose="02020603050405020304" pitchFamily="18" charset="0"/>
              </a:rPr>
              <a:t> that encrypts data and disrupts systems, making early detection vital. </a:t>
            </a:r>
            <a:r>
              <a:rPr lang="en-US" dirty="0">
                <a:latin typeface="Times New Roman" panose="02020603050405020304" pitchFamily="18" charset="0"/>
                <a:cs typeface="Times New Roman" panose="02020603050405020304" pitchFamily="18" charset="0"/>
              </a:rPr>
              <a:t>This project introduces an automated ransomware detection system that utilizes </a:t>
            </a:r>
            <a:r>
              <a:rPr lang="en-US" b="1" dirty="0">
                <a:latin typeface="Times New Roman" panose="02020603050405020304" pitchFamily="18" charset="0"/>
                <a:cs typeface="Times New Roman" panose="02020603050405020304" pitchFamily="18" charset="0"/>
              </a:rPr>
              <a:t>Convolutional Neural Networks (CNNs) </a:t>
            </a:r>
            <a:r>
              <a:rPr lang="en-US" dirty="0">
                <a:latin typeface="Times New Roman" panose="02020603050405020304" pitchFamily="18" charset="0"/>
                <a:cs typeface="Times New Roman" panose="02020603050405020304" pitchFamily="18" charset="0"/>
              </a:rPr>
              <a:t>to analyze executable files as grayscale images. Built with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it provides predictions via a Flask web API linked to a MySQL database. At the same time, additional features ensure secure detection without executing files.</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A29DA51-4FAF-1995-951A-3B2313F76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1979" y="193526"/>
            <a:ext cx="1145854" cy="692081"/>
          </a:xfrm>
          <a:prstGeom prst="rect">
            <a:avLst/>
          </a:prstGeom>
        </p:spPr>
      </p:pic>
    </p:spTree>
    <p:extLst>
      <p:ext uri="{BB962C8B-B14F-4D97-AF65-F5344CB8AC3E}">
        <p14:creationId xmlns:p14="http://schemas.microsoft.com/office/powerpoint/2010/main" val="2280016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p:nvPr/>
        </p:nvSpPr>
        <p:spPr>
          <a:xfrm>
            <a:off x="0" y="145668"/>
            <a:ext cx="9090660" cy="505810"/>
          </a:xfrm>
          <a:prstGeom prst="rect">
            <a:avLst/>
          </a:prstGeom>
          <a:noFill/>
          <a:ln/>
        </p:spPr>
        <p:txBody>
          <a:bodyPr wrap="square" rtlCol="0" anchor="ctr"/>
          <a:lstStyle/>
          <a:p>
            <a:pPr marL="0" indent="0" algn="ctr">
              <a:buNone/>
            </a:pPr>
            <a:r>
              <a:rPr lang="en-US" sz="3200" b="1" dirty="0">
                <a:solidFill>
                  <a:schemeClr val="accent1">
                    <a:lumMod val="50000"/>
                  </a:schemeClr>
                </a:solidFill>
                <a:latin typeface="Times New Roman" panose="02020603050405020304" pitchFamily="18" charset="0"/>
                <a:ea typeface="OpenSans-Bold" pitchFamily="34" charset="-122"/>
                <a:cs typeface="Times New Roman" panose="02020603050405020304" pitchFamily="18" charset="0"/>
              </a:rPr>
              <a:t>PROBLEM STATEMENT</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Subtitle 1"/>
          <p:cNvSpPr/>
          <p:nvPr/>
        </p:nvSpPr>
        <p:spPr>
          <a:xfrm>
            <a:off x="584323" y="-392432"/>
            <a:ext cx="5525485" cy="2612047"/>
          </a:xfrm>
          <a:prstGeom prst="rect">
            <a:avLst/>
          </a:prstGeom>
          <a:noFill/>
          <a:ln/>
        </p:spPr>
        <p:txBody>
          <a:bodyPr wrap="square" rtlCol="0" anchor="ctr"/>
          <a:lstStyle/>
          <a:p>
            <a:pPr algn="l"/>
            <a:endParaRPr lang="en-US" sz="1600" dirty="0">
              <a:latin typeface="Times New Roman" panose="02020603050405020304" pitchFamily="18" charset="0"/>
              <a:cs typeface="Times New Roman" panose="02020603050405020304" pitchFamily="18" charset="0"/>
            </a:endParaRPr>
          </a:p>
        </p:txBody>
      </p:sp>
      <p:sp>
        <p:nvSpPr>
          <p:cNvPr id="5" name="Paragraph 1"/>
          <p:cNvSpPr/>
          <p:nvPr/>
        </p:nvSpPr>
        <p:spPr>
          <a:xfrm>
            <a:off x="182265" y="547085"/>
            <a:ext cx="5690634" cy="3688576"/>
          </a:xfrm>
          <a:prstGeom prst="rect">
            <a:avLst/>
          </a:prstGeom>
          <a:noFill/>
          <a:ln/>
        </p:spPr>
        <p:txBody>
          <a:bodyPr wrap="square" rtlCol="0" anchor="ctr"/>
          <a:lstStyle/>
          <a:p>
            <a:pPr marL="0" indent="0" algn="just">
              <a:buNone/>
            </a:pPr>
            <a:endParaRPr lang="en-US"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8085F6-5B4F-781B-B8E3-7D45312A5AF4}"/>
              </a:ext>
            </a:extLst>
          </p:cNvPr>
          <p:cNvSpPr txBox="1"/>
          <p:nvPr/>
        </p:nvSpPr>
        <p:spPr>
          <a:xfrm>
            <a:off x="182265" y="1334344"/>
            <a:ext cx="8779470" cy="212006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Ransomware attacks are increasing and can easily bypass traditional antivirus systems.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Attackers </a:t>
            </a:r>
            <a:r>
              <a:rPr lang="en-US" b="1" dirty="0">
                <a:latin typeface="Times New Roman" panose="02020603050405020304" pitchFamily="18" charset="0"/>
                <a:cs typeface="Times New Roman" panose="02020603050405020304" pitchFamily="18" charset="0"/>
              </a:rPr>
              <a:t>frequently modify </a:t>
            </a:r>
            <a:r>
              <a:rPr lang="en-US" dirty="0">
                <a:latin typeface="Times New Roman" panose="02020603050405020304" pitchFamily="18" charset="0"/>
                <a:cs typeface="Times New Roman" panose="02020603050405020304" pitchFamily="18" charset="0"/>
              </a:rPr>
              <a:t>ransomware code, making detection ineffective.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remain at high risk of </a:t>
            </a:r>
            <a:r>
              <a:rPr lang="en-US" b="1" dirty="0">
                <a:latin typeface="Times New Roman" panose="02020603050405020304" pitchFamily="18" charset="0"/>
                <a:cs typeface="Times New Roman" panose="02020603050405020304" pitchFamily="18" charset="0"/>
              </a:rPr>
              <a:t>data loss and system disruption </a:t>
            </a:r>
            <a:r>
              <a:rPr lang="en-US" dirty="0">
                <a:latin typeface="Times New Roman" panose="02020603050405020304" pitchFamily="18" charset="0"/>
                <a:cs typeface="Times New Roman" panose="02020603050405020304" pitchFamily="18" charset="0"/>
              </a:rPr>
              <a:t>due to undetected ransomware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Lack of real‑time alert systems </a:t>
            </a:r>
            <a:r>
              <a:rPr lang="en-US" dirty="0">
                <a:latin typeface="Times New Roman" panose="02020603050405020304" pitchFamily="18" charset="0"/>
                <a:cs typeface="Times New Roman" panose="02020603050405020304" pitchFamily="18" charset="0"/>
              </a:rPr>
              <a:t>that notify users instantly during ransomware detection. </a:t>
            </a:r>
          </a:p>
        </p:txBody>
      </p:sp>
      <p:pic>
        <p:nvPicPr>
          <p:cNvPr id="2" name="Picture 1">
            <a:extLst>
              <a:ext uri="{FF2B5EF4-FFF2-40B4-BE49-F238E27FC236}">
                <a16:creationId xmlns:a16="http://schemas.microsoft.com/office/drawing/2014/main" id="{AAAF3349-4E54-23EC-0006-59C9B8444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7345" y="159169"/>
            <a:ext cx="1145854" cy="6920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08C3ED-00D6-CAC2-17FC-8297467E3159}"/>
              </a:ext>
            </a:extLst>
          </p:cNvPr>
          <p:cNvSpPr txBox="1"/>
          <p:nvPr/>
        </p:nvSpPr>
        <p:spPr>
          <a:xfrm>
            <a:off x="322729" y="167150"/>
            <a:ext cx="8283389" cy="584775"/>
          </a:xfrm>
          <a:prstGeom prst="rect">
            <a:avLst/>
          </a:prstGeom>
          <a:noFill/>
        </p:spPr>
        <p:txBody>
          <a:bodyPr wrap="square">
            <a:spAutoFit/>
          </a:bodyPr>
          <a:lstStyle/>
          <a:p>
            <a:pPr marL="0" indent="0" algn="ctr">
              <a:buNone/>
            </a:pPr>
            <a:r>
              <a:rPr lang="en-US" sz="3200" b="1" dirty="0">
                <a:solidFill>
                  <a:schemeClr val="accent1">
                    <a:lumMod val="50000"/>
                  </a:schemeClr>
                </a:solidFill>
                <a:latin typeface="Times New Roman" panose="02020603050405020304" pitchFamily="18" charset="0"/>
                <a:cs typeface="Times New Roman" panose="02020603050405020304" pitchFamily="18" charset="0"/>
              </a:rPr>
              <a:t>INTRODUCTION</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D7B218-422E-C304-EDA2-9E62601817DE}"/>
              </a:ext>
            </a:extLst>
          </p:cNvPr>
          <p:cNvSpPr txBox="1"/>
          <p:nvPr/>
        </p:nvSpPr>
        <p:spPr>
          <a:xfrm>
            <a:off x="246036" y="1031989"/>
            <a:ext cx="8651927" cy="3741409"/>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Ransomware is a highly destructive type of malware that leads to substantial financial losses and operational disruptions for individuals and organizations worldwide. Many attacks go undetected until after files are encrypted, complicating recovery efforts. Traditional detection methods often fail against new ransomware variants and may require executing suspicious files, introducing security risks. A safer approach is static analysis, but manual inspection of binary data is complex and time-consuming. By converting executable files into grayscale images, it's possible to extract meaningful patterns. Convolutional Neural Networks (CNNs) can learn these patterns, allowing them to differentiate between ransomware and legitimate software. The project proposes a CNN-based detection system that analyzes executables without execution, providing an efficient and accurate method for modern ransomware defense.</a:t>
            </a:r>
          </a:p>
        </p:txBody>
      </p:sp>
      <p:sp>
        <p:nvSpPr>
          <p:cNvPr id="15" name="Rectangle 11">
            <a:extLst>
              <a:ext uri="{FF2B5EF4-FFF2-40B4-BE49-F238E27FC236}">
                <a16:creationId xmlns:a16="http://schemas.microsoft.com/office/drawing/2014/main" id="{F56A2D09-BA2F-5A20-F1D8-0593A3C1D502}"/>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0D731088-D26A-F20B-C1D8-3514AEF3C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7865" y="167150"/>
            <a:ext cx="1145854" cy="692081"/>
          </a:xfrm>
          <a:prstGeom prst="rect">
            <a:avLst/>
          </a:prstGeom>
        </p:spPr>
      </p:pic>
    </p:spTree>
    <p:extLst>
      <p:ext uri="{BB962C8B-B14F-4D97-AF65-F5344CB8AC3E}">
        <p14:creationId xmlns:p14="http://schemas.microsoft.com/office/powerpoint/2010/main" val="27268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itle"/>
          <p:cNvSpPr/>
          <p:nvPr/>
        </p:nvSpPr>
        <p:spPr>
          <a:xfrm>
            <a:off x="322729" y="-171616"/>
            <a:ext cx="8275704" cy="1266038"/>
          </a:xfrm>
          <a:prstGeom prst="rect">
            <a:avLst/>
          </a:prstGeom>
          <a:noFill/>
          <a:ln/>
        </p:spPr>
        <p:txBody>
          <a:bodyPr wrap="square" rtlCol="0" anchor="ctr"/>
          <a:lstStyle/>
          <a:p>
            <a:pPr marL="0" indent="0" algn="ctr">
              <a:buNone/>
            </a:pPr>
            <a:r>
              <a:rPr lang="en-US" sz="3200" b="1" dirty="0">
                <a:solidFill>
                  <a:schemeClr val="accent1">
                    <a:lumMod val="50000"/>
                  </a:schemeClr>
                </a:solidFill>
                <a:latin typeface="Times New Roman" panose="02020603050405020304" pitchFamily="18" charset="0"/>
                <a:ea typeface="OpenSans-Bold" pitchFamily="34" charset="-122"/>
                <a:cs typeface="Times New Roman" panose="02020603050405020304" pitchFamily="18" charset="0"/>
              </a:rPr>
              <a:t>OBJECTIVES </a:t>
            </a:r>
            <a:endParaRPr lang="en-US" sz="3200" b="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DBD6302-B8A4-36EA-8C35-8DF17466A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5417" y="159169"/>
            <a:ext cx="1145854" cy="692081"/>
          </a:xfrm>
          <a:prstGeom prst="rect">
            <a:avLst/>
          </a:prstGeom>
        </p:spPr>
      </p:pic>
      <p:sp>
        <p:nvSpPr>
          <p:cNvPr id="3" name="Rectangle 1">
            <a:extLst>
              <a:ext uri="{FF2B5EF4-FFF2-40B4-BE49-F238E27FC236}">
                <a16:creationId xmlns:a16="http://schemas.microsoft.com/office/drawing/2014/main" id="{6FB13D31-D794-1FB0-A8B6-FC82C9BC1104}"/>
              </a:ext>
            </a:extLst>
          </p:cNvPr>
          <p:cNvSpPr>
            <a:spLocks noChangeArrowheads="1"/>
          </p:cNvSpPr>
          <p:nvPr/>
        </p:nvSpPr>
        <p:spPr bwMode="auto">
          <a:xfrm>
            <a:off x="244512" y="1509920"/>
            <a:ext cx="8654976"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 detection accuracy and robustness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diverse malware and benign datasets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Enhance model generalization through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regularization techniques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dropout, data normalization, and adaptive learning rate optimization.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ransomware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without executing files to ensure system safety.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 computational complexity and inference time to support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scanning and monitoring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web and desktop platforms.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823ADC-9896-9DE1-402D-8F049199C897}"/>
              </a:ext>
            </a:extLst>
          </p:cNvPr>
          <p:cNvSpPr txBox="1"/>
          <p:nvPr/>
        </p:nvSpPr>
        <p:spPr>
          <a:xfrm>
            <a:off x="-411481" y="102482"/>
            <a:ext cx="9770165" cy="584775"/>
          </a:xfrm>
          <a:prstGeom prst="rect">
            <a:avLst/>
          </a:prstGeom>
          <a:noFill/>
        </p:spPr>
        <p:txBody>
          <a:bodyPr wrap="square">
            <a:spAutoFit/>
          </a:bodyPr>
          <a:lstStyle/>
          <a:p>
            <a:pPr marL="0" indent="0" algn="ctr" rtl="0" eaLnBrk="1" latinLnBrk="0" hangingPunct="1">
              <a:buNone/>
            </a:pPr>
            <a:r>
              <a:rPr lang="en-US" sz="3200" b="1" dirty="0">
                <a:solidFill>
                  <a:srgbClr val="203864"/>
                </a:solidFill>
                <a:latin typeface="Times New Roman" panose="02020603050405020304" pitchFamily="18" charset="0"/>
                <a:cs typeface="Times New Roman" panose="02020603050405020304" pitchFamily="18" charset="0"/>
              </a:rPr>
              <a:t>DESIGN AND ARCHITECTURE</a:t>
            </a:r>
          </a:p>
        </p:txBody>
      </p:sp>
      <p:pic>
        <p:nvPicPr>
          <p:cNvPr id="4" name="Picture 3">
            <a:extLst>
              <a:ext uri="{FF2B5EF4-FFF2-40B4-BE49-F238E27FC236}">
                <a16:creationId xmlns:a16="http://schemas.microsoft.com/office/drawing/2014/main" id="{20BA08A2-4B98-6EAA-DFE8-4C515CDD4F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2597" y="179842"/>
            <a:ext cx="1145854" cy="692081"/>
          </a:xfrm>
          <a:prstGeom prst="rect">
            <a:avLst/>
          </a:prstGeom>
        </p:spPr>
      </p:pic>
      <p:sp>
        <p:nvSpPr>
          <p:cNvPr id="12" name="TextBox 11">
            <a:extLst>
              <a:ext uri="{FF2B5EF4-FFF2-40B4-BE49-F238E27FC236}">
                <a16:creationId xmlns:a16="http://schemas.microsoft.com/office/drawing/2014/main" id="{60ACD2D1-BD8E-7140-3959-ADB63CD94C80}"/>
              </a:ext>
            </a:extLst>
          </p:cNvPr>
          <p:cNvSpPr txBox="1"/>
          <p:nvPr/>
        </p:nvSpPr>
        <p:spPr>
          <a:xfrm>
            <a:off x="2031391" y="4640908"/>
            <a:ext cx="4884420" cy="400110"/>
          </a:xfrm>
          <a:prstGeom prst="rect">
            <a:avLst/>
          </a:prstGeom>
          <a:noFill/>
        </p:spPr>
        <p:txBody>
          <a:bodyPr wrap="square">
            <a:spAutoFit/>
          </a:bodyPr>
          <a:lstStyle/>
          <a:p>
            <a:pPr marL="0" indent="0" algn="ctr" rtl="0" eaLnBrk="1" latinLnBrk="0" hangingPunct="1">
              <a:buNone/>
            </a:pPr>
            <a:r>
              <a:rPr lang="en-US" sz="2000" b="1" dirty="0">
                <a:latin typeface="Times New Roman" panose="02020603050405020304" pitchFamily="18" charset="0"/>
                <a:cs typeface="Times New Roman" panose="02020603050405020304" pitchFamily="18" charset="0"/>
              </a:rPr>
              <a:t>Model Architecture </a:t>
            </a:r>
          </a:p>
        </p:txBody>
      </p:sp>
      <p:pic>
        <p:nvPicPr>
          <p:cNvPr id="11" name="Picture 10">
            <a:extLst>
              <a:ext uri="{FF2B5EF4-FFF2-40B4-BE49-F238E27FC236}">
                <a16:creationId xmlns:a16="http://schemas.microsoft.com/office/drawing/2014/main" id="{936FA5CF-2BEF-CF3A-94CE-680885BA07DC}"/>
              </a:ext>
            </a:extLst>
          </p:cNvPr>
          <p:cNvPicPr>
            <a:picLocks noChangeAspect="1"/>
          </p:cNvPicPr>
          <p:nvPr/>
        </p:nvPicPr>
        <p:blipFill>
          <a:blip r:embed="rId3"/>
          <a:stretch>
            <a:fillRect/>
          </a:stretch>
        </p:blipFill>
        <p:spPr>
          <a:xfrm>
            <a:off x="563880" y="687257"/>
            <a:ext cx="7505699" cy="3942221"/>
          </a:xfrm>
          <a:prstGeom prst="rect">
            <a:avLst/>
          </a:prstGeom>
        </p:spPr>
      </p:pic>
    </p:spTree>
    <p:extLst>
      <p:ext uri="{BB962C8B-B14F-4D97-AF65-F5344CB8AC3E}">
        <p14:creationId xmlns:p14="http://schemas.microsoft.com/office/powerpoint/2010/main" val="2195517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F0C322F-19C0-37E0-DE27-BC638012A82D}"/>
              </a:ext>
            </a:extLst>
          </p:cNvPr>
          <p:cNvPicPr>
            <a:picLocks noChangeAspect="1"/>
          </p:cNvPicPr>
          <p:nvPr/>
        </p:nvPicPr>
        <p:blipFill>
          <a:blip r:embed="rId2"/>
          <a:stretch>
            <a:fillRect/>
          </a:stretch>
        </p:blipFill>
        <p:spPr>
          <a:xfrm>
            <a:off x="1188720" y="722132"/>
            <a:ext cx="7475220" cy="3099145"/>
          </a:xfrm>
          <a:prstGeom prst="rect">
            <a:avLst/>
          </a:prstGeom>
        </p:spPr>
      </p:pic>
      <p:sp>
        <p:nvSpPr>
          <p:cNvPr id="15" name="TextBox 14">
            <a:extLst>
              <a:ext uri="{FF2B5EF4-FFF2-40B4-BE49-F238E27FC236}">
                <a16:creationId xmlns:a16="http://schemas.microsoft.com/office/drawing/2014/main" id="{D0AF5E7B-0C23-1C3E-C3B8-B24D21E5616D}"/>
              </a:ext>
            </a:extLst>
          </p:cNvPr>
          <p:cNvSpPr txBox="1"/>
          <p:nvPr/>
        </p:nvSpPr>
        <p:spPr>
          <a:xfrm rot="10800000" flipV="1">
            <a:off x="1744980" y="1841956"/>
            <a:ext cx="708660" cy="215444"/>
          </a:xfrm>
          <a:prstGeom prst="rect">
            <a:avLst/>
          </a:prstGeom>
          <a:noFill/>
        </p:spPr>
        <p:txBody>
          <a:bodyPr wrap="square">
            <a:spAutoFit/>
          </a:bodyPr>
          <a:lstStyle/>
          <a:p>
            <a:pPr marL="0" indent="0" algn="ctr" rtl="0" eaLnBrk="1" latinLnBrk="0" hangingPunct="1">
              <a:buNone/>
            </a:pPr>
            <a:r>
              <a:rPr lang="en-US" sz="800" b="1" kern="1200" dirty="0">
                <a:solidFill>
                  <a:srgbClr val="000000"/>
                </a:solidFill>
                <a:effectLst/>
                <a:latin typeface="Times New Roman" panose="02020603050405020304" pitchFamily="18" charset="0"/>
                <a:ea typeface="+mn-ea"/>
                <a:cs typeface="Times New Roman" panose="02020603050405020304" pitchFamily="18" charset="0"/>
              </a:rPr>
              <a:t>128 x 128 </a:t>
            </a:r>
            <a:endParaRPr lang="en-US" sz="800" dirty="0">
              <a:effectLst/>
            </a:endParaRPr>
          </a:p>
        </p:txBody>
      </p:sp>
      <p:sp>
        <p:nvSpPr>
          <p:cNvPr id="17" name="TextBox 16">
            <a:extLst>
              <a:ext uri="{FF2B5EF4-FFF2-40B4-BE49-F238E27FC236}">
                <a16:creationId xmlns:a16="http://schemas.microsoft.com/office/drawing/2014/main" id="{EDD0E5AF-C4A7-0605-7166-1760056EC0AC}"/>
              </a:ext>
            </a:extLst>
          </p:cNvPr>
          <p:cNvSpPr txBox="1"/>
          <p:nvPr/>
        </p:nvSpPr>
        <p:spPr>
          <a:xfrm>
            <a:off x="2758440" y="1836584"/>
            <a:ext cx="609600" cy="215444"/>
          </a:xfrm>
          <a:prstGeom prst="rect">
            <a:avLst/>
          </a:prstGeom>
          <a:noFill/>
        </p:spPr>
        <p:txBody>
          <a:bodyPr wrap="square">
            <a:spAutoFit/>
          </a:bodyPr>
          <a:lstStyle/>
          <a:p>
            <a:pPr marL="0" indent="0" algn="ctr" rtl="0" eaLnBrk="1" latinLnBrk="0" hangingPunct="1">
              <a:buNone/>
            </a:pPr>
            <a:r>
              <a:rPr lang="en-US" sz="800" b="1" dirty="0">
                <a:solidFill>
                  <a:srgbClr val="000000"/>
                </a:solidFill>
                <a:latin typeface="Times New Roman" panose="02020603050405020304" pitchFamily="18" charset="0"/>
                <a:cs typeface="Times New Roman" panose="02020603050405020304" pitchFamily="18" charset="0"/>
              </a:rPr>
              <a:t>64 x 64</a:t>
            </a:r>
            <a:endParaRPr lang="en-US" sz="800" dirty="0">
              <a:effectLst/>
            </a:endParaRPr>
          </a:p>
        </p:txBody>
      </p:sp>
      <p:sp>
        <p:nvSpPr>
          <p:cNvPr id="19" name="TextBox 18">
            <a:extLst>
              <a:ext uri="{FF2B5EF4-FFF2-40B4-BE49-F238E27FC236}">
                <a16:creationId xmlns:a16="http://schemas.microsoft.com/office/drawing/2014/main" id="{DE317D45-E01F-CFD0-8D7D-1DCBCE72E25C}"/>
              </a:ext>
            </a:extLst>
          </p:cNvPr>
          <p:cNvSpPr txBox="1"/>
          <p:nvPr/>
        </p:nvSpPr>
        <p:spPr>
          <a:xfrm>
            <a:off x="3417570" y="1821344"/>
            <a:ext cx="510540" cy="215444"/>
          </a:xfrm>
          <a:prstGeom prst="rect">
            <a:avLst/>
          </a:prstGeom>
          <a:noFill/>
        </p:spPr>
        <p:txBody>
          <a:bodyPr wrap="square">
            <a:spAutoFit/>
          </a:bodyPr>
          <a:lstStyle/>
          <a:p>
            <a:pPr marL="0" indent="0" algn="ctr" rtl="0" eaLnBrk="1" latinLnBrk="0" hangingPunct="1">
              <a:buNone/>
            </a:pPr>
            <a:r>
              <a:rPr lang="en-US" sz="800" b="1" dirty="0">
                <a:solidFill>
                  <a:srgbClr val="000000"/>
                </a:solidFill>
                <a:effectLst/>
                <a:latin typeface="Times New Roman" panose="02020603050405020304" pitchFamily="18" charset="0"/>
                <a:cs typeface="Times New Roman" panose="02020603050405020304" pitchFamily="18" charset="0"/>
              </a:rPr>
              <a:t>32 x 32</a:t>
            </a:r>
            <a:endParaRPr lang="en-US" sz="800" dirty="0">
              <a:effectLst/>
            </a:endParaRPr>
          </a:p>
        </p:txBody>
      </p:sp>
      <p:sp>
        <p:nvSpPr>
          <p:cNvPr id="21" name="TextBox 20">
            <a:extLst>
              <a:ext uri="{FF2B5EF4-FFF2-40B4-BE49-F238E27FC236}">
                <a16:creationId xmlns:a16="http://schemas.microsoft.com/office/drawing/2014/main" id="{FF159FEA-4CB2-696A-3B45-65D42558052C}"/>
              </a:ext>
            </a:extLst>
          </p:cNvPr>
          <p:cNvSpPr txBox="1"/>
          <p:nvPr/>
        </p:nvSpPr>
        <p:spPr>
          <a:xfrm>
            <a:off x="4046220" y="1846451"/>
            <a:ext cx="510540" cy="215444"/>
          </a:xfrm>
          <a:prstGeom prst="rect">
            <a:avLst/>
          </a:prstGeom>
          <a:noFill/>
        </p:spPr>
        <p:txBody>
          <a:bodyPr wrap="square">
            <a:spAutoFit/>
          </a:bodyPr>
          <a:lstStyle/>
          <a:p>
            <a:pPr marL="0" indent="0" algn="ctr" rtl="0" eaLnBrk="1" latinLnBrk="0" hangingPunct="1">
              <a:buNone/>
            </a:pPr>
            <a:r>
              <a:rPr lang="en-US" sz="800" b="1" dirty="0">
                <a:solidFill>
                  <a:srgbClr val="000000"/>
                </a:solidFill>
                <a:effectLst/>
                <a:latin typeface="Times New Roman" panose="02020603050405020304" pitchFamily="18" charset="0"/>
                <a:cs typeface="Times New Roman" panose="02020603050405020304" pitchFamily="18" charset="0"/>
              </a:rPr>
              <a:t>16 x 16</a:t>
            </a:r>
            <a:endParaRPr lang="en-US" sz="800" dirty="0">
              <a:effectLst/>
            </a:endParaRPr>
          </a:p>
        </p:txBody>
      </p:sp>
      <p:sp>
        <p:nvSpPr>
          <p:cNvPr id="25" name="TextBox 24">
            <a:extLst>
              <a:ext uri="{FF2B5EF4-FFF2-40B4-BE49-F238E27FC236}">
                <a16:creationId xmlns:a16="http://schemas.microsoft.com/office/drawing/2014/main" id="{C77CB590-B35B-036C-D147-1C31D31FE573}"/>
              </a:ext>
            </a:extLst>
          </p:cNvPr>
          <p:cNvSpPr txBox="1"/>
          <p:nvPr/>
        </p:nvSpPr>
        <p:spPr>
          <a:xfrm>
            <a:off x="4572000" y="2760464"/>
            <a:ext cx="472440" cy="215444"/>
          </a:xfrm>
          <a:prstGeom prst="rect">
            <a:avLst/>
          </a:prstGeom>
          <a:noFill/>
        </p:spPr>
        <p:txBody>
          <a:bodyPr wrap="square">
            <a:spAutoFit/>
          </a:bodyPr>
          <a:lstStyle/>
          <a:p>
            <a:pPr marL="0" indent="0" algn="ctr" rtl="0" eaLnBrk="1" latinLnBrk="0" hangingPunct="1">
              <a:buNone/>
            </a:pPr>
            <a:r>
              <a:rPr lang="en-US" sz="800" b="1" dirty="0">
                <a:solidFill>
                  <a:srgbClr val="000000"/>
                </a:solidFill>
                <a:effectLst/>
                <a:latin typeface="Times New Roman" panose="02020603050405020304" pitchFamily="18" charset="0"/>
                <a:cs typeface="Times New Roman" panose="02020603050405020304" pitchFamily="18" charset="0"/>
              </a:rPr>
              <a:t>8 x 8</a:t>
            </a:r>
            <a:endParaRPr lang="en-US" sz="800" dirty="0">
              <a:effectLst/>
            </a:endParaRPr>
          </a:p>
        </p:txBody>
      </p:sp>
      <p:pic>
        <p:nvPicPr>
          <p:cNvPr id="27" name="Picture 26">
            <a:extLst>
              <a:ext uri="{FF2B5EF4-FFF2-40B4-BE49-F238E27FC236}">
                <a16:creationId xmlns:a16="http://schemas.microsoft.com/office/drawing/2014/main" id="{3F14C13E-D178-C6B5-036A-943E3CB9D692}"/>
              </a:ext>
            </a:extLst>
          </p:cNvPr>
          <p:cNvPicPr>
            <a:picLocks noChangeAspect="1"/>
          </p:cNvPicPr>
          <p:nvPr/>
        </p:nvPicPr>
        <p:blipFill>
          <a:blip r:embed="rId3"/>
          <a:stretch>
            <a:fillRect/>
          </a:stretch>
        </p:blipFill>
        <p:spPr>
          <a:xfrm flipV="1">
            <a:off x="1756435" y="2611873"/>
            <a:ext cx="133325" cy="120637"/>
          </a:xfrm>
          <a:prstGeom prst="rect">
            <a:avLst/>
          </a:prstGeom>
        </p:spPr>
      </p:pic>
    </p:spTree>
    <p:extLst>
      <p:ext uri="{BB962C8B-B14F-4D97-AF65-F5344CB8AC3E}">
        <p14:creationId xmlns:p14="http://schemas.microsoft.com/office/powerpoint/2010/main" val="2933515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B8EF24-4AD0-C75A-5EBE-155B066DBD8D}"/>
              </a:ext>
            </a:extLst>
          </p:cNvPr>
          <p:cNvSpPr txBox="1"/>
          <p:nvPr/>
        </p:nvSpPr>
        <p:spPr>
          <a:xfrm>
            <a:off x="2491740" y="41180"/>
            <a:ext cx="4572000" cy="646331"/>
          </a:xfrm>
          <a:prstGeom prst="rect">
            <a:avLst/>
          </a:prstGeom>
          <a:noFill/>
        </p:spPr>
        <p:txBody>
          <a:bodyPr wrap="square">
            <a:spAutoFit/>
          </a:bodyPr>
          <a:lstStyle/>
          <a:p>
            <a:pPr marL="0" indent="0" algn="ctr" rtl="0" eaLnBrk="1" latinLnBrk="0" hangingPunct="1">
              <a:buNone/>
            </a:pPr>
            <a:r>
              <a:rPr lang="en-US" sz="3200" b="1" dirty="0">
                <a:solidFill>
                  <a:srgbClr val="203864"/>
                </a:solidFill>
                <a:latin typeface="Times New Roman" panose="02020603050405020304" pitchFamily="18" charset="0"/>
                <a:cs typeface="Times New Roman" panose="02020603050405020304" pitchFamily="18" charset="0"/>
              </a:rPr>
              <a:t>METHODOLOGY</a:t>
            </a:r>
            <a:r>
              <a:rPr lang="en-US" sz="3600" b="1" dirty="0">
                <a:solidFill>
                  <a:srgbClr val="203864"/>
                </a:solidFill>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AFCB4F12-4B98-C522-D1C7-E8F53291CFEC}"/>
              </a:ext>
            </a:extLst>
          </p:cNvPr>
          <p:cNvSpPr>
            <a:spLocks noChangeArrowheads="1"/>
          </p:cNvSpPr>
          <p:nvPr/>
        </p:nvSpPr>
        <p:spPr bwMode="auto">
          <a:xfrm>
            <a:off x="167640" y="637964"/>
            <a:ext cx="880110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Data Collection</a:t>
            </a:r>
            <a:r>
              <a:rPr lang="en-US" altLang="en-US" sz="1600" b="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ransomware executable samples from Malware-Bazaar, Virus-Total, and GitHub.</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benign executable samples from Snap-Files, Portable-Apps, and GitHub.</a:t>
            </a: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Data Preprocessing</a:t>
            </a:r>
            <a:r>
              <a:rPr lang="en-US" altLang="en-US" sz="1600" b="1"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Read raw binary bytes from executable files using Python, convert byte streams into fixed-length sequences.</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Reshaped 1D byte data into 2D matrices. Mapped matrices to grayscale images using byte-to-pixel intensity mapping.</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Split the dataset into 80% training and 20% testing data with random shuffling.</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Model Development</a:t>
            </a:r>
            <a:r>
              <a:rPr lang="en-US" altLang="en-US" sz="1600" b="1"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a CNN-based deep learning model using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convolutional layers to extract visual patterns from malware images.</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ReLU</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activation and dropout for regularization.</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dense layers for binary classification (Ransomware / Benign).</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Generated prediction confidence using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Softmax</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Deployment and Detection</a:t>
            </a:r>
            <a:r>
              <a:rPr lang="en-US" altLang="en-US" sz="1600" b="1"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Deployed the trained model using a Flask web API. Integrated MySQL database for user authentication and prediction history.</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a cross-platform Electron desktop application.</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Enabled real-time file scanning and directory monitoring for automated ransomware detection.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F0E0124-397F-B504-D67C-E90FF8777FFC}"/>
              </a:ext>
            </a:extLst>
          </p:cNvPr>
          <p:cNvPicPr>
            <a:picLocks noChangeAspect="1"/>
          </p:cNvPicPr>
          <p:nvPr/>
        </p:nvPicPr>
        <p:blipFill>
          <a:blip r:embed="rId2"/>
          <a:stretch>
            <a:fillRect/>
          </a:stretch>
        </p:blipFill>
        <p:spPr>
          <a:xfrm>
            <a:off x="7830213" y="16843"/>
            <a:ext cx="1146147" cy="695004"/>
          </a:xfrm>
          <a:prstGeom prst="rect">
            <a:avLst/>
          </a:prstGeom>
        </p:spPr>
      </p:pic>
    </p:spTree>
    <p:extLst>
      <p:ext uri="{BB962C8B-B14F-4D97-AF65-F5344CB8AC3E}">
        <p14:creationId xmlns:p14="http://schemas.microsoft.com/office/powerpoint/2010/main" val="3555889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A48757-AA1D-B258-531A-B3857BA720A3}"/>
              </a:ext>
            </a:extLst>
          </p:cNvPr>
          <p:cNvSpPr txBox="1"/>
          <p:nvPr/>
        </p:nvSpPr>
        <p:spPr>
          <a:xfrm>
            <a:off x="537881" y="245834"/>
            <a:ext cx="7853083" cy="584775"/>
          </a:xfrm>
          <a:prstGeom prst="rect">
            <a:avLst/>
          </a:prstGeom>
          <a:noFill/>
        </p:spPr>
        <p:txBody>
          <a:bodyPr wrap="square">
            <a:spAutoFit/>
          </a:bodyPr>
          <a:lstStyle/>
          <a:p>
            <a:pPr marL="0" indent="0" algn="ctr">
              <a:buNone/>
            </a:pPr>
            <a:r>
              <a:rPr lang="en-US" sz="3200" b="1" dirty="0">
                <a:solidFill>
                  <a:schemeClr val="accent1">
                    <a:lumMod val="50000"/>
                  </a:schemeClr>
                </a:solidFill>
                <a:latin typeface="Times New Roman" panose="02020603050405020304" pitchFamily="18" charset="0"/>
                <a:ea typeface="OpenSans-Bold" pitchFamily="34" charset="-122"/>
                <a:cs typeface="Times New Roman" panose="02020603050405020304" pitchFamily="18" charset="0"/>
              </a:rPr>
              <a:t>MODULE SPLIT-UP</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5EA5E2C-47CA-C30E-A247-245B9F7770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2585" y="245834"/>
            <a:ext cx="1145854" cy="692081"/>
          </a:xfrm>
          <a:prstGeom prst="rect">
            <a:avLst/>
          </a:prstGeom>
        </p:spPr>
      </p:pic>
      <p:sp>
        <p:nvSpPr>
          <p:cNvPr id="5" name="TextBox 4">
            <a:extLst>
              <a:ext uri="{FF2B5EF4-FFF2-40B4-BE49-F238E27FC236}">
                <a16:creationId xmlns:a16="http://schemas.microsoft.com/office/drawing/2014/main" id="{25C79F9A-269D-5FCE-2DC6-06D8D1A05378}"/>
              </a:ext>
            </a:extLst>
          </p:cNvPr>
          <p:cNvSpPr txBox="1"/>
          <p:nvPr/>
        </p:nvSpPr>
        <p:spPr>
          <a:xfrm>
            <a:off x="1382759" y="1496999"/>
            <a:ext cx="6671581" cy="873572"/>
          </a:xfrm>
          <a:prstGeom prst="rect">
            <a:avLst/>
          </a:prstGeom>
          <a:noFill/>
        </p:spPr>
        <p:txBody>
          <a:bodyPr wrap="square">
            <a:spAutoFit/>
          </a:bodyPr>
          <a:lstStyle/>
          <a:p>
            <a:pPr lvl="0"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LIST OF MODULES</a:t>
            </a:r>
          </a:p>
          <a:p>
            <a:pPr lvl="0" defTabSz="914400" eaLnBrk="0" fontAlgn="base" hangingPunct="0">
              <a:lnSpc>
                <a:spcPct val="150000"/>
              </a:lnSpc>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DA06A0E3-8B2D-1D81-86FC-D2F0A2B90F3E}"/>
              </a:ext>
            </a:extLst>
          </p:cNvPr>
          <p:cNvSpPr>
            <a:spLocks noChangeArrowheads="1"/>
          </p:cNvSpPr>
          <p:nvPr/>
        </p:nvSpPr>
        <p:spPr bwMode="auto">
          <a:xfrm>
            <a:off x="1353905" y="1933785"/>
            <a:ext cx="4422055"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Collection &amp; Preprocessing Module</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 Model Training Module</a:t>
            </a:r>
          </a:p>
          <a:p>
            <a:pPr algn="just" eaLnBrk="0" fontAlgn="base" hangingPunct="0">
              <a:lnSpc>
                <a:spcPct val="150000"/>
              </a:lnSpc>
              <a:spcBef>
                <a:spcPct val="0"/>
              </a:spcBef>
              <a:spcAft>
                <a:spcPct val="0"/>
              </a:spcAft>
              <a:buFontTx/>
              <a:buAutoNum type="arabicPeriod" startAt="2"/>
            </a:pPr>
            <a:r>
              <a:rPr lang="en-US" altLang="en-US" dirty="0">
                <a:latin typeface="Times New Roman" panose="02020603050405020304" pitchFamily="18" charset="0"/>
                <a:cs typeface="Times New Roman" panose="02020603050405020304" pitchFamily="18" charset="0"/>
              </a:rPr>
              <a:t> Prediction &amp; Analysis Module</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Deployment &amp; User Interface Module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9773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ED7B3A-EAD2-78BB-18D6-54EF474B9A24}"/>
              </a:ext>
            </a:extLst>
          </p:cNvPr>
          <p:cNvSpPr txBox="1"/>
          <p:nvPr/>
        </p:nvSpPr>
        <p:spPr>
          <a:xfrm>
            <a:off x="296437" y="416062"/>
            <a:ext cx="7376160" cy="2397066"/>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Module 1: Data Collection &amp; Preprocessing: </a:t>
            </a:r>
            <a:r>
              <a:rPr lang="en-US" dirty="0">
                <a:latin typeface="Times New Roman" panose="02020603050405020304" pitchFamily="18" charset="0"/>
                <a:cs typeface="Times New Roman" panose="02020603050405020304" pitchFamily="18" charset="0"/>
              </a:rPr>
              <a:t>Executable files are collected and transformed into a format suitable for deep learning analysis.</a:t>
            </a:r>
          </a:p>
          <a:p>
            <a:r>
              <a:rPr lang="en-US" b="1" dirty="0">
                <a:latin typeface="Times New Roman" panose="02020603050405020304" pitchFamily="18" charset="0"/>
                <a:cs typeface="Times New Roman" panose="02020603050405020304" pitchFamily="18" charset="0"/>
              </a:rPr>
              <a:t>Purpose in the Model:</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Collects ransomware and benign executable samples from trusted sources.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Reads raw binary data from executable files.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byte streams into grayscale images using byte-to-pixel mapping.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Prepares standardized input data for CNN processing.</a:t>
            </a:r>
          </a:p>
          <a:p>
            <a:pPr algn="just">
              <a:lnSpc>
                <a:spcPct val="150000"/>
              </a:lnSpc>
              <a:buNone/>
            </a:pPr>
            <a:endParaRPr 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68834F4-B896-A686-6CAD-CD352E5EC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2597" y="179842"/>
            <a:ext cx="1145854" cy="692081"/>
          </a:xfrm>
          <a:prstGeom prst="rect">
            <a:avLst/>
          </a:prstGeom>
        </p:spPr>
      </p:pic>
      <p:sp>
        <p:nvSpPr>
          <p:cNvPr id="6" name="TextBox 5">
            <a:extLst>
              <a:ext uri="{FF2B5EF4-FFF2-40B4-BE49-F238E27FC236}">
                <a16:creationId xmlns:a16="http://schemas.microsoft.com/office/drawing/2014/main" id="{A134BB72-DF6D-4D2A-121A-26422B94A383}"/>
              </a:ext>
            </a:extLst>
          </p:cNvPr>
          <p:cNvSpPr txBox="1"/>
          <p:nvPr/>
        </p:nvSpPr>
        <p:spPr>
          <a:xfrm>
            <a:off x="296437" y="2514128"/>
            <a:ext cx="7962900" cy="2308324"/>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Module 2: CNN-Based Ransomware Detection: </a:t>
            </a:r>
            <a:r>
              <a:rPr lang="en-US" dirty="0">
                <a:latin typeface="Times New Roman" panose="02020603050405020304" pitchFamily="18" charset="0"/>
                <a:cs typeface="Times New Roman" panose="02020603050405020304" pitchFamily="18" charset="0"/>
              </a:rPr>
              <a:t>A Convolutional Neural Network is used to learn patterns from grayscale executable images.</a:t>
            </a:r>
          </a:p>
          <a:p>
            <a:pPr>
              <a:buNone/>
            </a:pPr>
            <a:r>
              <a:rPr lang="en-US" b="1" dirty="0">
                <a:latin typeface="Times New Roman" panose="02020603050405020304" pitchFamily="18" charset="0"/>
                <a:cs typeface="Times New Roman" panose="02020603050405020304" pitchFamily="18" charset="0"/>
              </a:rPr>
              <a:t>Purpose in the Model:</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Automatically extracts meaningful visual features from images.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Identifies ransomware-specific textures and structural patterns.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Classifies files as </a:t>
            </a:r>
            <a:r>
              <a:rPr lang="en-US" b="1" dirty="0">
                <a:latin typeface="Times New Roman" panose="02020603050405020304" pitchFamily="18" charset="0"/>
                <a:cs typeface="Times New Roman" panose="02020603050405020304" pitchFamily="18" charset="0"/>
              </a:rPr>
              <a:t>Ransomware</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Benign</a:t>
            </a:r>
            <a:r>
              <a:rPr lang="en-US" dirty="0">
                <a:latin typeface="Times New Roman" panose="02020603050405020304" pitchFamily="18" charset="0"/>
                <a:cs typeface="Times New Roman" panose="02020603050405020304" pitchFamily="18" charset="0"/>
              </a:rPr>
              <a:t> with high accuracy.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unknown and previously unseen ransomware variants.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Acts as the core intelligence of the system.</a:t>
            </a:r>
          </a:p>
        </p:txBody>
      </p:sp>
    </p:spTree>
    <p:extLst>
      <p:ext uri="{BB962C8B-B14F-4D97-AF65-F5344CB8AC3E}">
        <p14:creationId xmlns:p14="http://schemas.microsoft.com/office/powerpoint/2010/main" val="338960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E70FD6-583D-4691-8F1E-0448177BF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2597" y="179842"/>
            <a:ext cx="1145854" cy="692081"/>
          </a:xfrm>
          <a:prstGeom prst="rect">
            <a:avLst/>
          </a:prstGeom>
        </p:spPr>
      </p:pic>
      <p:sp>
        <p:nvSpPr>
          <p:cNvPr id="5" name="TextBox 4">
            <a:extLst>
              <a:ext uri="{FF2B5EF4-FFF2-40B4-BE49-F238E27FC236}">
                <a16:creationId xmlns:a16="http://schemas.microsoft.com/office/drawing/2014/main" id="{695130BF-C4BF-111E-A71D-51D35D94B379}"/>
              </a:ext>
            </a:extLst>
          </p:cNvPr>
          <p:cNvSpPr txBox="1"/>
          <p:nvPr/>
        </p:nvSpPr>
        <p:spPr>
          <a:xfrm>
            <a:off x="235477" y="312625"/>
            <a:ext cx="7117823" cy="2031325"/>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Module 3: Prediction &amp; Analysis: </a:t>
            </a:r>
            <a:r>
              <a:rPr lang="en-US" dirty="0">
                <a:latin typeface="Times New Roman" panose="02020603050405020304" pitchFamily="18" charset="0"/>
                <a:cs typeface="Times New Roman" panose="02020603050405020304" pitchFamily="18" charset="0"/>
              </a:rPr>
              <a:t>The trained CNN model analyzes executable files and generates detection results.</a:t>
            </a:r>
          </a:p>
          <a:p>
            <a:pPr algn="just">
              <a:buNone/>
            </a:pPr>
            <a:r>
              <a:rPr lang="en-US" b="1" dirty="0">
                <a:latin typeface="Times New Roman" panose="02020603050405020304" pitchFamily="18" charset="0"/>
                <a:cs typeface="Times New Roman" panose="02020603050405020304" pitchFamily="18" charset="0"/>
              </a:rPr>
              <a:t>Purpose in the Model:</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static analysis without executing files.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Produces prediction labels with confidence scores.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Extracts additional features such as file entropy and hashes.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decision-making through detailed analysis output.</a:t>
            </a:r>
          </a:p>
        </p:txBody>
      </p:sp>
      <p:sp>
        <p:nvSpPr>
          <p:cNvPr id="7" name="TextBox 6">
            <a:extLst>
              <a:ext uri="{FF2B5EF4-FFF2-40B4-BE49-F238E27FC236}">
                <a16:creationId xmlns:a16="http://schemas.microsoft.com/office/drawing/2014/main" id="{609C4528-825E-22C4-1E8D-021364AB6499}"/>
              </a:ext>
            </a:extLst>
          </p:cNvPr>
          <p:cNvSpPr txBox="1"/>
          <p:nvPr/>
        </p:nvSpPr>
        <p:spPr>
          <a:xfrm>
            <a:off x="235477" y="2476733"/>
            <a:ext cx="8664683" cy="2308324"/>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Module 4: Deployment &amp; User Interface: </a:t>
            </a:r>
            <a:r>
              <a:rPr lang="en-US" dirty="0">
                <a:latin typeface="Times New Roman" panose="02020603050405020304" pitchFamily="18" charset="0"/>
                <a:cs typeface="Times New Roman" panose="02020603050405020304" pitchFamily="18" charset="0"/>
              </a:rPr>
              <a:t>The detection system is deployed through web and desktop applications.</a:t>
            </a:r>
          </a:p>
          <a:p>
            <a:pPr algn="just">
              <a:buNone/>
            </a:pPr>
            <a:r>
              <a:rPr lang="en-US" b="1" dirty="0">
                <a:latin typeface="Times New Roman" panose="02020603050405020304" pitchFamily="18" charset="0"/>
                <a:cs typeface="Times New Roman" panose="02020603050405020304" pitchFamily="18" charset="0"/>
              </a:rPr>
              <a:t>Purpose in the Model:</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 Flask-based backend for model inference and API access.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user data and prediction history using MySQL.</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Offers a web interface for manual file scanning.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the Twilio API to send voice call alerts when ransomware is detected.</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352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E11C33-1A2B-0707-2E30-4828C2F7DF85}"/>
              </a:ext>
            </a:extLst>
          </p:cNvPr>
          <p:cNvSpPr txBox="1"/>
          <p:nvPr/>
        </p:nvSpPr>
        <p:spPr>
          <a:xfrm>
            <a:off x="236905" y="1205267"/>
            <a:ext cx="8730418" cy="3372077"/>
          </a:xfrm>
          <a:prstGeom prst="rect">
            <a:avLst/>
          </a:prstGeom>
          <a:noFill/>
        </p:spPr>
        <p:txBody>
          <a:bodyPr wrap="square">
            <a:spAutoFit/>
          </a:bodyPr>
          <a:lstStyle/>
          <a:p>
            <a:pPr marL="342900" indent="-342900" algn="just">
              <a:lnSpc>
                <a:spcPct val="150000"/>
              </a:lnSpc>
              <a:buAutoNum type="arabicPeriod"/>
            </a:pPr>
            <a:r>
              <a:rPr lang="en-IN" sz="1600" b="1" dirty="0">
                <a:latin typeface="Times New Roman" panose="02020603050405020304" pitchFamily="18" charset="0"/>
                <a:cs typeface="Times New Roman" panose="02020603050405020304" pitchFamily="18" charset="0"/>
              </a:rPr>
              <a:t>CNN (Convolutional neural network)</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Input Layer</a:t>
            </a:r>
            <a:r>
              <a:rPr lang="en-IN" sz="1600" dirty="0">
                <a:latin typeface="Times New Roman" panose="02020603050405020304" pitchFamily="18" charset="0"/>
                <a:cs typeface="Times New Roman" panose="02020603050405020304" pitchFamily="18" charset="0"/>
              </a:rPr>
              <a:t>: Takes an uploaded image (PNG/JPG) and converts it into a standardized format (grayscale, resized to 128×128).</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Convolution Layers</a:t>
            </a:r>
            <a:r>
              <a:rPr lang="en-IN" sz="1600" dirty="0">
                <a:latin typeface="Times New Roman" panose="02020603050405020304" pitchFamily="18" charset="0"/>
                <a:cs typeface="Times New Roman" panose="02020603050405020304" pitchFamily="18" charset="0"/>
              </a:rPr>
              <a:t>: Extract key spatial features such as edges, texture patterns, and malicious artefacts present in ransomware-infected files.</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Activation (</a:t>
            </a:r>
            <a:r>
              <a:rPr lang="en-IN" sz="1600" b="1" dirty="0" err="1">
                <a:latin typeface="Times New Roman" panose="02020603050405020304" pitchFamily="18" charset="0"/>
                <a:cs typeface="Times New Roman" panose="02020603050405020304" pitchFamily="18" charset="0"/>
              </a:rPr>
              <a:t>ReLU</a:t>
            </a:r>
            <a:r>
              <a:rPr lang="en-IN" sz="1600" b="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Highlights important patterns.</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Pooling Layer</a:t>
            </a:r>
            <a:r>
              <a:rPr lang="en-IN" sz="1600" dirty="0">
                <a:latin typeface="Times New Roman" panose="02020603050405020304" pitchFamily="18" charset="0"/>
                <a:cs typeface="Times New Roman" panose="02020603050405020304" pitchFamily="18" charset="0"/>
              </a:rPr>
              <a:t>: Reduces dimensionality or size while preserving essential feature patterns.</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Fully Connected Layer</a:t>
            </a:r>
            <a:r>
              <a:rPr lang="en-IN" sz="1600" dirty="0">
                <a:latin typeface="Times New Roman" panose="02020603050405020304" pitchFamily="18" charset="0"/>
                <a:cs typeface="Times New Roman" panose="02020603050405020304" pitchFamily="18" charset="0"/>
              </a:rPr>
              <a:t>: Converts extracted features into class scores:{Ransomware, Legitimate}.</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Soft-max Probability</a:t>
            </a:r>
            <a:r>
              <a:rPr lang="en-IN" sz="1600" dirty="0">
                <a:latin typeface="Times New Roman" panose="02020603050405020304" pitchFamily="18" charset="0"/>
                <a:cs typeface="Times New Roman" panose="02020603050405020304" pitchFamily="18" charset="0"/>
              </a:rPr>
              <a:t>: Produces final confidence score and class label.</a:t>
            </a:r>
          </a:p>
        </p:txBody>
      </p:sp>
      <p:sp>
        <p:nvSpPr>
          <p:cNvPr id="7" name="TextBox 6">
            <a:extLst>
              <a:ext uri="{FF2B5EF4-FFF2-40B4-BE49-F238E27FC236}">
                <a16:creationId xmlns:a16="http://schemas.microsoft.com/office/drawing/2014/main" id="{9DDFBF40-D6C0-9D7C-54E3-C418DDD4E8D0}"/>
              </a:ext>
            </a:extLst>
          </p:cNvPr>
          <p:cNvSpPr txBox="1"/>
          <p:nvPr/>
        </p:nvSpPr>
        <p:spPr>
          <a:xfrm>
            <a:off x="337382" y="187034"/>
            <a:ext cx="8253368" cy="584775"/>
          </a:xfrm>
          <a:prstGeom prst="rect">
            <a:avLst/>
          </a:prstGeom>
          <a:noFill/>
        </p:spPr>
        <p:txBody>
          <a:bodyPr wrap="square">
            <a:spAutoFit/>
          </a:bodyPr>
          <a:lstStyle/>
          <a:p>
            <a:pPr marL="0" indent="0" algn="ctr" rtl="0" eaLnBrk="1" latinLnBrk="0" hangingPunct="1"/>
            <a:r>
              <a:rPr lang="en-US" sz="3200" b="1" kern="1200" dirty="0">
                <a:solidFill>
                  <a:srgbClr val="203864"/>
                </a:solidFill>
                <a:effectLst/>
                <a:latin typeface="Times New Roman" panose="02020603050405020304" pitchFamily="18" charset="0"/>
                <a:ea typeface="OpenSans-Bold"/>
                <a:cs typeface="Times New Roman" panose="02020603050405020304" pitchFamily="18" charset="0"/>
              </a:rPr>
              <a:t> </a:t>
            </a:r>
            <a:r>
              <a:rPr lang="en-US" sz="3200" b="1" dirty="0">
                <a:solidFill>
                  <a:srgbClr val="203864"/>
                </a:solidFill>
                <a:latin typeface="Times New Roman" panose="02020603050405020304" pitchFamily="18" charset="0"/>
                <a:ea typeface="OpenSans-Bold"/>
                <a:cs typeface="Times New Roman" panose="02020603050405020304" pitchFamily="18" charset="0"/>
              </a:rPr>
              <a:t>IMPLEMENTATION</a:t>
            </a:r>
            <a:endParaRPr lang="en-IN" sz="3200" dirty="0">
              <a:effectLst/>
            </a:endParaRPr>
          </a:p>
        </p:txBody>
      </p:sp>
      <p:pic>
        <p:nvPicPr>
          <p:cNvPr id="2" name="Picture 1">
            <a:extLst>
              <a:ext uri="{FF2B5EF4-FFF2-40B4-BE49-F238E27FC236}">
                <a16:creationId xmlns:a16="http://schemas.microsoft.com/office/drawing/2014/main" id="{5A81DECA-689B-E4AB-B9DA-BBA9F185B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0764" y="220115"/>
            <a:ext cx="1145854" cy="692081"/>
          </a:xfrm>
          <a:prstGeom prst="rect">
            <a:avLst/>
          </a:prstGeom>
        </p:spPr>
      </p:pic>
    </p:spTree>
    <p:extLst>
      <p:ext uri="{BB962C8B-B14F-4D97-AF65-F5344CB8AC3E}">
        <p14:creationId xmlns:p14="http://schemas.microsoft.com/office/powerpoint/2010/main" val="3803276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32DD00-250B-43E6-6331-134AF98ED1F7}"/>
              </a:ext>
            </a:extLst>
          </p:cNvPr>
          <p:cNvSpPr txBox="1"/>
          <p:nvPr/>
        </p:nvSpPr>
        <p:spPr>
          <a:xfrm>
            <a:off x="114300" y="74419"/>
            <a:ext cx="4730750" cy="4480073"/>
          </a:xfrm>
          <a:prstGeom prst="rect">
            <a:avLst/>
          </a:prstGeom>
          <a:noFill/>
        </p:spPr>
        <p:txBody>
          <a:bodyPr wrap="square">
            <a:spAutoFit/>
          </a:bodyPr>
          <a:lstStyle/>
          <a:p>
            <a:pPr>
              <a:lnSpc>
                <a:spcPct val="150000"/>
              </a:lnSpc>
            </a:pPr>
            <a:r>
              <a:rPr lang="en-US" sz="1600" b="1" u="sng" dirty="0">
                <a:latin typeface="Times New Roman" panose="02020603050405020304" pitchFamily="18" charset="0"/>
                <a:cs typeface="Times New Roman" panose="02020603050405020304" pitchFamily="18" charset="0"/>
              </a:rPr>
              <a:t>CNN Implementation </a:t>
            </a:r>
          </a:p>
          <a:p>
            <a:pPr>
              <a:lnSpc>
                <a:spcPct val="150000"/>
              </a:lnSpc>
            </a:pPr>
            <a:r>
              <a:rPr lang="en-US" sz="1600" b="1" dirty="0">
                <a:latin typeface="Times New Roman" panose="02020603050405020304" pitchFamily="18" charset="0"/>
                <a:cs typeface="Times New Roman" panose="02020603050405020304" pitchFamily="18" charset="0"/>
              </a:rPr>
              <a:t># Load image and preprocess</a:t>
            </a:r>
          </a:p>
          <a:p>
            <a:pPr>
              <a:lnSpc>
                <a:spcPct val="150000"/>
              </a:lnSpc>
            </a:pP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Image.open</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io.BytesIO</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file.read</a:t>
            </a:r>
            <a:r>
              <a:rPr lang="en-US" sz="1600" dirty="0">
                <a:latin typeface="Times New Roman" panose="02020603050405020304" pitchFamily="18" charset="0"/>
                <a:cs typeface="Times New Roman" panose="02020603050405020304" pitchFamily="18" charset="0"/>
              </a:rPr>
              <a:t>())).convert("L")</a:t>
            </a:r>
          </a:p>
          <a:p>
            <a:pPr>
              <a:lnSpc>
                <a:spcPct val="150000"/>
              </a:lnSpc>
            </a:pP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 transform(</a:t>
            </a: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unsqueeze</a:t>
            </a:r>
            <a:r>
              <a:rPr lang="en-US" sz="1600" dirty="0">
                <a:latin typeface="Times New Roman" panose="02020603050405020304" pitchFamily="18" charset="0"/>
                <a:cs typeface="Times New Roman" panose="02020603050405020304" pitchFamily="18" charset="0"/>
              </a:rPr>
              <a:t>(0).to(device)</a:t>
            </a:r>
          </a:p>
          <a:p>
            <a:pPr>
              <a:lnSpc>
                <a:spcPct val="150000"/>
              </a:lnSpc>
            </a:pPr>
            <a:r>
              <a:rPr lang="en-US" sz="1600" b="1" dirty="0">
                <a:latin typeface="Times New Roman" panose="02020603050405020304" pitchFamily="18" charset="0"/>
                <a:cs typeface="Times New Roman" panose="02020603050405020304" pitchFamily="18" charset="0"/>
              </a:rPr>
              <a:t># Predict using the DeepCNN model</a:t>
            </a:r>
          </a:p>
          <a:p>
            <a:pPr>
              <a:lnSpc>
                <a:spcPct val="150000"/>
              </a:lnSpc>
            </a:pPr>
            <a:r>
              <a:rPr lang="en-US" sz="1600" dirty="0">
                <a:latin typeface="Times New Roman" panose="02020603050405020304" pitchFamily="18" charset="0"/>
                <a:cs typeface="Times New Roman" panose="02020603050405020304" pitchFamily="18" charset="0"/>
              </a:rPr>
              <a:t>with </a:t>
            </a:r>
            <a:r>
              <a:rPr lang="en-US" sz="1600" dirty="0" err="1">
                <a:latin typeface="Times New Roman" panose="02020603050405020304" pitchFamily="18" charset="0"/>
                <a:cs typeface="Times New Roman" panose="02020603050405020304" pitchFamily="18" charset="0"/>
              </a:rPr>
              <a:t>torch.no_grad</a:t>
            </a: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   output = model(</a:t>
            </a: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   prob = </a:t>
            </a:r>
            <a:r>
              <a:rPr lang="en-US" sz="1600" dirty="0" err="1">
                <a:latin typeface="Times New Roman" panose="02020603050405020304" pitchFamily="18" charset="0"/>
                <a:cs typeface="Times New Roman" panose="02020603050405020304" pitchFamily="18" charset="0"/>
              </a:rPr>
              <a:t>torch.softmax</a:t>
            </a:r>
            <a:r>
              <a:rPr lang="en-US" sz="1600" dirty="0">
                <a:latin typeface="Times New Roman" panose="02020603050405020304" pitchFamily="18" charset="0"/>
                <a:cs typeface="Times New Roman" panose="02020603050405020304" pitchFamily="18" charset="0"/>
              </a:rPr>
              <a:t>(output, dim=1)[0]    </a:t>
            </a:r>
          </a:p>
          <a:p>
            <a:pPr>
              <a:lnSpc>
                <a:spcPct val="150000"/>
              </a:lnSpc>
            </a:pPr>
            <a:r>
              <a:rPr lang="en-US" sz="1600" dirty="0">
                <a:latin typeface="Times New Roman" panose="02020603050405020304" pitchFamily="18" charset="0"/>
                <a:cs typeface="Times New Roman" panose="02020603050405020304" pitchFamily="18" charset="0"/>
              </a:rPr>
              <a:t>   pred  = </a:t>
            </a:r>
            <a:r>
              <a:rPr lang="en-US" sz="1600" dirty="0" err="1">
                <a:latin typeface="Times New Roman" panose="02020603050405020304" pitchFamily="18" charset="0"/>
                <a:cs typeface="Times New Roman" panose="02020603050405020304" pitchFamily="18" charset="0"/>
              </a:rPr>
              <a:t>torch.argmax</a:t>
            </a:r>
            <a:r>
              <a:rPr lang="en-US" sz="1600" dirty="0">
                <a:latin typeface="Times New Roman" panose="02020603050405020304" pitchFamily="18" charset="0"/>
                <a:cs typeface="Times New Roman" panose="02020603050405020304" pitchFamily="18" charset="0"/>
              </a:rPr>
              <a:t>(prob).item()</a:t>
            </a:r>
          </a:p>
          <a:p>
            <a:pPr>
              <a:lnSpc>
                <a:spcPct val="150000"/>
              </a:lnSpc>
            </a:pPr>
            <a:r>
              <a:rPr lang="en-US" sz="1600" b="1" dirty="0">
                <a:latin typeface="Times New Roman" panose="02020603050405020304" pitchFamily="18" charset="0"/>
                <a:cs typeface="Times New Roman" panose="02020603050405020304" pitchFamily="18" charset="0"/>
              </a:rPr>
              <a:t># Final label</a:t>
            </a:r>
          </a:p>
          <a:p>
            <a:pPr>
              <a:lnSpc>
                <a:spcPct val="150000"/>
              </a:lnSpc>
            </a:pPr>
            <a:r>
              <a:rPr lang="en-US" sz="1600" dirty="0">
                <a:latin typeface="Times New Roman" panose="02020603050405020304" pitchFamily="18" charset="0"/>
                <a:cs typeface="Times New Roman" panose="02020603050405020304" pitchFamily="18" charset="0"/>
              </a:rPr>
              <a:t>label = "</a:t>
            </a:r>
            <a:r>
              <a:rPr lang="en-US" sz="1600" b="1" dirty="0">
                <a:latin typeface="Times New Roman" panose="02020603050405020304" pitchFamily="18" charset="0"/>
                <a:cs typeface="Times New Roman" panose="02020603050405020304" pitchFamily="18" charset="0"/>
              </a:rPr>
              <a:t>Ransomware</a:t>
            </a:r>
            <a:r>
              <a:rPr lang="en-US" sz="1600" dirty="0">
                <a:latin typeface="Times New Roman" panose="02020603050405020304" pitchFamily="18" charset="0"/>
                <a:cs typeface="Times New Roman" panose="02020603050405020304" pitchFamily="18" charset="0"/>
              </a:rPr>
              <a:t>" if pred == 1 else "</a:t>
            </a:r>
            <a:r>
              <a:rPr lang="en-US" sz="1600" b="1" dirty="0">
                <a:latin typeface="Times New Roman" panose="02020603050405020304" pitchFamily="18" charset="0"/>
                <a:cs typeface="Times New Roman" panose="02020603050405020304" pitchFamily="18" charset="0"/>
              </a:rPr>
              <a:t>Legitimate</a:t>
            </a:r>
            <a:r>
              <a:rPr lang="en-US" sz="16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E2C3A3E0-2428-D246-3D60-24E84B9E9E16}"/>
              </a:ext>
            </a:extLst>
          </p:cNvPr>
          <p:cNvSpPr txBox="1"/>
          <p:nvPr/>
        </p:nvSpPr>
        <p:spPr>
          <a:xfrm>
            <a:off x="4572000" y="74419"/>
            <a:ext cx="4373880" cy="4110741"/>
          </a:xfrm>
          <a:prstGeom prst="rect">
            <a:avLst/>
          </a:prstGeom>
          <a:noFill/>
        </p:spPr>
        <p:txBody>
          <a:bodyPr wrap="square">
            <a:spAutoFit/>
          </a:bodyPr>
          <a:lstStyle/>
          <a:p>
            <a:pPr>
              <a:lnSpc>
                <a:spcPct val="150000"/>
              </a:lnSpc>
            </a:pPr>
            <a:r>
              <a:rPr lang="en-US" sz="1600" b="1" u="sng" dirty="0">
                <a:latin typeface="Times New Roman" panose="02020603050405020304" pitchFamily="18" charset="0"/>
                <a:cs typeface="Times New Roman" panose="02020603050405020304" pitchFamily="18" charset="0"/>
              </a:rPr>
              <a:t>Twilio Alert Implementation</a:t>
            </a:r>
          </a:p>
          <a:p>
            <a:pPr>
              <a:lnSpc>
                <a:spcPct val="150000"/>
              </a:lnSpc>
            </a:pPr>
            <a:r>
              <a:rPr lang="en-US" sz="1600" b="1" dirty="0">
                <a:latin typeface="Times New Roman" panose="02020603050405020304" pitchFamily="18" charset="0"/>
                <a:cs typeface="Times New Roman" panose="02020603050405020304" pitchFamily="18" charset="0"/>
              </a:rPr>
              <a:t># Twilio client</a:t>
            </a:r>
          </a:p>
          <a:p>
            <a:pPr>
              <a:lnSpc>
                <a:spcPct val="150000"/>
              </a:lnSpc>
            </a:pPr>
            <a:r>
              <a:rPr lang="en-US" sz="1600" dirty="0">
                <a:latin typeface="Times New Roman" panose="02020603050405020304" pitchFamily="18" charset="0"/>
                <a:cs typeface="Times New Roman" panose="02020603050405020304" pitchFamily="18" charset="0"/>
              </a:rPr>
              <a:t>client = Client(ACCOUNT_SID, AUTH_TOKEN)</a:t>
            </a:r>
          </a:p>
          <a:p>
            <a:pPr>
              <a:lnSpc>
                <a:spcPct val="150000"/>
              </a:lnSpc>
            </a:pPr>
            <a:r>
              <a:rPr lang="en-US" sz="1600" b="1" dirty="0">
                <a:latin typeface="Times New Roman" panose="02020603050405020304" pitchFamily="18" charset="0"/>
                <a:cs typeface="Times New Roman" panose="02020603050405020304" pitchFamily="18" charset="0"/>
              </a:rPr>
              <a:t># Make alert call when ransomware is detected</a:t>
            </a:r>
          </a:p>
          <a:p>
            <a:pPr>
              <a:lnSpc>
                <a:spcPct val="150000"/>
              </a:lnSpc>
            </a:pPr>
            <a:r>
              <a:rPr lang="en-US" sz="1600" dirty="0">
                <a:latin typeface="Times New Roman" panose="02020603050405020304" pitchFamily="18" charset="0"/>
                <a:cs typeface="Times New Roman" panose="02020603050405020304" pitchFamily="18" charset="0"/>
              </a:rPr>
              <a:t>def </a:t>
            </a:r>
            <a:r>
              <a:rPr lang="en-US" sz="1600" dirty="0" err="1">
                <a:latin typeface="Times New Roman" panose="02020603050405020304" pitchFamily="18" charset="0"/>
                <a:cs typeface="Times New Roman" panose="02020603050405020304" pitchFamily="18" charset="0"/>
              </a:rPr>
              <a:t>make_alert_call</a:t>
            </a: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err="1">
                <a:latin typeface="Times New Roman" panose="02020603050405020304" pitchFamily="18" charset="0"/>
                <a:cs typeface="Times New Roman" panose="02020603050405020304" pitchFamily="18" charset="0"/>
              </a:rPr>
              <a:t>client.calls.create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twiml</a:t>
            </a:r>
            <a:r>
              <a:rPr lang="en-US" sz="1600" dirty="0">
                <a:latin typeface="Times New Roman" panose="02020603050405020304" pitchFamily="18" charset="0"/>
                <a:cs typeface="Times New Roman" panose="02020603050405020304" pitchFamily="18" charset="0"/>
              </a:rPr>
              <a:t>='&lt;Response&gt;&lt;Say&gt;Alert! Ransomware detected.&lt;/Say&gt;&lt;/Response&gt;',        from_=TWILIO_NUMBER, to=USER_PHONE)</a:t>
            </a:r>
          </a:p>
          <a:p>
            <a:pPr>
              <a:lnSpc>
                <a:spcPct val="150000"/>
              </a:lnSpc>
            </a:pPr>
            <a:r>
              <a:rPr lang="en-US" sz="1600" b="1" dirty="0">
                <a:latin typeface="Times New Roman" panose="02020603050405020304" pitchFamily="18" charset="0"/>
                <a:cs typeface="Times New Roman" panose="02020603050405020304" pitchFamily="18" charset="0"/>
              </a:rPr>
              <a:t># Trigger alert</a:t>
            </a:r>
          </a:p>
          <a:p>
            <a:pPr>
              <a:lnSpc>
                <a:spcPct val="150000"/>
              </a:lnSpc>
            </a:pPr>
            <a:r>
              <a:rPr lang="en-US" sz="1600" dirty="0">
                <a:latin typeface="Times New Roman" panose="02020603050405020304" pitchFamily="18" charset="0"/>
                <a:cs typeface="Times New Roman" panose="02020603050405020304" pitchFamily="18" charset="0"/>
              </a:rPr>
              <a:t>if label == "Ransomware":   </a:t>
            </a: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make_alert_call</a:t>
            </a:r>
            <a:r>
              <a:rPr lang="en-US" sz="1600" dirty="0">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AA391495-C973-D9DF-8196-EAAEFE301401}"/>
              </a:ext>
            </a:extLst>
          </p:cNvPr>
          <p:cNvPicPr>
            <a:picLocks noChangeAspect="1"/>
          </p:cNvPicPr>
          <p:nvPr/>
        </p:nvPicPr>
        <p:blipFill>
          <a:blip r:embed="rId2"/>
          <a:stretch>
            <a:fillRect/>
          </a:stretch>
        </p:blipFill>
        <p:spPr>
          <a:xfrm>
            <a:off x="7886700" y="85849"/>
            <a:ext cx="1143000" cy="695325"/>
          </a:xfrm>
          <a:prstGeom prst="rect">
            <a:avLst/>
          </a:prstGeom>
        </p:spPr>
      </p:pic>
    </p:spTree>
    <p:extLst>
      <p:ext uri="{BB962C8B-B14F-4D97-AF65-F5344CB8AC3E}">
        <p14:creationId xmlns:p14="http://schemas.microsoft.com/office/powerpoint/2010/main" val="18764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F1A339-8871-5CDB-4835-7A0372D9AE1F}"/>
              </a:ext>
            </a:extLst>
          </p:cNvPr>
          <p:cNvSpPr txBox="1"/>
          <p:nvPr/>
        </p:nvSpPr>
        <p:spPr>
          <a:xfrm>
            <a:off x="510208" y="779890"/>
            <a:ext cx="8427720" cy="2264081"/>
          </a:xfrm>
          <a:prstGeom prst="rect">
            <a:avLst/>
          </a:prstGeom>
          <a:noFill/>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Twilio Alert </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Event Trigger</a:t>
            </a:r>
            <a:r>
              <a:rPr lang="en-US" sz="1600" dirty="0">
                <a:latin typeface="Times New Roman" panose="02020603050405020304" pitchFamily="18" charset="0"/>
                <a:cs typeface="Times New Roman" panose="02020603050405020304" pitchFamily="18" charset="0"/>
              </a:rPr>
              <a:t>: When the CNN classifier detects Ransomware.</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Twilio Client Initialization</a:t>
            </a:r>
            <a:r>
              <a:rPr lang="en-US" sz="1600" dirty="0">
                <a:latin typeface="Times New Roman" panose="02020603050405020304" pitchFamily="18" charset="0"/>
                <a:cs typeface="Times New Roman" panose="02020603050405020304" pitchFamily="18" charset="0"/>
              </a:rPr>
              <a:t>: Uses secure credentials (ACCOUNT_SID, AUTH_TOKEN).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Alert Mechanism</a:t>
            </a:r>
            <a:r>
              <a:rPr lang="en-US" sz="1600" dirty="0">
                <a:latin typeface="Times New Roman" panose="02020603050405020304" pitchFamily="18" charset="0"/>
                <a:cs typeface="Times New Roman" panose="02020603050405020304" pitchFamily="18" charset="0"/>
              </a:rPr>
              <a:t>: Initiates an automated phone call to the registered user.</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Voice Message</a:t>
            </a:r>
            <a:r>
              <a:rPr lang="en-US" sz="1600" dirty="0">
                <a:latin typeface="Times New Roman" panose="02020603050405020304" pitchFamily="18" charset="0"/>
                <a:cs typeface="Times New Roman" panose="02020603050405020304" pitchFamily="18" charset="0"/>
              </a:rPr>
              <a:t>: Plays a spoken alert: “Ransomware detected. Please take immediate action.“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Notification Delivery</a:t>
            </a:r>
            <a:r>
              <a:rPr lang="en-US" sz="1600" dirty="0">
                <a:latin typeface="Times New Roman" panose="02020603050405020304" pitchFamily="18" charset="0"/>
                <a:cs typeface="Times New Roman" panose="02020603050405020304" pitchFamily="18" charset="0"/>
              </a:rPr>
              <a:t>: User receives a real-time phone call alert for critical threat detection.</a:t>
            </a:r>
          </a:p>
        </p:txBody>
      </p:sp>
      <p:pic>
        <p:nvPicPr>
          <p:cNvPr id="4" name="Picture 3">
            <a:extLst>
              <a:ext uri="{FF2B5EF4-FFF2-40B4-BE49-F238E27FC236}">
                <a16:creationId xmlns:a16="http://schemas.microsoft.com/office/drawing/2014/main" id="{B4A3F771-44B2-8E1B-7CE5-99E6345B622D}"/>
              </a:ext>
            </a:extLst>
          </p:cNvPr>
          <p:cNvPicPr>
            <a:picLocks noChangeAspect="1"/>
          </p:cNvPicPr>
          <p:nvPr/>
        </p:nvPicPr>
        <p:blipFill>
          <a:blip r:embed="rId2"/>
          <a:stretch>
            <a:fillRect/>
          </a:stretch>
        </p:blipFill>
        <p:spPr>
          <a:xfrm>
            <a:off x="7794928" y="84565"/>
            <a:ext cx="1143000" cy="695325"/>
          </a:xfrm>
          <a:prstGeom prst="rect">
            <a:avLst/>
          </a:prstGeom>
        </p:spPr>
      </p:pic>
    </p:spTree>
    <p:extLst>
      <p:ext uri="{BB962C8B-B14F-4D97-AF65-F5344CB8AC3E}">
        <p14:creationId xmlns:p14="http://schemas.microsoft.com/office/powerpoint/2010/main" val="1469166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5E3E25-C061-809A-487E-521DFEF346F8}"/>
              </a:ext>
            </a:extLst>
          </p:cNvPr>
          <p:cNvSpPr txBox="1"/>
          <p:nvPr/>
        </p:nvSpPr>
        <p:spPr>
          <a:xfrm>
            <a:off x="322729" y="221889"/>
            <a:ext cx="7799295" cy="584775"/>
          </a:xfrm>
          <a:prstGeom prst="rect">
            <a:avLst/>
          </a:prstGeom>
          <a:noFill/>
        </p:spPr>
        <p:txBody>
          <a:bodyPr wrap="square">
            <a:spAutoFit/>
          </a:bodyPr>
          <a:lstStyle/>
          <a:p>
            <a:pPr marL="0" indent="0" algn="ctr" rtl="0" eaLnBrk="1" latinLnBrk="0" hangingPunct="1"/>
            <a:r>
              <a:rPr lang="en-US" sz="3200" b="1" dirty="0">
                <a:solidFill>
                  <a:srgbClr val="203864"/>
                </a:solidFill>
                <a:effectLst/>
                <a:latin typeface="Times New Roman" panose="02020603050405020304" pitchFamily="18" charset="0"/>
                <a:cs typeface="Times New Roman" panose="02020603050405020304" pitchFamily="18" charset="0"/>
              </a:rPr>
              <a:t>TESTING</a:t>
            </a:r>
            <a:endParaRPr lang="en-IN" sz="3200" dirty="0">
              <a:effectLst/>
            </a:endParaRPr>
          </a:p>
        </p:txBody>
      </p:sp>
      <p:sp>
        <p:nvSpPr>
          <p:cNvPr id="4" name="Footer Placeholder 2">
            <a:extLst>
              <a:ext uri="{FF2B5EF4-FFF2-40B4-BE49-F238E27FC236}">
                <a16:creationId xmlns:a16="http://schemas.microsoft.com/office/drawing/2014/main" id="{C8E0621D-3716-B36C-2FBD-0834A227ECB4}"/>
              </a:ext>
            </a:extLst>
          </p:cNvPr>
          <p:cNvSpPr txBox="1">
            <a:spLocks/>
          </p:cNvSpPr>
          <p:nvPr/>
        </p:nvSpPr>
        <p:spPr>
          <a:xfrm>
            <a:off x="3686185" y="6491145"/>
            <a:ext cx="3534683" cy="241467"/>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2025-26</a:t>
            </a:r>
          </a:p>
        </p:txBody>
      </p:sp>
      <p:sp>
        <p:nvSpPr>
          <p:cNvPr id="7" name="Slide Number Placeholder 3">
            <a:extLst>
              <a:ext uri="{FF2B5EF4-FFF2-40B4-BE49-F238E27FC236}">
                <a16:creationId xmlns:a16="http://schemas.microsoft.com/office/drawing/2014/main" id="{9F834BE4-3281-5054-7E8F-BB43350109B7}"/>
              </a:ext>
            </a:extLst>
          </p:cNvPr>
          <p:cNvSpPr txBox="1">
            <a:spLocks/>
          </p:cNvSpPr>
          <p:nvPr/>
        </p:nvSpPr>
        <p:spPr>
          <a:xfrm>
            <a:off x="9900458" y="6491145"/>
            <a:ext cx="961597" cy="241467"/>
          </a:xfrm>
          <a:prstGeom prst="rect">
            <a:avLst/>
          </a:prstGeo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FBB93A-4B32-4007-AACF-5243CED557C7}" type="slidenum">
              <a:rPr lang="en-IN" smtClean="0"/>
              <a:pPr/>
              <a:t>15</a:t>
            </a:fld>
            <a:endParaRPr lang="en-IN"/>
          </a:p>
        </p:txBody>
      </p:sp>
      <p:sp>
        <p:nvSpPr>
          <p:cNvPr id="11" name="TextBox 10">
            <a:extLst>
              <a:ext uri="{FF2B5EF4-FFF2-40B4-BE49-F238E27FC236}">
                <a16:creationId xmlns:a16="http://schemas.microsoft.com/office/drawing/2014/main" id="{E5EB5CB9-B34C-5F02-1B9E-5F922B04DD40}"/>
              </a:ext>
            </a:extLst>
          </p:cNvPr>
          <p:cNvSpPr txBox="1"/>
          <p:nvPr/>
        </p:nvSpPr>
        <p:spPr>
          <a:xfrm>
            <a:off x="224557" y="716443"/>
            <a:ext cx="8331232" cy="498663"/>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1. UNIT TESTING:</a:t>
            </a:r>
            <a:endParaRPr lang="en-IN" sz="2000" b="1" dirty="0">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6CAB1B0A-D10B-3FCA-0581-2DBC468B69FE}"/>
              </a:ext>
            </a:extLst>
          </p:cNvPr>
          <p:cNvGraphicFramePr>
            <a:graphicFrameLocks noGrp="1"/>
          </p:cNvGraphicFramePr>
          <p:nvPr>
            <p:extLst>
              <p:ext uri="{D42A27DB-BD31-4B8C-83A1-F6EECF244321}">
                <p14:modId xmlns:p14="http://schemas.microsoft.com/office/powerpoint/2010/main" val="3504561572"/>
              </p:ext>
            </p:extLst>
          </p:nvPr>
        </p:nvGraphicFramePr>
        <p:xfrm>
          <a:off x="322729" y="1332578"/>
          <a:ext cx="8688854" cy="3679890"/>
        </p:xfrm>
        <a:graphic>
          <a:graphicData uri="http://schemas.openxmlformats.org/drawingml/2006/table">
            <a:tbl>
              <a:tblPr firstRow="1" bandRow="1"/>
              <a:tblGrid>
                <a:gridCol w="1307288">
                  <a:extLst>
                    <a:ext uri="{9D8B030D-6E8A-4147-A177-3AD203B41FA5}">
                      <a16:colId xmlns:a16="http://schemas.microsoft.com/office/drawing/2014/main" val="3548562719"/>
                    </a:ext>
                  </a:extLst>
                </a:gridCol>
                <a:gridCol w="2067340">
                  <a:extLst>
                    <a:ext uri="{9D8B030D-6E8A-4147-A177-3AD203B41FA5}">
                      <a16:colId xmlns:a16="http://schemas.microsoft.com/office/drawing/2014/main" val="1915633020"/>
                    </a:ext>
                  </a:extLst>
                </a:gridCol>
                <a:gridCol w="1288111">
                  <a:extLst>
                    <a:ext uri="{9D8B030D-6E8A-4147-A177-3AD203B41FA5}">
                      <a16:colId xmlns:a16="http://schemas.microsoft.com/office/drawing/2014/main" val="1832155160"/>
                    </a:ext>
                  </a:extLst>
                </a:gridCol>
                <a:gridCol w="1812897">
                  <a:extLst>
                    <a:ext uri="{9D8B030D-6E8A-4147-A177-3AD203B41FA5}">
                      <a16:colId xmlns:a16="http://schemas.microsoft.com/office/drawing/2014/main" val="708372134"/>
                    </a:ext>
                  </a:extLst>
                </a:gridCol>
                <a:gridCol w="1526651">
                  <a:extLst>
                    <a:ext uri="{9D8B030D-6E8A-4147-A177-3AD203B41FA5}">
                      <a16:colId xmlns:a16="http://schemas.microsoft.com/office/drawing/2014/main" val="3438480492"/>
                    </a:ext>
                  </a:extLst>
                </a:gridCol>
                <a:gridCol w="686567">
                  <a:extLst>
                    <a:ext uri="{9D8B030D-6E8A-4147-A177-3AD203B41FA5}">
                      <a16:colId xmlns:a16="http://schemas.microsoft.com/office/drawing/2014/main" val="2717388764"/>
                    </a:ext>
                  </a:extLst>
                </a:gridCol>
              </a:tblGrid>
              <a:tr h="448378">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Test Name</a:t>
                      </a:r>
                    </a:p>
                  </a:txBody>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Test Description</a:t>
                      </a:r>
                    </a:p>
                  </a:txBody>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Input</a:t>
                      </a:r>
                    </a:p>
                  </a:txBody>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Expected Output</a:t>
                      </a:r>
                    </a:p>
                  </a:txBody>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Actual Output</a:t>
                      </a:r>
                    </a:p>
                  </a:txBody>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Test Result</a:t>
                      </a:r>
                    </a:p>
                  </a:txBody>
                  <a:tcPr/>
                </a:tc>
                <a:extLst>
                  <a:ext uri="{0D108BD9-81ED-4DB2-BD59-A6C34878D82A}">
                    <a16:rowId xmlns:a16="http://schemas.microsoft.com/office/drawing/2014/main" val="3613306583"/>
                  </a:ext>
                </a:extLst>
              </a:tr>
              <a:tr h="280943">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Image file validation </a:t>
                      </a:r>
                    </a:p>
                    <a:p>
                      <a:pPr algn="l">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Validate supported image formats</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png</a:t>
                      </a:r>
                      <a:r>
                        <a:rPr lang="en-IN" sz="1400" dirty="0">
                          <a:latin typeface="Times New Roman" panose="02020603050405020304" pitchFamily="18" charset="0"/>
                          <a:cs typeface="Times New Roman" panose="02020603050405020304" pitchFamily="18" charset="0"/>
                        </a:rPr>
                        <a:t> , .jpg , .jpeg</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File accepted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File accepted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Pass </a:t>
                      </a:r>
                    </a:p>
                  </a:txBody>
                  <a:tcPr/>
                </a:tc>
                <a:extLst>
                  <a:ext uri="{0D108BD9-81ED-4DB2-BD59-A6C34878D82A}">
                    <a16:rowId xmlns:a16="http://schemas.microsoft.com/office/drawing/2014/main" val="1630784236"/>
                  </a:ext>
                </a:extLst>
              </a:tr>
              <a:tr h="1544616">
                <a:tc>
                  <a:txBody>
                    <a:bodyPr/>
                    <a:lstStyle/>
                    <a:p>
                      <a:pPr algn="l">
                        <a:lnSpc>
                          <a:spcPct val="150000"/>
                        </a:lnSpc>
                      </a:pPr>
                      <a:r>
                        <a:rPr lang="en-IN" sz="1400" dirty="0">
                          <a:latin typeface="Times New Roman" panose="02020603050405020304" pitchFamily="18" charset="0"/>
                          <a:cs typeface="Times New Roman" panose="02020603050405020304" pitchFamily="18" charset="0"/>
                        </a:rPr>
                        <a:t>Image preprocessing </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Model prediction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Check resizing, grayscale conversion &amp;normalization </a:t>
                      </a:r>
                    </a:p>
                    <a:p>
                      <a:pPr algn="l">
                        <a:lnSpc>
                          <a:spcPct val="150000"/>
                        </a:lnSpc>
                      </a:pPr>
                      <a:r>
                        <a:rPr lang="en-IN" sz="1400" dirty="0">
                          <a:latin typeface="Times New Roman" panose="02020603050405020304" pitchFamily="18" charset="0"/>
                          <a:cs typeface="Times New Roman" panose="02020603050405020304" pitchFamily="18" charset="0"/>
                        </a:rPr>
                        <a:t>Validate </a:t>
                      </a:r>
                      <a:r>
                        <a:rPr lang="en-IN" sz="1400" dirty="0" err="1">
                          <a:latin typeface="Times New Roman" panose="02020603050405020304" pitchFamily="18" charset="0"/>
                          <a:cs typeface="Times New Roman" panose="02020603050405020304" pitchFamily="18" charset="0"/>
                        </a:rPr>
                        <a:t>softmax</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probability output </a:t>
                      </a:r>
                      <a:endParaRPr lang="en-IN" sz="1400" dirty="0">
                        <a:latin typeface="Times New Roman" panose="02020603050405020304" pitchFamily="18" charset="0"/>
                        <a:cs typeface="Times New Roman" panose="02020603050405020304" pitchFamily="18" charset="0"/>
                      </a:endParaRP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Uploaded image </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err="1">
                          <a:latin typeface="Times New Roman" panose="02020603050405020304" pitchFamily="18" charset="0"/>
                          <a:cs typeface="Times New Roman" panose="02020603050405020304" pitchFamily="18" charset="0"/>
                        </a:rPr>
                        <a:t>Preprocessed</a:t>
                      </a:r>
                      <a:r>
                        <a:rPr lang="en-IN" sz="1400" dirty="0">
                          <a:latin typeface="Times New Roman" panose="02020603050405020304" pitchFamily="18" charset="0"/>
                          <a:cs typeface="Times New Roman" panose="02020603050405020304" pitchFamily="18" charset="0"/>
                        </a:rPr>
                        <a:t> tensor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Tensor(1x1x128x128)</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Two-class probability (Ransomware /Legitimate)</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Correct tensor generated </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Correct probabilities returned </a:t>
                      </a:r>
                    </a:p>
                  </a:txBody>
                  <a:tcPr/>
                </a:tc>
                <a:tc>
                  <a:txBody>
                    <a:bodyPr/>
                    <a:lstStyle/>
                    <a:p>
                      <a:pPr algn="l">
                        <a:lnSpc>
                          <a:spcPct val="150000"/>
                        </a:lnSpc>
                      </a:pPr>
                      <a:r>
                        <a:rPr lang="en-IN" sz="1400" dirty="0">
                          <a:latin typeface="Times New Roman" panose="02020603050405020304" pitchFamily="18" charset="0"/>
                          <a:cs typeface="Times New Roman" panose="02020603050405020304" pitchFamily="18" charset="0"/>
                        </a:rPr>
                        <a:t>Pass</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r>
                        <a:rPr lang="en-IN" sz="1400" dirty="0">
                          <a:latin typeface="Times New Roman" panose="02020603050405020304" pitchFamily="18" charset="0"/>
                          <a:cs typeface="Times New Roman" panose="02020603050405020304" pitchFamily="18" charset="0"/>
                        </a:rPr>
                        <a:t>Pass</a:t>
                      </a:r>
                    </a:p>
                    <a:p>
                      <a:pPr algn="l">
                        <a:lnSpc>
                          <a:spcPct val="150000"/>
                        </a:lnSpc>
                      </a:pPr>
                      <a:endParaRPr lang="en-IN" sz="1400" dirty="0">
                        <a:latin typeface="Times New Roman" panose="02020603050405020304" pitchFamily="18" charset="0"/>
                        <a:cs typeface="Times New Roman" panose="02020603050405020304" pitchFamily="18" charset="0"/>
                      </a:endParaRPr>
                    </a:p>
                    <a:p>
                      <a:pPr algn="l">
                        <a:lnSpc>
                          <a:spcPct val="150000"/>
                        </a:lnSpc>
                      </a:pP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0505593"/>
                  </a:ext>
                </a:extLst>
              </a:tr>
            </a:tbl>
          </a:graphicData>
        </a:graphic>
      </p:graphicFrame>
      <p:cxnSp>
        <p:nvCxnSpPr>
          <p:cNvPr id="30" name="Straight Connector 29">
            <a:extLst>
              <a:ext uri="{FF2B5EF4-FFF2-40B4-BE49-F238E27FC236}">
                <a16:creationId xmlns:a16="http://schemas.microsoft.com/office/drawing/2014/main" id="{5B9F4001-66DF-05E1-31C9-289E620073E8}"/>
              </a:ext>
            </a:extLst>
          </p:cNvPr>
          <p:cNvCxnSpPr>
            <a:cxnSpLocks/>
          </p:cNvCxnSpPr>
          <p:nvPr/>
        </p:nvCxnSpPr>
        <p:spPr>
          <a:xfrm>
            <a:off x="322729" y="4029585"/>
            <a:ext cx="8688854" cy="0"/>
          </a:xfrm>
          <a:prstGeom prst="line">
            <a:avLst/>
          </a:prstGeom>
          <a:ln/>
        </p:spPr>
        <p:style>
          <a:lnRef idx="3">
            <a:schemeClr val="dk1"/>
          </a:lnRef>
          <a:fillRef idx="0">
            <a:schemeClr val="dk1"/>
          </a:fillRef>
          <a:effectRef idx="2">
            <a:schemeClr val="dk1"/>
          </a:effectRef>
          <a:fontRef idx="minor">
            <a:schemeClr val="tx1"/>
          </a:fontRef>
        </p:style>
      </p:cxnSp>
      <p:pic>
        <p:nvPicPr>
          <p:cNvPr id="3" name="Picture 2">
            <a:extLst>
              <a:ext uri="{FF2B5EF4-FFF2-40B4-BE49-F238E27FC236}">
                <a16:creationId xmlns:a16="http://schemas.microsoft.com/office/drawing/2014/main" id="{91852123-1C1B-1AFB-1449-51A3F77C1F8F}"/>
              </a:ext>
            </a:extLst>
          </p:cNvPr>
          <p:cNvPicPr>
            <a:picLocks noChangeAspect="1"/>
          </p:cNvPicPr>
          <p:nvPr/>
        </p:nvPicPr>
        <p:blipFill>
          <a:blip r:embed="rId2"/>
          <a:stretch>
            <a:fillRect/>
          </a:stretch>
        </p:blipFill>
        <p:spPr>
          <a:xfrm>
            <a:off x="7794928" y="84565"/>
            <a:ext cx="1143000" cy="695325"/>
          </a:xfrm>
          <a:prstGeom prst="rect">
            <a:avLst/>
          </a:prstGeom>
        </p:spPr>
      </p:pic>
    </p:spTree>
    <p:extLst>
      <p:ext uri="{BB962C8B-B14F-4D97-AF65-F5344CB8AC3E}">
        <p14:creationId xmlns:p14="http://schemas.microsoft.com/office/powerpoint/2010/main" val="3305243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D4B6698-E4E3-97DF-9876-833A64E544D2}"/>
              </a:ext>
            </a:extLst>
          </p:cNvPr>
          <p:cNvGraphicFramePr>
            <a:graphicFrameLocks noGrp="1"/>
          </p:cNvGraphicFramePr>
          <p:nvPr>
            <p:extLst>
              <p:ext uri="{D42A27DB-BD31-4B8C-83A1-F6EECF244321}">
                <p14:modId xmlns:p14="http://schemas.microsoft.com/office/powerpoint/2010/main" val="3282057005"/>
              </p:ext>
            </p:extLst>
          </p:nvPr>
        </p:nvGraphicFramePr>
        <p:xfrm>
          <a:off x="77725" y="855417"/>
          <a:ext cx="8988550" cy="3733040"/>
        </p:xfrm>
        <a:graphic>
          <a:graphicData uri="http://schemas.openxmlformats.org/drawingml/2006/table">
            <a:tbl>
              <a:tblPr firstRow="1" bandRow="1"/>
              <a:tblGrid>
                <a:gridCol w="1791680">
                  <a:extLst>
                    <a:ext uri="{9D8B030D-6E8A-4147-A177-3AD203B41FA5}">
                      <a16:colId xmlns:a16="http://schemas.microsoft.com/office/drawing/2014/main" val="3539242059"/>
                    </a:ext>
                  </a:extLst>
                </a:gridCol>
                <a:gridCol w="1692781">
                  <a:extLst>
                    <a:ext uri="{9D8B030D-6E8A-4147-A177-3AD203B41FA5}">
                      <a16:colId xmlns:a16="http://schemas.microsoft.com/office/drawing/2014/main" val="1781767413"/>
                    </a:ext>
                  </a:extLst>
                </a:gridCol>
                <a:gridCol w="1327868">
                  <a:extLst>
                    <a:ext uri="{9D8B030D-6E8A-4147-A177-3AD203B41FA5}">
                      <a16:colId xmlns:a16="http://schemas.microsoft.com/office/drawing/2014/main" val="781674513"/>
                    </a:ext>
                  </a:extLst>
                </a:gridCol>
                <a:gridCol w="1297473">
                  <a:extLst>
                    <a:ext uri="{9D8B030D-6E8A-4147-A177-3AD203B41FA5}">
                      <a16:colId xmlns:a16="http://schemas.microsoft.com/office/drawing/2014/main" val="3143283742"/>
                    </a:ext>
                  </a:extLst>
                </a:gridCol>
                <a:gridCol w="1922805">
                  <a:extLst>
                    <a:ext uri="{9D8B030D-6E8A-4147-A177-3AD203B41FA5}">
                      <a16:colId xmlns:a16="http://schemas.microsoft.com/office/drawing/2014/main" val="4012402201"/>
                    </a:ext>
                  </a:extLst>
                </a:gridCol>
                <a:gridCol w="955943">
                  <a:extLst>
                    <a:ext uri="{9D8B030D-6E8A-4147-A177-3AD203B41FA5}">
                      <a16:colId xmlns:a16="http://schemas.microsoft.com/office/drawing/2014/main" val="3125972411"/>
                    </a:ext>
                  </a:extLst>
                </a:gridCol>
              </a:tblGrid>
              <a:tr h="513416">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Name</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Description</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Input</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Expected output </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Actual output </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Results </a:t>
                      </a:r>
                    </a:p>
                  </a:txBody>
                  <a:tcPr/>
                </a:tc>
                <a:extLst>
                  <a:ext uri="{0D108BD9-81ED-4DB2-BD59-A6C34878D82A}">
                    <a16:rowId xmlns:a16="http://schemas.microsoft.com/office/drawing/2014/main" val="199658223"/>
                  </a:ext>
                </a:extLst>
              </a:tr>
              <a:tr h="754433">
                <a:tc>
                  <a:txBody>
                    <a:bodyPr/>
                    <a:lstStyle/>
                    <a:p>
                      <a:pPr algn="l">
                        <a:lnSpc>
                          <a:spcPct val="150000"/>
                        </a:lnSpc>
                      </a:pPr>
                      <a:r>
                        <a:rPr lang="en-US" sz="1400" dirty="0">
                          <a:latin typeface="Times New Roman" panose="02020603050405020304" pitchFamily="18" charset="0"/>
                          <a:cs typeface="Times New Roman" panose="02020603050405020304" pitchFamily="18" charset="0"/>
                        </a:rPr>
                        <a:t>Full pipeline execution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Test upload-&gt; preprocess -&gt;  predict flow</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Normal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Legitimate file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Legitimate file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5983851"/>
                  </a:ext>
                </a:extLst>
              </a:tr>
              <a:tr h="487544">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Ransomware detection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Check if CNN detects malicious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Ransomware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Ransomware detected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Successfully detected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2490190"/>
                  </a:ext>
                </a:extLst>
              </a:tr>
              <a:tr h="418131">
                <a:tc>
                  <a:txBody>
                    <a:bodyPr/>
                    <a:lstStyle/>
                    <a:p>
                      <a:pPr algn="l">
                        <a:lnSpc>
                          <a:spcPct val="150000"/>
                        </a:lnSpc>
                      </a:pPr>
                      <a:r>
                        <a:rPr lang="en-US" sz="1400" dirty="0">
                          <a:latin typeface="Times New Roman" panose="02020603050405020304" pitchFamily="18" charset="0"/>
                          <a:cs typeface="Times New Roman" panose="02020603050405020304" pitchFamily="18" charset="0"/>
                        </a:rPr>
                        <a:t>Alert function trigger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Validate Twilio call after detection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Prediction = ransomware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Phone call initiated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Call triggered successfully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16332667"/>
                  </a:ext>
                </a:extLst>
              </a:tr>
            </a:tbl>
          </a:graphicData>
        </a:graphic>
      </p:graphicFrame>
      <p:sp>
        <p:nvSpPr>
          <p:cNvPr id="6" name="TextBox 5">
            <a:extLst>
              <a:ext uri="{FF2B5EF4-FFF2-40B4-BE49-F238E27FC236}">
                <a16:creationId xmlns:a16="http://schemas.microsoft.com/office/drawing/2014/main" id="{D62FDE7B-8A4A-CD80-E1B3-7368BAAA3232}"/>
              </a:ext>
            </a:extLst>
          </p:cNvPr>
          <p:cNvSpPr txBox="1"/>
          <p:nvPr/>
        </p:nvSpPr>
        <p:spPr>
          <a:xfrm>
            <a:off x="-65401" y="74223"/>
            <a:ext cx="8915399" cy="498663"/>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2. INTEGRATED TESTING:</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5BCB878-0398-07A8-325F-2012E8B9B812}"/>
              </a:ext>
            </a:extLst>
          </p:cNvPr>
          <p:cNvPicPr>
            <a:picLocks noChangeAspect="1"/>
          </p:cNvPicPr>
          <p:nvPr/>
        </p:nvPicPr>
        <p:blipFill>
          <a:blip r:embed="rId2"/>
          <a:stretch>
            <a:fillRect/>
          </a:stretch>
        </p:blipFill>
        <p:spPr>
          <a:xfrm>
            <a:off x="7886697" y="84565"/>
            <a:ext cx="1143000" cy="695325"/>
          </a:xfrm>
          <a:prstGeom prst="rect">
            <a:avLst/>
          </a:prstGeom>
        </p:spPr>
      </p:pic>
    </p:spTree>
    <p:extLst>
      <p:ext uri="{BB962C8B-B14F-4D97-AF65-F5344CB8AC3E}">
        <p14:creationId xmlns:p14="http://schemas.microsoft.com/office/powerpoint/2010/main" val="277392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CF1DD8D-5CC8-458C-DEEF-66AB37651F97}"/>
              </a:ext>
            </a:extLst>
          </p:cNvPr>
          <p:cNvSpPr txBox="1"/>
          <p:nvPr/>
        </p:nvSpPr>
        <p:spPr>
          <a:xfrm>
            <a:off x="0" y="205860"/>
            <a:ext cx="8380674" cy="498663"/>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3. SYSTEM TESTING:</a:t>
            </a:r>
            <a:endParaRPr lang="en-IN" sz="2000" b="1"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CF2002D0-56D8-6918-5DB2-2287C0EBB34A}"/>
              </a:ext>
            </a:extLst>
          </p:cNvPr>
          <p:cNvGraphicFramePr>
            <a:graphicFrameLocks noGrp="1"/>
          </p:cNvGraphicFramePr>
          <p:nvPr>
            <p:extLst>
              <p:ext uri="{D42A27DB-BD31-4B8C-83A1-F6EECF244321}">
                <p14:modId xmlns:p14="http://schemas.microsoft.com/office/powerpoint/2010/main" val="2290615574"/>
              </p:ext>
            </p:extLst>
          </p:nvPr>
        </p:nvGraphicFramePr>
        <p:xfrm>
          <a:off x="294197" y="860503"/>
          <a:ext cx="8507898" cy="3413000"/>
        </p:xfrm>
        <a:graphic>
          <a:graphicData uri="http://schemas.openxmlformats.org/drawingml/2006/table">
            <a:tbl>
              <a:tblPr firstRow="1" bandRow="1"/>
              <a:tblGrid>
                <a:gridCol w="1417983">
                  <a:extLst>
                    <a:ext uri="{9D8B030D-6E8A-4147-A177-3AD203B41FA5}">
                      <a16:colId xmlns:a16="http://schemas.microsoft.com/office/drawing/2014/main" val="1359752278"/>
                    </a:ext>
                  </a:extLst>
                </a:gridCol>
                <a:gridCol w="1417983">
                  <a:extLst>
                    <a:ext uri="{9D8B030D-6E8A-4147-A177-3AD203B41FA5}">
                      <a16:colId xmlns:a16="http://schemas.microsoft.com/office/drawing/2014/main" val="774833086"/>
                    </a:ext>
                  </a:extLst>
                </a:gridCol>
                <a:gridCol w="1417983">
                  <a:extLst>
                    <a:ext uri="{9D8B030D-6E8A-4147-A177-3AD203B41FA5}">
                      <a16:colId xmlns:a16="http://schemas.microsoft.com/office/drawing/2014/main" val="4163068893"/>
                    </a:ext>
                  </a:extLst>
                </a:gridCol>
                <a:gridCol w="1417983">
                  <a:extLst>
                    <a:ext uri="{9D8B030D-6E8A-4147-A177-3AD203B41FA5}">
                      <a16:colId xmlns:a16="http://schemas.microsoft.com/office/drawing/2014/main" val="1499243223"/>
                    </a:ext>
                  </a:extLst>
                </a:gridCol>
                <a:gridCol w="1417983">
                  <a:extLst>
                    <a:ext uri="{9D8B030D-6E8A-4147-A177-3AD203B41FA5}">
                      <a16:colId xmlns:a16="http://schemas.microsoft.com/office/drawing/2014/main" val="3722389521"/>
                    </a:ext>
                  </a:extLst>
                </a:gridCol>
                <a:gridCol w="1417983">
                  <a:extLst>
                    <a:ext uri="{9D8B030D-6E8A-4147-A177-3AD203B41FA5}">
                      <a16:colId xmlns:a16="http://schemas.microsoft.com/office/drawing/2014/main" val="2856498102"/>
                    </a:ext>
                  </a:extLst>
                </a:gridCol>
              </a:tblGrid>
              <a:tr h="370840">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name </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Test Description </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Input </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Expected output </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Actual output </a:t>
                      </a:r>
                    </a:p>
                  </a:txBody>
                  <a:tcPr/>
                </a:tc>
                <a:tc>
                  <a:txBody>
                    <a:bodyPr/>
                    <a:lstStyle/>
                    <a:p>
                      <a:pPr algn="l">
                        <a:lnSpc>
                          <a:spcPct val="150000"/>
                        </a:lnSpc>
                      </a:pPr>
                      <a:r>
                        <a:rPr lang="en-US" sz="1400" b="1" dirty="0">
                          <a:latin typeface="Times New Roman" panose="02020603050405020304" pitchFamily="18" charset="0"/>
                          <a:cs typeface="Times New Roman" panose="02020603050405020304" pitchFamily="18" charset="0"/>
                        </a:rPr>
                        <a:t>Results</a:t>
                      </a:r>
                    </a:p>
                  </a:txBody>
                  <a:tcPr/>
                </a:tc>
                <a:extLst>
                  <a:ext uri="{0D108BD9-81ED-4DB2-BD59-A6C34878D82A}">
                    <a16:rowId xmlns:a16="http://schemas.microsoft.com/office/drawing/2014/main" val="2192581163"/>
                  </a:ext>
                </a:extLst>
              </a:tr>
              <a:tr h="370840">
                <a:tc>
                  <a:txBody>
                    <a:bodyPr/>
                    <a:lstStyle/>
                    <a:p>
                      <a:pPr algn="l">
                        <a:lnSpc>
                          <a:spcPct val="150000"/>
                        </a:lnSpc>
                      </a:pPr>
                      <a:r>
                        <a:rPr lang="en-US" sz="1400" dirty="0">
                          <a:latin typeface="Times New Roman" panose="02020603050405020304" pitchFamily="18" charset="0"/>
                          <a:cs typeface="Times New Roman" panose="02020603050405020304" pitchFamily="18" charset="0"/>
                        </a:rPr>
                        <a:t>End –to-end workflow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Validate entire system performance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Image uploaded via web UI</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Full workflow completes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Work correctly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 </a:t>
                      </a:r>
                    </a:p>
                  </a:txBody>
                  <a:tcPr/>
                </a:tc>
                <a:extLst>
                  <a:ext uri="{0D108BD9-81ED-4DB2-BD59-A6C34878D82A}">
                    <a16:rowId xmlns:a16="http://schemas.microsoft.com/office/drawing/2014/main" val="1894603676"/>
                  </a:ext>
                </a:extLst>
              </a:tr>
              <a:tr h="370840">
                <a:tc>
                  <a:txBody>
                    <a:bodyPr/>
                    <a:lstStyle/>
                    <a:p>
                      <a:pPr algn="l">
                        <a:lnSpc>
                          <a:spcPct val="150000"/>
                        </a:lnSpc>
                      </a:pPr>
                      <a:r>
                        <a:rPr lang="en-US" sz="1400" dirty="0">
                          <a:latin typeface="Times New Roman" panose="02020603050405020304" pitchFamily="18" charset="0"/>
                          <a:cs typeface="Times New Roman" panose="02020603050405020304" pitchFamily="18" charset="0"/>
                        </a:rPr>
                        <a:t>Response time check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Measure system speed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Multiple test images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&lt; 2 sec response time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1.2-1.5 sec observed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812517"/>
                  </a:ext>
                </a:extLst>
              </a:tr>
              <a:tr h="962334">
                <a:tc>
                  <a:txBody>
                    <a:bodyPr/>
                    <a:lstStyle/>
                    <a:p>
                      <a:pPr algn="l">
                        <a:lnSpc>
                          <a:spcPct val="150000"/>
                        </a:lnSpc>
                      </a:pPr>
                      <a:r>
                        <a:rPr lang="en-US" sz="1400" dirty="0">
                          <a:latin typeface="Times New Roman" panose="02020603050405020304" pitchFamily="18" charset="0"/>
                          <a:cs typeface="Times New Roman" panose="02020603050405020304" pitchFamily="18" charset="0"/>
                        </a:rPr>
                        <a:t>Error handling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Validate </a:t>
                      </a:r>
                      <a:r>
                        <a:rPr lang="en-US" sz="1400" dirty="0" err="1">
                          <a:latin typeface="Times New Roman" panose="02020603050405020304" pitchFamily="18" charset="0"/>
                          <a:cs typeface="Times New Roman" panose="02020603050405020304" pitchFamily="18" charset="0"/>
                        </a:rPr>
                        <a:t>behaviour</a:t>
                      </a:r>
                      <a:r>
                        <a:rPr lang="en-US" sz="1400" dirty="0">
                          <a:latin typeface="Times New Roman" panose="02020603050405020304" pitchFamily="18" charset="0"/>
                          <a:cs typeface="Times New Roman" panose="02020603050405020304" pitchFamily="18" charset="0"/>
                        </a:rPr>
                        <a:t> for invalid inputs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.txt , .pdf , corrupt image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“Invalid file format “ error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Error displayed correctly </a:t>
                      </a:r>
                    </a:p>
                  </a:txBody>
                  <a:tcPr/>
                </a:tc>
                <a:tc>
                  <a:txBody>
                    <a:bodyPr/>
                    <a:lstStyle/>
                    <a:p>
                      <a:pPr algn="l">
                        <a:lnSpc>
                          <a:spcPct val="150000"/>
                        </a:lnSpc>
                      </a:pPr>
                      <a:r>
                        <a:rPr lang="en-US" sz="1400" dirty="0">
                          <a:latin typeface="Times New Roman" panose="02020603050405020304" pitchFamily="18" charset="0"/>
                          <a:cs typeface="Times New Roman" panose="02020603050405020304" pitchFamily="18" charset="0"/>
                        </a:rPr>
                        <a:t>Pass</a:t>
                      </a:r>
                    </a:p>
                    <a:p>
                      <a:pPr algn="l">
                        <a:lnSpc>
                          <a:spcPct val="150000"/>
                        </a:lnSpc>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3605375"/>
                  </a:ext>
                </a:extLst>
              </a:tr>
            </a:tbl>
          </a:graphicData>
        </a:graphic>
      </p:graphicFrame>
      <p:pic>
        <p:nvPicPr>
          <p:cNvPr id="2" name="Picture 1">
            <a:extLst>
              <a:ext uri="{FF2B5EF4-FFF2-40B4-BE49-F238E27FC236}">
                <a16:creationId xmlns:a16="http://schemas.microsoft.com/office/drawing/2014/main" id="{1200EF8C-4348-F79E-055A-0B6335A02ACF}"/>
              </a:ext>
            </a:extLst>
          </p:cNvPr>
          <p:cNvPicPr>
            <a:picLocks noChangeAspect="1"/>
          </p:cNvPicPr>
          <p:nvPr/>
        </p:nvPicPr>
        <p:blipFill>
          <a:blip r:embed="rId2"/>
          <a:stretch>
            <a:fillRect/>
          </a:stretch>
        </p:blipFill>
        <p:spPr>
          <a:xfrm>
            <a:off x="7794928" y="84565"/>
            <a:ext cx="1143000" cy="695325"/>
          </a:xfrm>
          <a:prstGeom prst="rect">
            <a:avLst/>
          </a:prstGeom>
        </p:spPr>
      </p:pic>
    </p:spTree>
    <p:extLst>
      <p:ext uri="{BB962C8B-B14F-4D97-AF65-F5344CB8AC3E}">
        <p14:creationId xmlns:p14="http://schemas.microsoft.com/office/powerpoint/2010/main" val="1949374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DAE8A8-D825-52E3-8C2C-7B1B8BBC9CFC}"/>
              </a:ext>
            </a:extLst>
          </p:cNvPr>
          <p:cNvSpPr txBox="1"/>
          <p:nvPr/>
        </p:nvSpPr>
        <p:spPr>
          <a:xfrm>
            <a:off x="120315" y="85852"/>
            <a:ext cx="8785479" cy="584775"/>
          </a:xfrm>
          <a:prstGeom prst="rect">
            <a:avLst/>
          </a:prstGeom>
          <a:noFill/>
        </p:spPr>
        <p:txBody>
          <a:bodyPr wrap="square">
            <a:spAutoFit/>
          </a:bodyPr>
          <a:lstStyle/>
          <a:p>
            <a:pPr marL="0" indent="0" algn="ctr">
              <a:buNone/>
            </a:pPr>
            <a:r>
              <a:rPr lang="en-US" sz="3200" b="1" dirty="0">
                <a:solidFill>
                  <a:schemeClr val="accent1">
                    <a:lumMod val="50000"/>
                  </a:schemeClr>
                </a:solidFill>
                <a:latin typeface="Times New Roman" panose="02020603050405020304" pitchFamily="18" charset="0"/>
                <a:cs typeface="Times New Roman" panose="02020603050405020304" pitchFamily="18" charset="0"/>
              </a:rPr>
              <a:t>SCREENSHOTS OF OUTPUTS </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33FD276-0644-D977-0970-8BC9BA4B2A05}"/>
              </a:ext>
            </a:extLst>
          </p:cNvPr>
          <p:cNvPicPr>
            <a:picLocks noChangeAspect="1"/>
          </p:cNvPicPr>
          <p:nvPr/>
        </p:nvPicPr>
        <p:blipFill>
          <a:blip r:embed="rId2"/>
          <a:stretch>
            <a:fillRect/>
          </a:stretch>
        </p:blipFill>
        <p:spPr>
          <a:xfrm>
            <a:off x="335279" y="743944"/>
            <a:ext cx="8661955" cy="4387021"/>
          </a:xfrm>
          <a:prstGeom prst="rect">
            <a:avLst/>
          </a:prstGeom>
        </p:spPr>
      </p:pic>
      <p:pic>
        <p:nvPicPr>
          <p:cNvPr id="4" name="Picture 3">
            <a:extLst>
              <a:ext uri="{FF2B5EF4-FFF2-40B4-BE49-F238E27FC236}">
                <a16:creationId xmlns:a16="http://schemas.microsoft.com/office/drawing/2014/main" id="{008BE1F3-4730-B00C-EA29-C46B5B79D1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1380" y="15204"/>
            <a:ext cx="1145854" cy="692081"/>
          </a:xfrm>
          <a:prstGeom prst="rect">
            <a:avLst/>
          </a:prstGeom>
        </p:spPr>
      </p:pic>
    </p:spTree>
    <p:extLst>
      <p:ext uri="{BB962C8B-B14F-4D97-AF65-F5344CB8AC3E}">
        <p14:creationId xmlns:p14="http://schemas.microsoft.com/office/powerpoint/2010/main" val="2360344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57CA63A-BE87-5AFB-FCE1-2B07E427BE21}"/>
              </a:ext>
            </a:extLst>
          </p:cNvPr>
          <p:cNvPicPr>
            <a:picLocks noChangeAspect="1"/>
          </p:cNvPicPr>
          <p:nvPr/>
        </p:nvPicPr>
        <p:blipFill>
          <a:blip r:embed="rId2"/>
          <a:stretch>
            <a:fillRect/>
          </a:stretch>
        </p:blipFill>
        <p:spPr>
          <a:xfrm>
            <a:off x="666831" y="0"/>
            <a:ext cx="3905169" cy="5143500"/>
          </a:xfrm>
          <a:prstGeom prst="rect">
            <a:avLst/>
          </a:prstGeom>
        </p:spPr>
      </p:pic>
      <p:pic>
        <p:nvPicPr>
          <p:cNvPr id="11" name="Picture 10">
            <a:extLst>
              <a:ext uri="{FF2B5EF4-FFF2-40B4-BE49-F238E27FC236}">
                <a16:creationId xmlns:a16="http://schemas.microsoft.com/office/drawing/2014/main" id="{C74A5C48-55AD-1EE0-069D-EF541C8FB7FD}"/>
              </a:ext>
            </a:extLst>
          </p:cNvPr>
          <p:cNvPicPr>
            <a:picLocks noChangeAspect="1"/>
          </p:cNvPicPr>
          <p:nvPr/>
        </p:nvPicPr>
        <p:blipFill>
          <a:blip r:embed="rId3"/>
          <a:stretch>
            <a:fillRect/>
          </a:stretch>
        </p:blipFill>
        <p:spPr>
          <a:xfrm>
            <a:off x="5006924" y="0"/>
            <a:ext cx="3641191" cy="5143500"/>
          </a:xfrm>
          <a:prstGeom prst="rect">
            <a:avLst/>
          </a:prstGeom>
        </p:spPr>
      </p:pic>
      <p:pic>
        <p:nvPicPr>
          <p:cNvPr id="2" name="Picture 1">
            <a:extLst>
              <a:ext uri="{FF2B5EF4-FFF2-40B4-BE49-F238E27FC236}">
                <a16:creationId xmlns:a16="http://schemas.microsoft.com/office/drawing/2014/main" id="{F278F5D9-4170-75F3-F4BE-BF2D305FD1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7185" y="121884"/>
            <a:ext cx="1145854" cy="692081"/>
          </a:xfrm>
          <a:prstGeom prst="rect">
            <a:avLst/>
          </a:prstGeom>
        </p:spPr>
      </p:pic>
    </p:spTree>
    <p:extLst>
      <p:ext uri="{BB962C8B-B14F-4D97-AF65-F5344CB8AC3E}">
        <p14:creationId xmlns:p14="http://schemas.microsoft.com/office/powerpoint/2010/main" val="1612506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DBF518-2319-79AF-D197-C281B6A6E87A}"/>
              </a:ext>
            </a:extLst>
          </p:cNvPr>
          <p:cNvPicPr>
            <a:picLocks noChangeAspect="1"/>
          </p:cNvPicPr>
          <p:nvPr/>
        </p:nvPicPr>
        <p:blipFill>
          <a:blip r:embed="rId2"/>
          <a:stretch>
            <a:fillRect/>
          </a:stretch>
        </p:blipFill>
        <p:spPr>
          <a:xfrm>
            <a:off x="413761" y="335280"/>
            <a:ext cx="8316478" cy="4273310"/>
          </a:xfrm>
          <a:prstGeom prst="rect">
            <a:avLst/>
          </a:prstGeom>
        </p:spPr>
      </p:pic>
      <p:pic>
        <p:nvPicPr>
          <p:cNvPr id="2" name="Picture 1">
            <a:extLst>
              <a:ext uri="{FF2B5EF4-FFF2-40B4-BE49-F238E27FC236}">
                <a16:creationId xmlns:a16="http://schemas.microsoft.com/office/drawing/2014/main" id="{45F74BE9-DC1E-3DF1-0006-FDB1F5425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9960" y="99024"/>
            <a:ext cx="1145854" cy="692081"/>
          </a:xfrm>
          <a:prstGeom prst="rect">
            <a:avLst/>
          </a:prstGeom>
        </p:spPr>
      </p:pic>
    </p:spTree>
    <p:extLst>
      <p:ext uri="{BB962C8B-B14F-4D97-AF65-F5344CB8AC3E}">
        <p14:creationId xmlns:p14="http://schemas.microsoft.com/office/powerpoint/2010/main" val="2950606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342C0C-7A47-770B-BC77-75B1BF34D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1380" y="15204"/>
            <a:ext cx="1145854" cy="692081"/>
          </a:xfrm>
          <a:prstGeom prst="rect">
            <a:avLst/>
          </a:prstGeom>
        </p:spPr>
      </p:pic>
      <p:pic>
        <p:nvPicPr>
          <p:cNvPr id="17" name="Picture 16" descr="A screenshot of a computer">
            <a:extLst>
              <a:ext uri="{FF2B5EF4-FFF2-40B4-BE49-F238E27FC236}">
                <a16:creationId xmlns:a16="http://schemas.microsoft.com/office/drawing/2014/main" id="{CDCF5605-6143-D91B-E681-251B269406F8}"/>
              </a:ext>
            </a:extLst>
          </p:cNvPr>
          <p:cNvPicPr>
            <a:picLocks noChangeAspect="1"/>
          </p:cNvPicPr>
          <p:nvPr/>
        </p:nvPicPr>
        <p:blipFill>
          <a:blip r:embed="rId3"/>
          <a:stretch>
            <a:fillRect/>
          </a:stretch>
        </p:blipFill>
        <p:spPr>
          <a:xfrm>
            <a:off x="2865120" y="841918"/>
            <a:ext cx="6213402" cy="1729832"/>
          </a:xfrm>
          <a:prstGeom prst="rect">
            <a:avLst/>
          </a:prstGeom>
        </p:spPr>
      </p:pic>
      <p:pic>
        <p:nvPicPr>
          <p:cNvPr id="21" name="Picture 20" descr="A screenshot of a computer&#10;&#10;AI-generated content may be incorrect.">
            <a:extLst>
              <a:ext uri="{FF2B5EF4-FFF2-40B4-BE49-F238E27FC236}">
                <a16:creationId xmlns:a16="http://schemas.microsoft.com/office/drawing/2014/main" id="{CEA3F26D-55F7-467E-32E8-218309A0E673}"/>
              </a:ext>
            </a:extLst>
          </p:cNvPr>
          <p:cNvPicPr>
            <a:picLocks noChangeAspect="1"/>
          </p:cNvPicPr>
          <p:nvPr/>
        </p:nvPicPr>
        <p:blipFill>
          <a:blip r:embed="rId4"/>
          <a:stretch>
            <a:fillRect/>
          </a:stretch>
        </p:blipFill>
        <p:spPr>
          <a:xfrm>
            <a:off x="93426" y="0"/>
            <a:ext cx="2771694" cy="5143500"/>
          </a:xfrm>
          <a:prstGeom prst="rect">
            <a:avLst/>
          </a:prstGeom>
        </p:spPr>
      </p:pic>
    </p:spTree>
    <p:extLst>
      <p:ext uri="{BB962C8B-B14F-4D97-AF65-F5344CB8AC3E}">
        <p14:creationId xmlns:p14="http://schemas.microsoft.com/office/powerpoint/2010/main" val="3756618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F831118-4057-A962-0570-75299DC915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7309" y="51567"/>
            <a:ext cx="1036691" cy="626148"/>
          </a:xfrm>
          <a:prstGeom prst="rect">
            <a:avLst/>
          </a:prstGeom>
        </p:spPr>
      </p:pic>
    </p:spTree>
    <p:extLst>
      <p:ext uri="{BB962C8B-B14F-4D97-AF65-F5344CB8AC3E}">
        <p14:creationId xmlns:p14="http://schemas.microsoft.com/office/powerpoint/2010/main" val="352020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01972C7-5155-E9D5-63D6-0F2F3D634C58}"/>
              </a:ext>
            </a:extLst>
          </p:cNvPr>
          <p:cNvPicPr>
            <a:picLocks noChangeAspect="1"/>
          </p:cNvPicPr>
          <p:nvPr/>
        </p:nvPicPr>
        <p:blipFill>
          <a:blip r:embed="rId2"/>
          <a:stretch>
            <a:fillRect/>
          </a:stretch>
        </p:blipFill>
        <p:spPr>
          <a:xfrm>
            <a:off x="4511041" y="-91977"/>
            <a:ext cx="3116579" cy="5235478"/>
          </a:xfrm>
          <a:prstGeom prst="rect">
            <a:avLst/>
          </a:prstGeom>
        </p:spPr>
      </p:pic>
      <p:pic>
        <p:nvPicPr>
          <p:cNvPr id="2" name="Picture 1">
            <a:extLst>
              <a:ext uri="{FF2B5EF4-FFF2-40B4-BE49-F238E27FC236}">
                <a16:creationId xmlns:a16="http://schemas.microsoft.com/office/drawing/2014/main" id="{8C69324E-47DA-844C-7CE8-A5877EDF5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0481" y="15205"/>
            <a:ext cx="934480" cy="564414"/>
          </a:xfrm>
          <a:prstGeom prst="rect">
            <a:avLst/>
          </a:prstGeom>
        </p:spPr>
      </p:pic>
      <p:pic>
        <p:nvPicPr>
          <p:cNvPr id="4" name="Picture 3" descr="A screenshot of a phone&#10;&#10;AI-generated content may be incorrect.">
            <a:extLst>
              <a:ext uri="{FF2B5EF4-FFF2-40B4-BE49-F238E27FC236}">
                <a16:creationId xmlns:a16="http://schemas.microsoft.com/office/drawing/2014/main" id="{ABAC3F01-6059-B187-B007-1D17765A7555}"/>
              </a:ext>
            </a:extLst>
          </p:cNvPr>
          <p:cNvPicPr>
            <a:picLocks noChangeAspect="1"/>
          </p:cNvPicPr>
          <p:nvPr/>
        </p:nvPicPr>
        <p:blipFill>
          <a:blip r:embed="rId4"/>
          <a:stretch>
            <a:fillRect/>
          </a:stretch>
        </p:blipFill>
        <p:spPr>
          <a:xfrm>
            <a:off x="1162136" y="15205"/>
            <a:ext cx="2845984" cy="5143500"/>
          </a:xfrm>
          <a:prstGeom prst="rect">
            <a:avLst/>
          </a:prstGeom>
        </p:spPr>
      </p:pic>
    </p:spTree>
    <p:extLst>
      <p:ext uri="{BB962C8B-B14F-4D97-AF65-F5344CB8AC3E}">
        <p14:creationId xmlns:p14="http://schemas.microsoft.com/office/powerpoint/2010/main" val="3953381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543129-F6C7-A2B6-0B53-7266D19A2000}"/>
              </a:ext>
            </a:extLst>
          </p:cNvPr>
          <p:cNvSpPr txBox="1"/>
          <p:nvPr/>
        </p:nvSpPr>
        <p:spPr>
          <a:xfrm>
            <a:off x="-49530" y="323881"/>
            <a:ext cx="9433560" cy="584775"/>
          </a:xfrm>
          <a:prstGeom prst="rect">
            <a:avLst/>
          </a:prstGeom>
          <a:noFill/>
        </p:spPr>
        <p:txBody>
          <a:bodyPr wrap="square">
            <a:spAutoFit/>
          </a:bodyPr>
          <a:lstStyle/>
          <a:p>
            <a:pPr marL="0" indent="0" algn="ctr" rtl="0" eaLnBrk="1" latinLnBrk="0" hangingPunct="1"/>
            <a:r>
              <a:rPr lang="en-US" sz="3200" b="1" dirty="0">
                <a:solidFill>
                  <a:srgbClr val="203864"/>
                </a:solidFill>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6076ABBA-4AA9-153F-5C18-37557C3D86DB}"/>
              </a:ext>
            </a:extLst>
          </p:cNvPr>
          <p:cNvSpPr txBox="1"/>
          <p:nvPr/>
        </p:nvSpPr>
        <p:spPr>
          <a:xfrm>
            <a:off x="148590" y="931628"/>
            <a:ext cx="8846820" cy="1525418"/>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project successfully detects ransomware with a CNN. The system gives fast and accurate results through a user-friendly web application. Real-time Call alerts make the system more reliable and useful for early warning. Overall, the project proves that deep learning can detect ransomware effectively before it causes damage.</a:t>
            </a:r>
          </a:p>
        </p:txBody>
      </p:sp>
      <p:sp>
        <p:nvSpPr>
          <p:cNvPr id="9" name="TextBox 8">
            <a:extLst>
              <a:ext uri="{FF2B5EF4-FFF2-40B4-BE49-F238E27FC236}">
                <a16:creationId xmlns:a16="http://schemas.microsoft.com/office/drawing/2014/main" id="{B1862584-F963-2A57-F698-40F2409B61AD}"/>
              </a:ext>
            </a:extLst>
          </p:cNvPr>
          <p:cNvSpPr txBox="1"/>
          <p:nvPr/>
        </p:nvSpPr>
        <p:spPr>
          <a:xfrm>
            <a:off x="190500" y="3244097"/>
            <a:ext cx="8953500" cy="1525418"/>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Add support for more ransomware families to improve accuracy. Build a real-time monitoring system that scans files automatically without user upload. Create a desktop or mobile app version for easier use. Add cloud storage protection and automatic file isolation when a threat is detected. Improve alert features by sending email alerts and logging to the dashboard.</a:t>
            </a:r>
          </a:p>
        </p:txBody>
      </p:sp>
      <p:sp>
        <p:nvSpPr>
          <p:cNvPr id="11" name="TextBox 10">
            <a:extLst>
              <a:ext uri="{FF2B5EF4-FFF2-40B4-BE49-F238E27FC236}">
                <a16:creationId xmlns:a16="http://schemas.microsoft.com/office/drawing/2014/main" id="{4DE9321B-071F-DA9E-3A03-88E0DA4A5782}"/>
              </a:ext>
            </a:extLst>
          </p:cNvPr>
          <p:cNvSpPr txBox="1"/>
          <p:nvPr/>
        </p:nvSpPr>
        <p:spPr>
          <a:xfrm>
            <a:off x="419100" y="2610637"/>
            <a:ext cx="8542020" cy="584775"/>
          </a:xfrm>
          <a:prstGeom prst="rect">
            <a:avLst/>
          </a:prstGeom>
          <a:noFill/>
        </p:spPr>
        <p:txBody>
          <a:bodyPr wrap="square">
            <a:spAutoFit/>
          </a:bodyPr>
          <a:lstStyle/>
          <a:p>
            <a:pPr marL="0" indent="0" algn="ctr" rtl="0" eaLnBrk="1" latinLnBrk="0" hangingPunct="1"/>
            <a:r>
              <a:rPr lang="en-US" sz="3200" b="1" dirty="0">
                <a:solidFill>
                  <a:srgbClr val="203864"/>
                </a:solidFill>
                <a:latin typeface="Times New Roman" panose="02020603050405020304" pitchFamily="18" charset="0"/>
                <a:cs typeface="Times New Roman" panose="02020603050405020304" pitchFamily="18" charset="0"/>
              </a:rPr>
              <a:t>FUTURE ENHANCEMENTS </a:t>
            </a:r>
            <a:endParaRPr lang="en-IN" sz="3200" dirty="0">
              <a:effectLst/>
            </a:endParaRPr>
          </a:p>
        </p:txBody>
      </p:sp>
      <p:pic>
        <p:nvPicPr>
          <p:cNvPr id="12" name="Picture 11">
            <a:extLst>
              <a:ext uri="{FF2B5EF4-FFF2-40B4-BE49-F238E27FC236}">
                <a16:creationId xmlns:a16="http://schemas.microsoft.com/office/drawing/2014/main" id="{E2721891-927C-B990-CC5D-EB985F84AD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5266" y="140798"/>
            <a:ext cx="1145854" cy="692081"/>
          </a:xfrm>
          <a:prstGeom prst="rect">
            <a:avLst/>
          </a:prstGeom>
        </p:spPr>
      </p:pic>
    </p:spTree>
    <p:extLst>
      <p:ext uri="{BB962C8B-B14F-4D97-AF65-F5344CB8AC3E}">
        <p14:creationId xmlns:p14="http://schemas.microsoft.com/office/powerpoint/2010/main" val="3799208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7C0BBE-5DA9-DC65-BC0A-4A32F65B9FF4}"/>
              </a:ext>
            </a:extLst>
          </p:cNvPr>
          <p:cNvSpPr txBox="1"/>
          <p:nvPr/>
        </p:nvSpPr>
        <p:spPr>
          <a:xfrm>
            <a:off x="261257" y="197898"/>
            <a:ext cx="8389448" cy="584775"/>
          </a:xfrm>
          <a:prstGeom prst="rect">
            <a:avLst/>
          </a:prstGeom>
          <a:noFill/>
        </p:spPr>
        <p:txBody>
          <a:bodyPr wrap="square">
            <a:spAutoFit/>
          </a:bodyPr>
          <a:lstStyle/>
          <a:p>
            <a:pPr marL="0" indent="0" algn="ctr" rtl="0" eaLnBrk="1" latinLnBrk="0" hangingPunct="1"/>
            <a:r>
              <a:rPr lang="en-US" sz="3200" b="1" dirty="0">
                <a:solidFill>
                  <a:srgbClr val="203864"/>
                </a:solidFill>
                <a:latin typeface="Times New Roman" panose="02020603050405020304" pitchFamily="18" charset="0"/>
                <a:cs typeface="Times New Roman" panose="02020603050405020304" pitchFamily="18" charset="0"/>
              </a:rPr>
              <a:t>REFERENCES</a:t>
            </a:r>
            <a:endParaRPr lang="en-IN" sz="3200" dirty="0">
              <a:effectLst/>
            </a:endParaRPr>
          </a:p>
        </p:txBody>
      </p:sp>
      <p:sp>
        <p:nvSpPr>
          <p:cNvPr id="7" name="TextBox 6">
            <a:extLst>
              <a:ext uri="{FF2B5EF4-FFF2-40B4-BE49-F238E27FC236}">
                <a16:creationId xmlns:a16="http://schemas.microsoft.com/office/drawing/2014/main" id="{9BCD12B2-D3FC-4F85-C25B-DB7D0DF7FC1C}"/>
              </a:ext>
            </a:extLst>
          </p:cNvPr>
          <p:cNvSpPr txBox="1"/>
          <p:nvPr/>
        </p:nvSpPr>
        <p:spPr>
          <a:xfrm>
            <a:off x="622508" y="782673"/>
            <a:ext cx="7898983" cy="411074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Alraizza</a:t>
            </a:r>
            <a:r>
              <a:rPr lang="en-US" sz="1600" dirty="0">
                <a:latin typeface="Times New Roman" panose="02020603050405020304" pitchFamily="18" charset="0"/>
                <a:cs typeface="Times New Roman" panose="02020603050405020304" pitchFamily="18" charset="0"/>
              </a:rPr>
              <a:t>, A., &amp; </a:t>
            </a:r>
            <a:r>
              <a:rPr lang="en-US" sz="1600" dirty="0" err="1">
                <a:latin typeface="Times New Roman" panose="02020603050405020304" pitchFamily="18" charset="0"/>
                <a:cs typeface="Times New Roman" panose="02020603050405020304" pitchFamily="18" charset="0"/>
              </a:rPr>
              <a:t>Algarni</a:t>
            </a:r>
            <a:r>
              <a:rPr lang="en-US" sz="1600" dirty="0">
                <a:latin typeface="Times New Roman" panose="02020603050405020304" pitchFamily="18" charset="0"/>
                <a:cs typeface="Times New Roman" panose="02020603050405020304" pitchFamily="18" charset="0"/>
              </a:rPr>
              <a:t>, A. (2023). </a:t>
            </a:r>
            <a:r>
              <a:rPr lang="en-US" sz="1600" i="1" dirty="0">
                <a:latin typeface="Times New Roman" panose="02020603050405020304" pitchFamily="18" charset="0"/>
                <a:cs typeface="Times New Roman" panose="02020603050405020304" pitchFamily="18" charset="0"/>
              </a:rPr>
              <a:t>Ransomware detection using machine learning: A survey</a:t>
            </a:r>
            <a:r>
              <a:rPr lang="en-US" sz="1600" dirty="0">
                <a:latin typeface="Times New Roman" panose="02020603050405020304" pitchFamily="18" charset="0"/>
                <a:cs typeface="Times New Roman" panose="02020603050405020304" pitchFamily="18" charset="0"/>
              </a:rPr>
              <a:t>. Big Data and Cognitive Computing, 7(3), 143.</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Kok, S., Abdullah, A., </a:t>
            </a:r>
            <a:r>
              <a:rPr lang="en-IN" sz="1600" dirty="0" err="1">
                <a:latin typeface="Times New Roman" panose="02020603050405020304" pitchFamily="18" charset="0"/>
                <a:cs typeface="Times New Roman" panose="02020603050405020304" pitchFamily="18" charset="0"/>
              </a:rPr>
              <a:t>Jhanjhi</a:t>
            </a:r>
            <a:r>
              <a:rPr lang="en-IN" sz="1600" dirty="0">
                <a:latin typeface="Times New Roman" panose="02020603050405020304" pitchFamily="18" charset="0"/>
                <a:cs typeface="Times New Roman" panose="02020603050405020304" pitchFamily="18" charset="0"/>
              </a:rPr>
              <a:t>, N., &amp; Supramaniam, M. (2019). </a:t>
            </a:r>
            <a:r>
              <a:rPr lang="en-IN" sz="1600" i="1" dirty="0">
                <a:latin typeface="Times New Roman" panose="02020603050405020304" pitchFamily="18" charset="0"/>
                <a:cs typeface="Times New Roman" panose="02020603050405020304" pitchFamily="18" charset="0"/>
              </a:rPr>
              <a:t>Ransomware threat and detection techniques: A review</a:t>
            </a:r>
            <a:r>
              <a:rPr lang="en-IN" sz="1600" dirty="0">
                <a:latin typeface="Times New Roman" panose="02020603050405020304" pitchFamily="18" charset="0"/>
                <a:cs typeface="Times New Roman" panose="02020603050405020304" pitchFamily="18" charset="0"/>
              </a:rPr>
              <a:t>. Int. J. </a:t>
            </a:r>
            <a:r>
              <a:rPr lang="en-IN" sz="1600" dirty="0" err="1">
                <a:latin typeface="Times New Roman" panose="02020603050405020304" pitchFamily="18" charset="0"/>
                <a:cs typeface="Times New Roman" panose="02020603050405020304" pitchFamily="18" charset="0"/>
              </a:rPr>
              <a:t>Comput</a:t>
            </a:r>
            <a:r>
              <a:rPr lang="en-IN" sz="1600" dirty="0">
                <a:latin typeface="Times New Roman" panose="02020603050405020304" pitchFamily="18" charset="0"/>
                <a:cs typeface="Times New Roman" panose="02020603050405020304" pitchFamily="18" charset="0"/>
              </a:rPr>
              <a:t>. Sci. </a:t>
            </a:r>
            <a:r>
              <a:rPr lang="en-IN" sz="1600" dirty="0" err="1">
                <a:latin typeface="Times New Roman" panose="02020603050405020304" pitchFamily="18" charset="0"/>
                <a:cs typeface="Times New Roman" panose="02020603050405020304" pitchFamily="18" charset="0"/>
              </a:rPr>
              <a:t>Netw</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Secur</a:t>
            </a:r>
            <a:r>
              <a:rPr lang="en-IN" sz="1600" dirty="0">
                <a:latin typeface="Times New Roman" panose="02020603050405020304" pitchFamily="18" charset="0"/>
                <a:cs typeface="Times New Roman" panose="02020603050405020304" pitchFamily="18" charset="0"/>
              </a:rPr>
              <a:t>, 19(2), 136.</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Musonda, M., Zimba, A., &amp; </a:t>
            </a:r>
            <a:r>
              <a:rPr lang="en-IN" sz="1600" dirty="0" err="1">
                <a:latin typeface="Times New Roman" panose="02020603050405020304" pitchFamily="18" charset="0"/>
                <a:cs typeface="Times New Roman" panose="02020603050405020304" pitchFamily="18" charset="0"/>
              </a:rPr>
              <a:t>Sinyinda</a:t>
            </a:r>
            <a:r>
              <a:rPr lang="en-IN" sz="1600" dirty="0">
                <a:latin typeface="Times New Roman" panose="02020603050405020304" pitchFamily="18" charset="0"/>
                <a:cs typeface="Times New Roman" panose="02020603050405020304" pitchFamily="18" charset="0"/>
              </a:rPr>
              <a:t>, M. (2023). </a:t>
            </a:r>
            <a:r>
              <a:rPr lang="en-IN" sz="1600" i="1" dirty="0">
                <a:latin typeface="Times New Roman" panose="02020603050405020304" pitchFamily="18" charset="0"/>
                <a:cs typeface="Times New Roman" panose="02020603050405020304" pitchFamily="18" charset="0"/>
              </a:rPr>
              <a:t>Machine learning-based crypto ransomware detection model on Windows platforms</a:t>
            </a:r>
            <a:r>
              <a:rPr lang="en-IN" sz="1600" dirty="0">
                <a:latin typeface="Times New Roman" panose="02020603050405020304" pitchFamily="18" charset="0"/>
                <a:cs typeface="Times New Roman" panose="02020603050405020304" pitchFamily="18" charset="0"/>
              </a:rPr>
              <a:t>. ICICT-Zambia, 5(1), 141-147.</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Ganfure</a:t>
            </a:r>
            <a:r>
              <a:rPr lang="en-US" sz="1600" dirty="0">
                <a:latin typeface="Times New Roman" panose="02020603050405020304" pitchFamily="18" charset="0"/>
                <a:cs typeface="Times New Roman" panose="02020603050405020304" pitchFamily="18" charset="0"/>
              </a:rPr>
              <a:t>, G. O., Wu, C.-F., Chang, Y.-H., &amp; Shih, W.-K. (2022). </a:t>
            </a:r>
            <a:r>
              <a:rPr lang="en-US" sz="1600" i="1" dirty="0" err="1">
                <a:latin typeface="Times New Roman" panose="02020603050405020304" pitchFamily="18" charset="0"/>
                <a:cs typeface="Times New Roman" panose="02020603050405020304" pitchFamily="18" charset="0"/>
              </a:rPr>
              <a:t>Deepware</a:t>
            </a:r>
            <a:r>
              <a:rPr lang="en-US" sz="1600" i="1" dirty="0">
                <a:latin typeface="Times New Roman" panose="02020603050405020304" pitchFamily="18" charset="0"/>
                <a:cs typeface="Times New Roman" panose="02020603050405020304" pitchFamily="18" charset="0"/>
              </a:rPr>
              <a:t>: Imaging performance counters with deep learning to detect ransomware</a:t>
            </a:r>
            <a:r>
              <a:rPr lang="en-US" sz="1600" dirty="0">
                <a:latin typeface="Times New Roman" panose="02020603050405020304" pitchFamily="18" charset="0"/>
                <a:cs typeface="Times New Roman" panose="02020603050405020304" pitchFamily="18" charset="0"/>
              </a:rPr>
              <a:t>. IEEE Transactions on Computers, 72(3), 600-613.</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Almomani, I., et al. (2021). </a:t>
            </a:r>
            <a:r>
              <a:rPr lang="en-US" sz="1600" i="1" dirty="0">
                <a:latin typeface="Times New Roman" panose="02020603050405020304" pitchFamily="18" charset="0"/>
                <a:cs typeface="Times New Roman" panose="02020603050405020304" pitchFamily="18" charset="0"/>
              </a:rPr>
              <a:t>Android ransomware detection using a hybrid evolutionary approach</a:t>
            </a:r>
            <a:r>
              <a:rPr lang="en-US" sz="1600" dirty="0">
                <a:latin typeface="Times New Roman" panose="02020603050405020304" pitchFamily="18" charset="0"/>
                <a:cs typeface="Times New Roman" panose="02020603050405020304" pitchFamily="18" charset="0"/>
              </a:rPr>
              <a:t>. IEEE Access, 9, 57674-57691.</a:t>
            </a:r>
            <a:endParaRPr lang="en-IN" sz="1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94AD21E-36D3-55FC-5FB7-3788CDB527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8853" y="144244"/>
            <a:ext cx="1145854" cy="692081"/>
          </a:xfrm>
          <a:prstGeom prst="rect">
            <a:avLst/>
          </a:prstGeom>
        </p:spPr>
      </p:pic>
    </p:spTree>
    <p:extLst>
      <p:ext uri="{BB962C8B-B14F-4D97-AF65-F5344CB8AC3E}">
        <p14:creationId xmlns:p14="http://schemas.microsoft.com/office/powerpoint/2010/main" val="3788100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50BD15-191F-4C37-8EB9-6BAF011B3238}">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2097</TotalTime>
  <Words>1747</Words>
  <Application>Microsoft Office PowerPoint</Application>
  <PresentationFormat>On-screen Show (16:9)</PresentationFormat>
  <Paragraphs>211</Paragraphs>
  <Slides>25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sv varsha</cp:lastModifiedBy>
  <cp:revision>32</cp:revision>
  <dcterms:created xsi:type="dcterms:W3CDTF">2025-03-18T15:28:33Z</dcterms:created>
  <dcterms:modified xsi:type="dcterms:W3CDTF">2026-01-04T19:41:24Z</dcterms:modified>
</cp:coreProperties>
</file>