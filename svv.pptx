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65" r:id="rId3"/>
    <p:sldId id="270" r:id="rId4"/>
    <p:sldId id="257" r:id="rId5"/>
    <p:sldId id="259" r:id="rId6"/>
    <p:sldId id="299" r:id="rId7"/>
    <p:sldId id="282" r:id="rId8"/>
    <p:sldId id="291" r:id="rId9"/>
    <p:sldId id="300" r:id="rId10"/>
    <p:sldId id="301" r:id="rId11"/>
    <p:sldId id="302" r:id="rId12"/>
    <p:sldId id="303" r:id="rId13"/>
    <p:sldId id="278" r:id="rId14"/>
    <p:sldId id="276" r:id="rId15"/>
    <p:sldId id="304" r:id="rId16"/>
    <p:sldId id="289" r:id="rId17"/>
    <p:sldId id="288" r:id="rId18"/>
    <p:sldId id="273" r:id="rId19"/>
    <p:sldId id="290" r:id="rId20"/>
    <p:sldId id="287" r:id="rId21"/>
    <p:sldId id="271" r:id="rId22"/>
    <p:sldId id="279" r:id="rId23"/>
    <p:sldId id="280" r:id="rId24"/>
    <p:sldId id="281" r:id="rId25"/>
    <p:sldId id="277" r:id="rId26"/>
    <p:sldId id="275" r:id="rId27"/>
    <p:sldId id="27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10" autoAdjust="0"/>
    <p:restoredTop sz="94610"/>
  </p:normalViewPr>
  <p:slideViewPr>
    <p:cSldViewPr snapToGrid="0" snapToObjects="1">
      <p:cViewPr varScale="1">
        <p:scale>
          <a:sx n="84" d="100"/>
          <a:sy n="84" d="100"/>
        </p:scale>
        <p:origin x="740"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3677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itle"/>
          <p:cNvSpPr/>
          <p:nvPr/>
        </p:nvSpPr>
        <p:spPr>
          <a:xfrm>
            <a:off x="758381" y="2122408"/>
            <a:ext cx="7620000" cy="898731"/>
          </a:xfrm>
          <a:prstGeom prst="rect">
            <a:avLst/>
          </a:prstGeom>
          <a:noFill/>
          <a:ln/>
        </p:spPr>
        <p:txBody>
          <a:bodyPr wrap="square" rtlCol="0" anchor="ctr"/>
          <a:lstStyle/>
          <a:p>
            <a:pPr marL="0" indent="0" algn="ctr">
              <a:buNone/>
            </a:pPr>
            <a:endParaRPr lang="en-US" sz="2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TextBox 17">
            <a:extLst>
              <a:ext uri="{FF2B5EF4-FFF2-40B4-BE49-F238E27FC236}">
                <a16:creationId xmlns:a16="http://schemas.microsoft.com/office/drawing/2014/main" id="{858E34A5-CC41-727F-A76B-9AF31A39ACCD}"/>
              </a:ext>
            </a:extLst>
          </p:cNvPr>
          <p:cNvSpPr txBox="1"/>
          <p:nvPr/>
        </p:nvSpPr>
        <p:spPr>
          <a:xfrm>
            <a:off x="1309902" y="1586075"/>
            <a:ext cx="7521678"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dirty="0">
                <a:solidFill>
                  <a:srgbClr val="002060"/>
                </a:solidFill>
                <a:latin typeface="Times New Roman" panose="02020603050405020304" pitchFamily="18" charset="0"/>
                <a:cs typeface="Times New Roman" panose="02020603050405020304" pitchFamily="18" charset="0"/>
              </a:rPr>
              <a:t>DEPARTMENT OF ARTIFICIAL INTELLIGENCE AND DATA SCIENCE</a:t>
            </a:r>
            <a:endParaRPr lang="en-IN" sz="1600" dirty="0">
              <a:latin typeface="Times New Roman" panose="02020603050405020304" pitchFamily="18" charset="0"/>
              <a:cs typeface="Times New Roman" panose="02020603050405020304" pitchFamily="18" charset="0"/>
            </a:endParaRPr>
          </a:p>
        </p:txBody>
      </p:sp>
      <p:sp>
        <p:nvSpPr>
          <p:cNvPr id="12" name="TextBox 19">
            <a:extLst>
              <a:ext uri="{FF2B5EF4-FFF2-40B4-BE49-F238E27FC236}">
                <a16:creationId xmlns:a16="http://schemas.microsoft.com/office/drawing/2014/main" id="{2A596AAD-35E9-BFDD-E4DE-AABAED076489}"/>
              </a:ext>
            </a:extLst>
          </p:cNvPr>
          <p:cNvSpPr txBox="1"/>
          <p:nvPr/>
        </p:nvSpPr>
        <p:spPr>
          <a:xfrm>
            <a:off x="409166" y="2389120"/>
            <a:ext cx="8012621" cy="86177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1600" b="1" dirty="0">
                <a:solidFill>
                  <a:srgbClr val="002060"/>
                </a:solidFill>
                <a:latin typeface="Times New Roman" panose="02020603050405020304" pitchFamily="18" charset="0"/>
                <a:cs typeface="Times New Roman" panose="02020603050405020304" pitchFamily="18" charset="0"/>
              </a:rPr>
              <a:t>“ IMAGE CLASSIFICATION-BASED RANSOMWARE ATTACK DETECTION USING A DEEP-LEARNING ALGORITHM ”</a:t>
            </a:r>
          </a:p>
          <a:p>
            <a:pPr algn="ct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3" name="TextBox 20">
            <a:extLst>
              <a:ext uri="{FF2B5EF4-FFF2-40B4-BE49-F238E27FC236}">
                <a16:creationId xmlns:a16="http://schemas.microsoft.com/office/drawing/2014/main" id="{CC330673-E17D-D4FA-63DA-AA77404362AB}"/>
              </a:ext>
            </a:extLst>
          </p:cNvPr>
          <p:cNvSpPr txBox="1"/>
          <p:nvPr/>
        </p:nvSpPr>
        <p:spPr>
          <a:xfrm>
            <a:off x="566305" y="3114880"/>
            <a:ext cx="3707485" cy="132343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en-US" sz="1600" b="1" dirty="0">
                <a:solidFill>
                  <a:srgbClr val="0070C0"/>
                </a:solidFill>
                <a:latin typeface="Times New Roman" panose="02020603050405020304" pitchFamily="18" charset="0"/>
                <a:cs typeface="Times New Roman" panose="02020603050405020304" pitchFamily="18" charset="0"/>
              </a:rPr>
              <a:t>Project Team Members</a:t>
            </a:r>
          </a:p>
          <a:p>
            <a:r>
              <a:rPr lang="en-US" altLang="en-US" sz="1600" dirty="0">
                <a:solidFill>
                  <a:srgbClr val="7030A0"/>
                </a:solidFill>
                <a:latin typeface="Times New Roman" panose="02020603050405020304" pitchFamily="18" charset="0"/>
                <a:cs typeface="Times New Roman" panose="02020603050405020304" pitchFamily="18" charset="0"/>
              </a:rPr>
              <a:t>Name   </a:t>
            </a:r>
            <a:r>
              <a:rPr lang="en-US" altLang="en-US" sz="1600" dirty="0">
                <a:latin typeface="Times New Roman" panose="02020603050405020304" pitchFamily="18" charset="0"/>
                <a:cs typeface="Times New Roman" panose="02020603050405020304" pitchFamily="18" charset="0"/>
              </a:rPr>
              <a:t>                         </a:t>
            </a:r>
            <a:r>
              <a:rPr lang="en-US" altLang="en-US" sz="1600" dirty="0">
                <a:solidFill>
                  <a:srgbClr val="7030A0"/>
                </a:solidFill>
                <a:latin typeface="Times New Roman" panose="02020603050405020304" pitchFamily="18" charset="0"/>
                <a:cs typeface="Times New Roman" panose="02020603050405020304" pitchFamily="18" charset="0"/>
              </a:rPr>
              <a:t>USN</a:t>
            </a:r>
            <a:endParaRPr lang="en-US" sz="1600" dirty="0">
              <a:solidFill>
                <a:schemeClr val="accent2">
                  <a:lumMod val="50000"/>
                </a:schemeClr>
              </a:solidFill>
              <a:latin typeface="Times New Roman" panose="02020603050405020304" pitchFamily="18" charset="0"/>
              <a:cs typeface="Times New Roman" panose="02020603050405020304" pitchFamily="18" charset="0"/>
            </a:endParaRPr>
          </a:p>
          <a:p>
            <a:pPr algn="just"/>
            <a:r>
              <a:rPr lang="en-US" sz="1600" dirty="0">
                <a:solidFill>
                  <a:schemeClr val="accent2">
                    <a:lumMod val="50000"/>
                  </a:schemeClr>
                </a:solidFill>
                <a:latin typeface="Times New Roman" panose="02020603050405020304" pitchFamily="18" charset="0"/>
                <a:cs typeface="Times New Roman" panose="02020603050405020304" pitchFamily="18" charset="0"/>
              </a:rPr>
              <a:t>P N PAVITHRA          1SJ22AD031</a:t>
            </a:r>
          </a:p>
          <a:p>
            <a:pPr algn="just"/>
            <a:r>
              <a:rPr lang="en-US" sz="1600" dirty="0">
                <a:solidFill>
                  <a:schemeClr val="accent2">
                    <a:lumMod val="50000"/>
                  </a:schemeClr>
                </a:solidFill>
                <a:latin typeface="Times New Roman" panose="02020603050405020304" pitchFamily="18" charset="0"/>
                <a:cs typeface="Times New Roman" panose="02020603050405020304" pitchFamily="18" charset="0"/>
              </a:rPr>
              <a:t>SHIRISHA C              1SJ22AD042</a:t>
            </a:r>
          </a:p>
          <a:p>
            <a:pPr algn="just"/>
            <a:r>
              <a:rPr lang="en-US" sz="1600" dirty="0">
                <a:solidFill>
                  <a:schemeClr val="accent2">
                    <a:lumMod val="50000"/>
                  </a:schemeClr>
                </a:solidFill>
                <a:latin typeface="Times New Roman" panose="02020603050405020304" pitchFamily="18" charset="0"/>
                <a:cs typeface="Times New Roman" panose="02020603050405020304" pitchFamily="18" charset="0"/>
              </a:rPr>
              <a:t>VARSHA S V             1SJ22AD057</a:t>
            </a:r>
            <a:endParaRPr lang="en-IN" sz="1600" dirty="0">
              <a:latin typeface="Times New Roman" panose="02020603050405020304" pitchFamily="18" charset="0"/>
              <a:cs typeface="Times New Roman" panose="02020603050405020304" pitchFamily="18" charset="0"/>
            </a:endParaRPr>
          </a:p>
        </p:txBody>
      </p:sp>
      <p:sp>
        <p:nvSpPr>
          <p:cNvPr id="14" name="TextBox 21">
            <a:extLst>
              <a:ext uri="{FF2B5EF4-FFF2-40B4-BE49-F238E27FC236}">
                <a16:creationId xmlns:a16="http://schemas.microsoft.com/office/drawing/2014/main" id="{63E1D173-52B1-1198-57D1-211E856BFA03}"/>
              </a:ext>
            </a:extLst>
          </p:cNvPr>
          <p:cNvSpPr txBox="1"/>
          <p:nvPr/>
        </p:nvSpPr>
        <p:spPr>
          <a:xfrm>
            <a:off x="6553049" y="3204997"/>
            <a:ext cx="3942736" cy="92333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en-US" sz="1800" b="1" dirty="0">
                <a:solidFill>
                  <a:srgbClr val="0070C0"/>
                </a:solidFill>
                <a:latin typeface="Times New Roman" panose="02020603050405020304" pitchFamily="18" charset="0"/>
                <a:cs typeface="Times New Roman" panose="02020603050405020304" pitchFamily="18" charset="0"/>
              </a:rPr>
              <a:t>Project Guide</a:t>
            </a:r>
          </a:p>
          <a:p>
            <a:r>
              <a:rPr lang="en-US" dirty="0">
                <a:solidFill>
                  <a:schemeClr val="accent1">
                    <a:lumMod val="50000"/>
                  </a:schemeClr>
                </a:solidFill>
                <a:latin typeface="Times New Roman" panose="02020603050405020304" pitchFamily="18" charset="0"/>
                <a:cs typeface="Times New Roman" panose="02020603050405020304" pitchFamily="18" charset="0"/>
              </a:rPr>
              <a:t>Ms. Sandhya R</a:t>
            </a:r>
          </a:p>
          <a:p>
            <a:r>
              <a:rPr lang="en-US" dirty="0">
                <a:solidFill>
                  <a:schemeClr val="accent1">
                    <a:lumMod val="50000"/>
                  </a:schemeClr>
                </a:solidFill>
                <a:latin typeface="Times New Roman" panose="02020603050405020304" pitchFamily="18" charset="0"/>
                <a:cs typeface="Times New Roman" panose="02020603050405020304" pitchFamily="18" charset="0"/>
              </a:rPr>
              <a:t>Assistant Professor</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2" name="Picture 3">
            <a:extLst>
              <a:ext uri="{FF2B5EF4-FFF2-40B4-BE49-F238E27FC236}">
                <a16:creationId xmlns:a16="http://schemas.microsoft.com/office/drawing/2014/main" id="{548DAF44-B469-C07A-8E64-7DB35FA7AB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 y="64075"/>
            <a:ext cx="8397240" cy="152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10">
            <a:extLst>
              <a:ext uri="{FF2B5EF4-FFF2-40B4-BE49-F238E27FC236}">
                <a16:creationId xmlns:a16="http://schemas.microsoft.com/office/drawing/2014/main" id="{9ABF39A3-EED8-5941-21FD-4ADDB403F32C}"/>
              </a:ext>
            </a:extLst>
          </p:cNvPr>
          <p:cNvSpPr txBox="1"/>
          <p:nvPr/>
        </p:nvSpPr>
        <p:spPr>
          <a:xfrm>
            <a:off x="1309902" y="2028667"/>
            <a:ext cx="6086168" cy="523220"/>
          </a:xfrm>
          <a:prstGeom prst="rect">
            <a:avLst/>
          </a:prstGeom>
          <a:noFill/>
        </p:spPr>
        <p:txBody>
          <a:bodyPr wrap="square" rtlCol="0">
            <a:spAutoFit/>
          </a:bodyPr>
          <a:lstStyle/>
          <a:p>
            <a:pPr algn="ctr"/>
            <a:r>
              <a:rPr lang="en-US" altLang="en-US" sz="1400" b="1" dirty="0">
                <a:solidFill>
                  <a:srgbClr val="00B0F0"/>
                </a:solidFill>
                <a:latin typeface="Times New Roman" panose="02020603050405020304" pitchFamily="18" charset="0"/>
                <a:cs typeface="Times New Roman" panose="02020603050405020304" pitchFamily="18" charset="0"/>
              </a:rPr>
              <a:t>Project Review </a:t>
            </a:r>
          </a:p>
          <a:p>
            <a:pPr algn="ctr"/>
            <a:endParaRPr lang="en-US" altLang="en-US" sz="1400" b="1" dirty="0">
              <a:solidFill>
                <a:srgbClr val="7030A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p:nvPr/>
        </p:nvSpPr>
        <p:spPr>
          <a:xfrm>
            <a:off x="236905" y="193526"/>
            <a:ext cx="8670189" cy="505810"/>
          </a:xfrm>
          <a:prstGeom prst="rect">
            <a:avLst/>
          </a:prstGeom>
          <a:noFill/>
          <a:ln/>
        </p:spPr>
        <p:txBody>
          <a:bodyPr wrap="square" rtlCol="0" anchor="ctr"/>
          <a:lstStyle/>
          <a:p>
            <a:pPr marL="0" indent="0" algn="ctr">
              <a:buNone/>
            </a:pPr>
            <a:r>
              <a:rPr lang="en-US" sz="3200" b="1" dirty="0">
                <a:solidFill>
                  <a:schemeClr val="accent1">
                    <a:lumMod val="50000"/>
                  </a:schemeClr>
                </a:solidFill>
                <a:latin typeface="Times New Roman" panose="02020603050405020304" pitchFamily="18" charset="0"/>
                <a:cs typeface="Times New Roman" panose="02020603050405020304" pitchFamily="18" charset="0"/>
              </a:rPr>
              <a:t>ABSTRACT</a:t>
            </a:r>
            <a:endParaRPr lang="en-US" sz="3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4" name="Subtitle 1"/>
          <p:cNvSpPr/>
          <p:nvPr/>
        </p:nvSpPr>
        <p:spPr>
          <a:xfrm>
            <a:off x="584323" y="-392432"/>
            <a:ext cx="5525485" cy="2612047"/>
          </a:xfrm>
          <a:prstGeom prst="rect">
            <a:avLst/>
          </a:prstGeom>
          <a:noFill/>
          <a:ln/>
        </p:spPr>
        <p:txBody>
          <a:bodyPr wrap="square" rtlCol="0" anchor="ctr"/>
          <a:lstStyle/>
          <a:p>
            <a:pPr algn="l"/>
            <a:endParaRPr lang="en-US" sz="1600" dirty="0">
              <a:latin typeface="Times New Roman" panose="02020603050405020304" pitchFamily="18" charset="0"/>
              <a:cs typeface="Times New Roman" panose="02020603050405020304" pitchFamily="18" charset="0"/>
            </a:endParaRPr>
          </a:p>
        </p:txBody>
      </p:sp>
      <p:sp>
        <p:nvSpPr>
          <p:cNvPr id="5" name="Paragraph 1"/>
          <p:cNvSpPr/>
          <p:nvPr/>
        </p:nvSpPr>
        <p:spPr>
          <a:xfrm>
            <a:off x="367644" y="459538"/>
            <a:ext cx="6246007" cy="3688576"/>
          </a:xfrm>
          <a:prstGeom prst="rect">
            <a:avLst/>
          </a:prstGeom>
          <a:noFill/>
          <a:ln/>
        </p:spPr>
        <p:txBody>
          <a:bodyPr wrap="square" rtlCol="0" anchor="ctr"/>
          <a:lstStyle/>
          <a:p>
            <a:pPr marL="0" indent="0" algn="just">
              <a:buNone/>
            </a:pPr>
            <a:endParaRPr lang="en-US" sz="1400" dirty="0">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F9D515C5-6561-2C85-F0B6-DD6260677CE1}"/>
              </a:ext>
            </a:extLst>
          </p:cNvPr>
          <p:cNvSpPr txBox="1"/>
          <p:nvPr/>
        </p:nvSpPr>
        <p:spPr>
          <a:xfrm>
            <a:off x="236905" y="1171677"/>
            <a:ext cx="8478492" cy="2627899"/>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Ransomware is a significant </a:t>
            </a:r>
            <a:r>
              <a:rPr lang="en-US" sz="2000" b="1" dirty="0">
                <a:latin typeface="Times New Roman" panose="02020603050405020304" pitchFamily="18" charset="0"/>
                <a:cs typeface="Times New Roman" panose="02020603050405020304" pitchFamily="18" charset="0"/>
              </a:rPr>
              <a:t>cybersecurity threat</a:t>
            </a:r>
            <a:r>
              <a:rPr lang="en-US" sz="2000" dirty="0">
                <a:latin typeface="Times New Roman" panose="02020603050405020304" pitchFamily="18" charset="0"/>
                <a:cs typeface="Times New Roman" panose="02020603050405020304" pitchFamily="18" charset="0"/>
              </a:rPr>
              <a:t> that encrypts data and disrupts systems, making early detection essential. </a:t>
            </a:r>
            <a:r>
              <a:rPr lang="en-US" dirty="0">
                <a:latin typeface="Times New Roman" panose="02020603050405020304" pitchFamily="18" charset="0"/>
                <a:cs typeface="Times New Roman" panose="02020603050405020304" pitchFamily="18" charset="0"/>
              </a:rPr>
              <a:t>The project introduces a ransomware detection system that utilizes </a:t>
            </a:r>
            <a:r>
              <a:rPr lang="en-US" b="1" dirty="0">
                <a:latin typeface="Times New Roman" panose="02020603050405020304" pitchFamily="18" charset="0"/>
                <a:cs typeface="Times New Roman" panose="02020603050405020304" pitchFamily="18" charset="0"/>
              </a:rPr>
              <a:t>Convolutional Neural Networks (CNNs) </a:t>
            </a:r>
            <a:r>
              <a:rPr lang="en-US" dirty="0">
                <a:latin typeface="Times New Roman" panose="02020603050405020304" pitchFamily="18" charset="0"/>
                <a:cs typeface="Times New Roman" panose="02020603050405020304" pitchFamily="18" charset="0"/>
              </a:rPr>
              <a:t>to analyze files. Built with </a:t>
            </a:r>
            <a:r>
              <a:rPr lang="en-US" dirty="0" err="1">
                <a:latin typeface="Times New Roman" panose="02020603050405020304" pitchFamily="18" charset="0"/>
                <a:cs typeface="Times New Roman" panose="02020603050405020304" pitchFamily="18" charset="0"/>
              </a:rPr>
              <a:t>PyTorch</a:t>
            </a:r>
            <a:r>
              <a:rPr lang="en-US" dirty="0">
                <a:latin typeface="Times New Roman" panose="02020603050405020304" pitchFamily="18" charset="0"/>
                <a:cs typeface="Times New Roman" panose="02020603050405020304" pitchFamily="18" charset="0"/>
              </a:rPr>
              <a:t>, it provides predictions via a Flask web API linked to a MySQL database. At the same time, additional features  ensure secure detection without executing files.</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A29DA51-4FAF-1995-951A-3B2313F762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4396" y="47693"/>
            <a:ext cx="1145854" cy="692081"/>
          </a:xfrm>
          <a:prstGeom prst="rect">
            <a:avLst/>
          </a:prstGeom>
        </p:spPr>
      </p:pic>
    </p:spTree>
    <p:extLst>
      <p:ext uri="{BB962C8B-B14F-4D97-AF65-F5344CB8AC3E}">
        <p14:creationId xmlns:p14="http://schemas.microsoft.com/office/powerpoint/2010/main" val="2280016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508C3ED-00D6-CAC2-17FC-8297467E3159}"/>
              </a:ext>
            </a:extLst>
          </p:cNvPr>
          <p:cNvSpPr txBox="1"/>
          <p:nvPr/>
        </p:nvSpPr>
        <p:spPr>
          <a:xfrm>
            <a:off x="322729" y="167150"/>
            <a:ext cx="8283389" cy="584775"/>
          </a:xfrm>
          <a:prstGeom prst="rect">
            <a:avLst/>
          </a:prstGeom>
          <a:noFill/>
        </p:spPr>
        <p:txBody>
          <a:bodyPr wrap="square">
            <a:spAutoFit/>
          </a:bodyPr>
          <a:lstStyle/>
          <a:p>
            <a:pPr marL="0" indent="0" algn="ctr">
              <a:buNone/>
            </a:pPr>
            <a:r>
              <a:rPr lang="en-US" sz="3200" b="1" dirty="0">
                <a:solidFill>
                  <a:schemeClr val="accent1">
                    <a:lumMod val="50000"/>
                  </a:schemeClr>
                </a:solidFill>
                <a:latin typeface="Times New Roman" panose="02020603050405020304" pitchFamily="18" charset="0"/>
                <a:cs typeface="Times New Roman" panose="02020603050405020304" pitchFamily="18" charset="0"/>
              </a:rPr>
              <a:t>INTRODUCTION</a:t>
            </a:r>
            <a:endParaRPr lang="en-US" sz="3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5D7B218-422E-C304-EDA2-9E62601817DE}"/>
              </a:ext>
            </a:extLst>
          </p:cNvPr>
          <p:cNvSpPr txBox="1"/>
          <p:nvPr/>
        </p:nvSpPr>
        <p:spPr>
          <a:xfrm>
            <a:off x="246036" y="1031989"/>
            <a:ext cx="8651927" cy="3741409"/>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Ransomware is a highly destructive type of malware that leads to substantial financial losses and operational disruptions for individuals and organizations worldwide. Many attacks go undetected until after files are encrypted, complicating recovery efforts. Traditional detection methods often fail against new ransomware variants and may require executing suspicious files, introducing security risks. A safer approach is static analysis, but manual inspection of binary data is complex and time-consuming. By converting executable files into grayscale images, it's possible to extract meaningful patterns. Convolutional Neural Networks (CNNs) can learn these patterns, allowing them to differentiate between ransomware and legitimate software. The project proposes a CNN-based detection system that analyzes executables without execution, providing an efficient and accurate method for modern ransomware defense.</a:t>
            </a:r>
          </a:p>
        </p:txBody>
      </p:sp>
      <p:sp>
        <p:nvSpPr>
          <p:cNvPr id="15" name="Rectangle 11">
            <a:extLst>
              <a:ext uri="{FF2B5EF4-FFF2-40B4-BE49-F238E27FC236}">
                <a16:creationId xmlns:a16="http://schemas.microsoft.com/office/drawing/2014/main" id="{F56A2D09-BA2F-5A20-F1D8-0593A3C1D502}"/>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0D731088-D26A-F20B-C1D8-3514AEF3CC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7865" y="167150"/>
            <a:ext cx="1145854" cy="692081"/>
          </a:xfrm>
          <a:prstGeom prst="rect">
            <a:avLst/>
          </a:prstGeom>
        </p:spPr>
      </p:pic>
    </p:spTree>
    <p:extLst>
      <p:ext uri="{BB962C8B-B14F-4D97-AF65-F5344CB8AC3E}">
        <p14:creationId xmlns:p14="http://schemas.microsoft.com/office/powerpoint/2010/main" val="27268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p:nvPr/>
        </p:nvSpPr>
        <p:spPr>
          <a:xfrm>
            <a:off x="0" y="145668"/>
            <a:ext cx="9090660" cy="505810"/>
          </a:xfrm>
          <a:prstGeom prst="rect">
            <a:avLst/>
          </a:prstGeom>
          <a:noFill/>
          <a:ln/>
        </p:spPr>
        <p:txBody>
          <a:bodyPr wrap="square" rtlCol="0" anchor="ctr"/>
          <a:lstStyle/>
          <a:p>
            <a:pPr marL="0" indent="0" algn="ctr">
              <a:buNone/>
            </a:pPr>
            <a:r>
              <a:rPr lang="en-US" sz="3200" b="1" dirty="0">
                <a:solidFill>
                  <a:schemeClr val="accent1">
                    <a:lumMod val="50000"/>
                  </a:schemeClr>
                </a:solidFill>
                <a:latin typeface="Times New Roman" panose="02020603050405020304" pitchFamily="18" charset="0"/>
                <a:ea typeface="OpenSans-Bold" pitchFamily="34" charset="-122"/>
                <a:cs typeface="Times New Roman" panose="02020603050405020304" pitchFamily="18" charset="0"/>
              </a:rPr>
              <a:t>PROBLEM STATEMENT</a:t>
            </a:r>
            <a:endParaRPr lang="en-US" sz="3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4" name="Subtitle 1"/>
          <p:cNvSpPr/>
          <p:nvPr/>
        </p:nvSpPr>
        <p:spPr>
          <a:xfrm>
            <a:off x="584323" y="-392432"/>
            <a:ext cx="5525485" cy="2612047"/>
          </a:xfrm>
          <a:prstGeom prst="rect">
            <a:avLst/>
          </a:prstGeom>
          <a:noFill/>
          <a:ln/>
        </p:spPr>
        <p:txBody>
          <a:bodyPr wrap="square" rtlCol="0" anchor="ctr"/>
          <a:lstStyle/>
          <a:p>
            <a:pPr algn="l"/>
            <a:endParaRPr lang="en-US" sz="1600" dirty="0">
              <a:latin typeface="Times New Roman" panose="02020603050405020304" pitchFamily="18" charset="0"/>
              <a:cs typeface="Times New Roman" panose="02020603050405020304" pitchFamily="18" charset="0"/>
            </a:endParaRPr>
          </a:p>
        </p:txBody>
      </p:sp>
      <p:sp>
        <p:nvSpPr>
          <p:cNvPr id="5" name="Paragraph 1"/>
          <p:cNvSpPr/>
          <p:nvPr/>
        </p:nvSpPr>
        <p:spPr>
          <a:xfrm>
            <a:off x="182265" y="547085"/>
            <a:ext cx="5690634" cy="3688576"/>
          </a:xfrm>
          <a:prstGeom prst="rect">
            <a:avLst/>
          </a:prstGeom>
          <a:noFill/>
          <a:ln/>
        </p:spPr>
        <p:txBody>
          <a:bodyPr wrap="square" rtlCol="0" anchor="ctr"/>
          <a:lstStyle/>
          <a:p>
            <a:pPr marL="0" indent="0" algn="just">
              <a:buNone/>
            </a:pPr>
            <a:endParaRPr lang="en-US"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48085F6-5B4F-781B-B8E3-7D45312A5AF4}"/>
              </a:ext>
            </a:extLst>
          </p:cNvPr>
          <p:cNvSpPr txBox="1"/>
          <p:nvPr/>
        </p:nvSpPr>
        <p:spPr>
          <a:xfrm>
            <a:off x="182265" y="1267931"/>
            <a:ext cx="8779470" cy="212006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Ransomware attacks are increasing and can easily bypass traditional antivirus systems.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Attackers </a:t>
            </a:r>
            <a:r>
              <a:rPr lang="en-US" b="1" dirty="0">
                <a:latin typeface="Times New Roman" panose="02020603050405020304" pitchFamily="18" charset="0"/>
                <a:cs typeface="Times New Roman" panose="02020603050405020304" pitchFamily="18" charset="0"/>
              </a:rPr>
              <a:t>frequently modify </a:t>
            </a:r>
            <a:r>
              <a:rPr lang="en-US" dirty="0">
                <a:latin typeface="Times New Roman" panose="02020603050405020304" pitchFamily="18" charset="0"/>
                <a:cs typeface="Times New Roman" panose="02020603050405020304" pitchFamily="18" charset="0"/>
              </a:rPr>
              <a:t>ransomware code, making detection ineffective.</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Users remain at high risk of </a:t>
            </a:r>
            <a:r>
              <a:rPr lang="en-US" b="1" dirty="0">
                <a:latin typeface="Times New Roman" panose="02020603050405020304" pitchFamily="18" charset="0"/>
                <a:cs typeface="Times New Roman" panose="02020603050405020304" pitchFamily="18" charset="0"/>
              </a:rPr>
              <a:t>data loss and system disruption </a:t>
            </a:r>
            <a:r>
              <a:rPr lang="en-US" dirty="0">
                <a:latin typeface="Times New Roman" panose="02020603050405020304" pitchFamily="18" charset="0"/>
                <a:cs typeface="Times New Roman" panose="02020603050405020304" pitchFamily="18" charset="0"/>
              </a:rPr>
              <a:t>due to undetected ransomware</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Lack of real‑time alert systems </a:t>
            </a:r>
            <a:r>
              <a:rPr lang="en-US" dirty="0">
                <a:latin typeface="Times New Roman" panose="02020603050405020304" pitchFamily="18" charset="0"/>
                <a:cs typeface="Times New Roman" panose="02020603050405020304" pitchFamily="18" charset="0"/>
              </a:rPr>
              <a:t>that notify users instantly during ransomware detection. </a:t>
            </a:r>
          </a:p>
        </p:txBody>
      </p:sp>
      <p:pic>
        <p:nvPicPr>
          <p:cNvPr id="2" name="Picture 1">
            <a:extLst>
              <a:ext uri="{FF2B5EF4-FFF2-40B4-BE49-F238E27FC236}">
                <a16:creationId xmlns:a16="http://schemas.microsoft.com/office/drawing/2014/main" id="{AAAF3349-4E54-23EC-0006-59C9B84440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7345" y="159169"/>
            <a:ext cx="1145854" cy="69208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itle"/>
          <p:cNvSpPr/>
          <p:nvPr/>
        </p:nvSpPr>
        <p:spPr>
          <a:xfrm>
            <a:off x="322729" y="-171616"/>
            <a:ext cx="8275704" cy="1266038"/>
          </a:xfrm>
          <a:prstGeom prst="rect">
            <a:avLst/>
          </a:prstGeom>
          <a:noFill/>
          <a:ln/>
        </p:spPr>
        <p:txBody>
          <a:bodyPr wrap="square" rtlCol="0" anchor="ctr"/>
          <a:lstStyle/>
          <a:p>
            <a:pPr marL="0" indent="0" algn="ctr">
              <a:buNone/>
            </a:pPr>
            <a:r>
              <a:rPr lang="en-US" sz="3200" b="1" dirty="0">
                <a:solidFill>
                  <a:schemeClr val="accent1">
                    <a:lumMod val="50000"/>
                  </a:schemeClr>
                </a:solidFill>
                <a:latin typeface="Times New Roman" panose="02020603050405020304" pitchFamily="18" charset="0"/>
                <a:ea typeface="OpenSans-Bold" pitchFamily="34" charset="-122"/>
                <a:cs typeface="Times New Roman" panose="02020603050405020304" pitchFamily="18" charset="0"/>
              </a:rPr>
              <a:t>OBJECTIVES </a:t>
            </a:r>
            <a:endParaRPr lang="en-US" sz="3200" b="1"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DBD6302-B8A4-36EA-8C35-8DF17466AC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5417" y="159169"/>
            <a:ext cx="1145854" cy="692081"/>
          </a:xfrm>
          <a:prstGeom prst="rect">
            <a:avLst/>
          </a:prstGeom>
        </p:spPr>
      </p:pic>
      <p:sp>
        <p:nvSpPr>
          <p:cNvPr id="8" name="TextBox 7">
            <a:extLst>
              <a:ext uri="{FF2B5EF4-FFF2-40B4-BE49-F238E27FC236}">
                <a16:creationId xmlns:a16="http://schemas.microsoft.com/office/drawing/2014/main" id="{0E8176F7-B62A-C989-D55B-60DB6F53EE5F}"/>
              </a:ext>
            </a:extLst>
          </p:cNvPr>
          <p:cNvSpPr txBox="1"/>
          <p:nvPr/>
        </p:nvSpPr>
        <p:spPr>
          <a:xfrm>
            <a:off x="322729" y="1000036"/>
            <a:ext cx="8498542" cy="3366563"/>
          </a:xfrm>
          <a:prstGeom prst="rect">
            <a:avLst/>
          </a:prstGeom>
          <a:noFill/>
        </p:spPr>
        <p:txBody>
          <a:bodyPr wrap="square">
            <a:spAutoFit/>
          </a:bodyPr>
          <a:lstStyle/>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To study ransomware behavior and design a CNN-based deep learning model for accurate classification of ransomware and legitimate files.</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 To integrate the trained model with a Flask-based web system and MySQL database, including secure user authentication and session management.</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 To evaluate the model using performance metrics such as accuracy, precision, recall, F1-score, and confusion matrix analysis.</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To deploy a complete, user-friendly ransomware detection system that supports real-time prediction and assists users and researchers in identifying threats effectively.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8160C90-D64C-A00A-8071-F471CB2AC930}"/>
              </a:ext>
            </a:extLst>
          </p:cNvPr>
          <p:cNvGraphicFramePr>
            <a:graphicFrameLocks noGrp="1"/>
          </p:cNvGraphicFramePr>
          <p:nvPr>
            <p:extLst>
              <p:ext uri="{D42A27DB-BD31-4B8C-83A1-F6EECF244321}">
                <p14:modId xmlns:p14="http://schemas.microsoft.com/office/powerpoint/2010/main" val="3722327442"/>
              </p:ext>
            </p:extLst>
          </p:nvPr>
        </p:nvGraphicFramePr>
        <p:xfrm>
          <a:off x="99389" y="1174202"/>
          <a:ext cx="8945217" cy="3670053"/>
        </p:xfrm>
        <a:graphic>
          <a:graphicData uri="http://schemas.openxmlformats.org/drawingml/2006/table">
            <a:tbl>
              <a:tblPr>
                <a:tableStyleId>{5DA37D80-6434-44D0-A028-1B22A696006F}</a:tableStyleId>
              </a:tblPr>
              <a:tblGrid>
                <a:gridCol w="499699">
                  <a:extLst>
                    <a:ext uri="{9D8B030D-6E8A-4147-A177-3AD203B41FA5}">
                      <a16:colId xmlns:a16="http://schemas.microsoft.com/office/drawing/2014/main" val="4053202737"/>
                    </a:ext>
                  </a:extLst>
                </a:gridCol>
                <a:gridCol w="3706210">
                  <a:extLst>
                    <a:ext uri="{9D8B030D-6E8A-4147-A177-3AD203B41FA5}">
                      <a16:colId xmlns:a16="http://schemas.microsoft.com/office/drawing/2014/main" val="2831146601"/>
                    </a:ext>
                  </a:extLst>
                </a:gridCol>
                <a:gridCol w="4739308">
                  <a:extLst>
                    <a:ext uri="{9D8B030D-6E8A-4147-A177-3AD203B41FA5}">
                      <a16:colId xmlns:a16="http://schemas.microsoft.com/office/drawing/2014/main" val="3329183541"/>
                    </a:ext>
                  </a:extLst>
                </a:gridCol>
              </a:tblGrid>
              <a:tr h="289925">
                <a:tc>
                  <a:txBody>
                    <a:bodyPr/>
                    <a:lstStyle/>
                    <a:p>
                      <a:pPr>
                        <a:buNone/>
                      </a:pPr>
                      <a:r>
                        <a:rPr lang="en-US" sz="1800" b="1" dirty="0">
                          <a:latin typeface="Times New Roman" panose="02020603050405020304" pitchFamily="18" charset="0"/>
                          <a:cs typeface="Times New Roman" panose="02020603050405020304" pitchFamily="18" charset="0"/>
                        </a:rPr>
                        <a:t>Sl. No</a:t>
                      </a:r>
                      <a:endParaRPr lang="en-US" sz="1800" dirty="0">
                        <a:latin typeface="Times New Roman" panose="02020603050405020304" pitchFamily="18" charset="0"/>
                        <a:cs typeface="Times New Roman" panose="02020603050405020304" pitchFamily="18" charset="0"/>
                      </a:endParaRPr>
                    </a:p>
                  </a:txBody>
                  <a:tcPr marL="41825" marR="41825" marT="20912" marB="20912" anchor="ctr">
                    <a:solidFill>
                      <a:schemeClr val="accent4">
                        <a:lumMod val="20000"/>
                        <a:lumOff val="80000"/>
                      </a:schemeClr>
                    </a:solidFill>
                  </a:tcPr>
                </a:tc>
                <a:tc>
                  <a:txBody>
                    <a:bodyPr/>
                    <a:lstStyle/>
                    <a:p>
                      <a:pPr algn="ctr">
                        <a:buNone/>
                      </a:pPr>
                      <a:r>
                        <a:rPr lang="en-US" sz="1800" b="1" dirty="0">
                          <a:latin typeface="Times New Roman" panose="02020603050405020304" pitchFamily="18" charset="0"/>
                          <a:cs typeface="Times New Roman" panose="02020603050405020304" pitchFamily="18" charset="0"/>
                        </a:rPr>
                        <a:t>Software Requirements</a:t>
                      </a:r>
                      <a:endParaRPr lang="en-US" sz="1800" dirty="0">
                        <a:latin typeface="Times New Roman" panose="02020603050405020304" pitchFamily="18" charset="0"/>
                        <a:cs typeface="Times New Roman" panose="02020603050405020304" pitchFamily="18" charset="0"/>
                      </a:endParaRPr>
                    </a:p>
                  </a:txBody>
                  <a:tcPr marL="41825" marR="41825" marT="20912" marB="20912" anchor="ctr">
                    <a:solidFill>
                      <a:schemeClr val="accent4">
                        <a:lumMod val="20000"/>
                        <a:lumOff val="80000"/>
                      </a:schemeClr>
                    </a:solidFill>
                  </a:tcPr>
                </a:tc>
                <a:tc>
                  <a:txBody>
                    <a:bodyPr/>
                    <a:lstStyle/>
                    <a:p>
                      <a:pPr algn="ctr">
                        <a:buNone/>
                      </a:pPr>
                      <a:r>
                        <a:rPr lang="en-US" sz="1800" b="1" dirty="0">
                          <a:latin typeface="Times New Roman" panose="02020603050405020304" pitchFamily="18" charset="0"/>
                          <a:cs typeface="Times New Roman" panose="02020603050405020304" pitchFamily="18" charset="0"/>
                        </a:rPr>
                        <a:t>Hardware Requirements</a:t>
                      </a:r>
                      <a:endParaRPr lang="en-US" sz="1800" dirty="0">
                        <a:latin typeface="Times New Roman" panose="02020603050405020304" pitchFamily="18" charset="0"/>
                        <a:cs typeface="Times New Roman" panose="02020603050405020304" pitchFamily="18" charset="0"/>
                      </a:endParaRPr>
                    </a:p>
                  </a:txBody>
                  <a:tcPr marL="41825" marR="41825" marT="20912" marB="20912" anchor="ctr">
                    <a:solidFill>
                      <a:schemeClr val="accent4">
                        <a:lumMod val="20000"/>
                        <a:lumOff val="80000"/>
                      </a:schemeClr>
                    </a:solidFill>
                  </a:tcPr>
                </a:tc>
                <a:extLst>
                  <a:ext uri="{0D108BD9-81ED-4DB2-BD59-A6C34878D82A}">
                    <a16:rowId xmlns:a16="http://schemas.microsoft.com/office/drawing/2014/main" val="1479540238"/>
                  </a:ext>
                </a:extLst>
              </a:tr>
              <a:tr h="424619">
                <a:tc>
                  <a:txBody>
                    <a:bodyPr/>
                    <a:lstStyle/>
                    <a:p>
                      <a:pPr>
                        <a:buNone/>
                      </a:pPr>
                      <a:r>
                        <a:rPr lang="en-US" sz="1800">
                          <a:latin typeface="Times New Roman" panose="02020603050405020304" pitchFamily="18" charset="0"/>
                          <a:cs typeface="Times New Roman" panose="02020603050405020304" pitchFamily="18" charset="0"/>
                        </a:rPr>
                        <a:t>1</a:t>
                      </a:r>
                    </a:p>
                  </a:txBody>
                  <a:tcPr marL="41825" marR="41825" marT="20912" marB="20912" anchor="ctr"/>
                </a:tc>
                <a:tc>
                  <a:txBody>
                    <a:bodyPr/>
                    <a:lstStyle/>
                    <a:p>
                      <a:pPr>
                        <a:buNone/>
                      </a:pPr>
                      <a:r>
                        <a:rPr lang="en-US" sz="1800" b="1" dirty="0">
                          <a:latin typeface="Times New Roman" panose="02020603050405020304" pitchFamily="18" charset="0"/>
                          <a:cs typeface="Times New Roman" panose="02020603050405020304" pitchFamily="18" charset="0"/>
                        </a:rPr>
                        <a:t>Operating System:</a:t>
                      </a:r>
                      <a:r>
                        <a:rPr lang="en-US" sz="1800" dirty="0">
                          <a:latin typeface="Times New Roman" panose="02020603050405020304" pitchFamily="18" charset="0"/>
                          <a:cs typeface="Times New Roman" panose="02020603050405020304" pitchFamily="18" charset="0"/>
                        </a:rPr>
                        <a:t> Windows 10 / 11</a:t>
                      </a:r>
                    </a:p>
                  </a:txBody>
                  <a:tcPr marL="41825" marR="41825" marT="20912" marB="20912" anchor="ctr"/>
                </a:tc>
                <a:tc>
                  <a:txBody>
                    <a:bodyPr/>
                    <a:lstStyle/>
                    <a:p>
                      <a:pPr>
                        <a:buNone/>
                      </a:pPr>
                      <a:r>
                        <a:rPr lang="en-US" sz="1800" b="1" dirty="0">
                          <a:latin typeface="Times New Roman" panose="02020603050405020304" pitchFamily="18" charset="0"/>
                          <a:cs typeface="Times New Roman" panose="02020603050405020304" pitchFamily="18" charset="0"/>
                        </a:rPr>
                        <a:t>System:</a:t>
                      </a:r>
                      <a:r>
                        <a:rPr lang="en-US" sz="1800" dirty="0">
                          <a:latin typeface="Times New Roman" panose="02020603050405020304" pitchFamily="18" charset="0"/>
                          <a:cs typeface="Times New Roman" panose="02020603050405020304" pitchFamily="18" charset="0"/>
                        </a:rPr>
                        <a:t> Intel i5 or higher</a:t>
                      </a:r>
                    </a:p>
                  </a:txBody>
                  <a:tcPr marL="41825" marR="41825" marT="20912" marB="20912" anchor="ctr"/>
                </a:tc>
                <a:extLst>
                  <a:ext uri="{0D108BD9-81ED-4DB2-BD59-A6C34878D82A}">
                    <a16:rowId xmlns:a16="http://schemas.microsoft.com/office/drawing/2014/main" val="2017316614"/>
                  </a:ext>
                </a:extLst>
              </a:tr>
              <a:tr h="425460">
                <a:tc>
                  <a:txBody>
                    <a:bodyPr/>
                    <a:lstStyle/>
                    <a:p>
                      <a:pPr>
                        <a:buNone/>
                      </a:pPr>
                      <a:r>
                        <a:rPr lang="en-US" sz="1800">
                          <a:latin typeface="Times New Roman" panose="02020603050405020304" pitchFamily="18" charset="0"/>
                          <a:cs typeface="Times New Roman" panose="02020603050405020304" pitchFamily="18" charset="0"/>
                        </a:rPr>
                        <a:t>2</a:t>
                      </a:r>
                    </a:p>
                  </a:txBody>
                  <a:tcPr marL="41825" marR="41825" marT="20912" marB="20912" anchor="ctr"/>
                </a:tc>
                <a:tc>
                  <a:txBody>
                    <a:bodyPr/>
                    <a:lstStyle/>
                    <a:p>
                      <a:pPr>
                        <a:buNone/>
                      </a:pPr>
                      <a:r>
                        <a:rPr lang="en-US" sz="1800" b="1" dirty="0">
                          <a:latin typeface="Times New Roman" panose="02020603050405020304" pitchFamily="18" charset="0"/>
                          <a:cs typeface="Times New Roman" panose="02020603050405020304" pitchFamily="18" charset="0"/>
                        </a:rPr>
                        <a:t>Coding Language:</a:t>
                      </a:r>
                      <a:r>
                        <a:rPr lang="en-US" sz="1800" dirty="0">
                          <a:latin typeface="Times New Roman" panose="02020603050405020304" pitchFamily="18" charset="0"/>
                          <a:cs typeface="Times New Roman" panose="02020603050405020304" pitchFamily="18" charset="0"/>
                        </a:rPr>
                        <a:t> Python 3.9 / 3.10</a:t>
                      </a:r>
                    </a:p>
                  </a:txBody>
                  <a:tcPr marL="41825" marR="41825" marT="20912" marB="20912" anchor="ctr"/>
                </a:tc>
                <a:tc>
                  <a:txBody>
                    <a:bodyPr/>
                    <a:lstStyle/>
                    <a:p>
                      <a:pPr>
                        <a:buNone/>
                      </a:pPr>
                      <a:r>
                        <a:rPr lang="en-US" sz="1800" b="1" dirty="0">
                          <a:latin typeface="Times New Roman" panose="02020603050405020304" pitchFamily="18" charset="0"/>
                          <a:cs typeface="Times New Roman" panose="02020603050405020304" pitchFamily="18" charset="0"/>
                        </a:rPr>
                        <a:t>Processor:</a:t>
                      </a:r>
                      <a:r>
                        <a:rPr lang="en-US" sz="1800" dirty="0">
                          <a:latin typeface="Times New Roman" panose="02020603050405020304" pitchFamily="18" charset="0"/>
                          <a:cs typeface="Times New Roman" panose="02020603050405020304" pitchFamily="18" charset="0"/>
                        </a:rPr>
                        <a:t> Minimum 4-core CPU</a:t>
                      </a:r>
                    </a:p>
                  </a:txBody>
                  <a:tcPr marL="41825" marR="41825" marT="20912" marB="20912" anchor="ctr"/>
                </a:tc>
                <a:extLst>
                  <a:ext uri="{0D108BD9-81ED-4DB2-BD59-A6C34878D82A}">
                    <a16:rowId xmlns:a16="http://schemas.microsoft.com/office/drawing/2014/main" val="801216738"/>
                  </a:ext>
                </a:extLst>
              </a:tr>
              <a:tr h="425460">
                <a:tc>
                  <a:txBody>
                    <a:bodyPr/>
                    <a:lstStyle/>
                    <a:p>
                      <a:pPr>
                        <a:buNone/>
                      </a:pPr>
                      <a:r>
                        <a:rPr lang="en-US" sz="1800">
                          <a:latin typeface="Times New Roman" panose="02020603050405020304" pitchFamily="18" charset="0"/>
                          <a:cs typeface="Times New Roman" panose="02020603050405020304" pitchFamily="18" charset="0"/>
                        </a:rPr>
                        <a:t>3</a:t>
                      </a:r>
                    </a:p>
                  </a:txBody>
                  <a:tcPr marL="41825" marR="41825" marT="20912" marB="20912" anchor="ctr"/>
                </a:tc>
                <a:tc>
                  <a:txBody>
                    <a:bodyPr/>
                    <a:lstStyle/>
                    <a:p>
                      <a:pPr>
                        <a:buNone/>
                      </a:pPr>
                      <a:r>
                        <a:rPr lang="en-US" sz="1800" b="1" dirty="0">
                          <a:latin typeface="Times New Roman" panose="02020603050405020304" pitchFamily="18" charset="0"/>
                          <a:cs typeface="Times New Roman" panose="02020603050405020304" pitchFamily="18" charset="0"/>
                        </a:rPr>
                        <a:t>Frontend Language:</a:t>
                      </a:r>
                      <a:r>
                        <a:rPr lang="en-US" sz="1800" dirty="0">
                          <a:latin typeface="Times New Roman" panose="02020603050405020304" pitchFamily="18" charset="0"/>
                          <a:cs typeface="Times New Roman" panose="02020603050405020304" pitchFamily="18" charset="0"/>
                        </a:rPr>
                        <a:t> HTML, CSS, JavaScript </a:t>
                      </a:r>
                    </a:p>
                  </a:txBody>
                  <a:tcPr marL="41825" marR="41825" marT="20912" marB="20912" anchor="ctr"/>
                </a:tc>
                <a:tc>
                  <a:txBody>
                    <a:bodyPr/>
                    <a:lstStyle/>
                    <a:p>
                      <a:pPr>
                        <a:buNone/>
                      </a:pPr>
                      <a:r>
                        <a:rPr lang="en-US" sz="1800" b="1" dirty="0">
                          <a:latin typeface="Times New Roman" panose="02020603050405020304" pitchFamily="18" charset="0"/>
                          <a:cs typeface="Times New Roman" panose="02020603050405020304" pitchFamily="18" charset="0"/>
                        </a:rPr>
                        <a:t>RAM:</a:t>
                      </a:r>
                      <a:r>
                        <a:rPr lang="en-US" sz="1800" dirty="0">
                          <a:latin typeface="Times New Roman" panose="02020603050405020304" pitchFamily="18" charset="0"/>
                          <a:cs typeface="Times New Roman" panose="02020603050405020304" pitchFamily="18" charset="0"/>
                        </a:rPr>
                        <a:t> Minimum 8 GB</a:t>
                      </a:r>
                    </a:p>
                  </a:txBody>
                  <a:tcPr marL="41825" marR="41825" marT="20912" marB="20912" anchor="ctr"/>
                </a:tc>
                <a:extLst>
                  <a:ext uri="{0D108BD9-81ED-4DB2-BD59-A6C34878D82A}">
                    <a16:rowId xmlns:a16="http://schemas.microsoft.com/office/drawing/2014/main" val="2594425790"/>
                  </a:ext>
                </a:extLst>
              </a:tr>
              <a:tr h="293600">
                <a:tc>
                  <a:txBody>
                    <a:bodyPr/>
                    <a:lstStyle/>
                    <a:p>
                      <a:pPr>
                        <a:buNone/>
                      </a:pPr>
                      <a:r>
                        <a:rPr lang="en-US" sz="1800">
                          <a:latin typeface="Times New Roman" panose="02020603050405020304" pitchFamily="18" charset="0"/>
                          <a:cs typeface="Times New Roman" panose="02020603050405020304" pitchFamily="18" charset="0"/>
                        </a:rPr>
                        <a:t>4</a:t>
                      </a:r>
                    </a:p>
                  </a:txBody>
                  <a:tcPr marL="41825" marR="41825" marT="20912" marB="20912" anchor="ctr"/>
                </a:tc>
                <a:tc>
                  <a:txBody>
                    <a:bodyPr/>
                    <a:lstStyle/>
                    <a:p>
                      <a:pPr>
                        <a:buNone/>
                      </a:pPr>
                      <a:r>
                        <a:rPr lang="en-US" sz="1800" b="1" dirty="0">
                          <a:latin typeface="Times New Roman" panose="02020603050405020304" pitchFamily="18" charset="0"/>
                          <a:cs typeface="Times New Roman" panose="02020603050405020304" pitchFamily="18" charset="0"/>
                        </a:rPr>
                        <a:t>Backend Framework:</a:t>
                      </a:r>
                      <a:r>
                        <a:rPr lang="en-US" sz="1800" dirty="0">
                          <a:latin typeface="Times New Roman" panose="02020603050405020304" pitchFamily="18" charset="0"/>
                          <a:cs typeface="Times New Roman" panose="02020603050405020304" pitchFamily="18" charset="0"/>
                        </a:rPr>
                        <a:t> Flask</a:t>
                      </a:r>
                    </a:p>
                  </a:txBody>
                  <a:tcPr marL="41825" marR="41825" marT="20912" marB="20912" anchor="ctr"/>
                </a:tc>
                <a:tc>
                  <a:txBody>
                    <a:bodyPr/>
                    <a:lstStyle/>
                    <a:p>
                      <a:pPr>
                        <a:buNone/>
                      </a:pPr>
                      <a:r>
                        <a:rPr lang="en-US" sz="1800" b="1" dirty="0">
                          <a:latin typeface="Times New Roman" panose="02020603050405020304" pitchFamily="18" charset="0"/>
                          <a:cs typeface="Times New Roman" panose="02020603050405020304" pitchFamily="18" charset="0"/>
                        </a:rPr>
                        <a:t>GPU:</a:t>
                      </a:r>
                      <a:r>
                        <a:rPr lang="en-US" sz="1800" dirty="0">
                          <a:latin typeface="Times New Roman" panose="02020603050405020304" pitchFamily="18" charset="0"/>
                          <a:cs typeface="Times New Roman" panose="02020603050405020304" pitchFamily="18" charset="0"/>
                        </a:rPr>
                        <a:t> Optional (NVIDIA GPU with 4 GB VRAM recommended for training)</a:t>
                      </a:r>
                    </a:p>
                  </a:txBody>
                  <a:tcPr marL="41825" marR="41825" marT="20912" marB="20912" anchor="ctr"/>
                </a:tc>
                <a:extLst>
                  <a:ext uri="{0D108BD9-81ED-4DB2-BD59-A6C34878D82A}">
                    <a16:rowId xmlns:a16="http://schemas.microsoft.com/office/drawing/2014/main" val="1269857576"/>
                  </a:ext>
                </a:extLst>
              </a:tr>
              <a:tr h="425460">
                <a:tc>
                  <a:txBody>
                    <a:bodyPr/>
                    <a:lstStyle/>
                    <a:p>
                      <a:pPr>
                        <a:buNone/>
                      </a:pPr>
                      <a:r>
                        <a:rPr lang="en-US" sz="1800">
                          <a:latin typeface="Times New Roman" panose="02020603050405020304" pitchFamily="18" charset="0"/>
                          <a:cs typeface="Times New Roman" panose="02020603050405020304" pitchFamily="18" charset="0"/>
                        </a:rPr>
                        <a:t>5</a:t>
                      </a:r>
                    </a:p>
                  </a:txBody>
                  <a:tcPr marL="41825" marR="41825" marT="20912" marB="20912" anchor="ctr"/>
                </a:tc>
                <a:tc>
                  <a:txBody>
                    <a:bodyPr/>
                    <a:lstStyle/>
                    <a:p>
                      <a:pPr>
                        <a:buNone/>
                      </a:pPr>
                      <a:r>
                        <a:rPr lang="en-US" sz="1800" b="1">
                          <a:latin typeface="Times New Roman" panose="02020603050405020304" pitchFamily="18" charset="0"/>
                          <a:cs typeface="Times New Roman" panose="02020603050405020304" pitchFamily="18" charset="0"/>
                        </a:rPr>
                        <a:t>Database:</a:t>
                      </a:r>
                      <a:r>
                        <a:rPr lang="en-US" sz="1800">
                          <a:latin typeface="Times New Roman" panose="02020603050405020304" pitchFamily="18" charset="0"/>
                          <a:cs typeface="Times New Roman" panose="02020603050405020304" pitchFamily="18" charset="0"/>
                        </a:rPr>
                        <a:t> MySQL / SQLite</a:t>
                      </a:r>
                    </a:p>
                  </a:txBody>
                  <a:tcPr marL="41825" marR="41825" marT="20912" marB="20912" anchor="ctr"/>
                </a:tc>
                <a:tc>
                  <a:txBody>
                    <a:bodyPr/>
                    <a:lstStyle/>
                    <a:p>
                      <a:pPr>
                        <a:buNone/>
                      </a:pPr>
                      <a:r>
                        <a:rPr lang="en-US" sz="1800" b="1" dirty="0">
                          <a:latin typeface="Times New Roman" panose="02020603050405020304" pitchFamily="18" charset="0"/>
                          <a:cs typeface="Times New Roman" panose="02020603050405020304" pitchFamily="18" charset="0"/>
                        </a:rPr>
                        <a:t>Storage:</a:t>
                      </a:r>
                      <a:r>
                        <a:rPr lang="en-US" sz="1800" dirty="0">
                          <a:latin typeface="Times New Roman" panose="02020603050405020304" pitchFamily="18" charset="0"/>
                          <a:cs typeface="Times New Roman" panose="02020603050405020304" pitchFamily="18" charset="0"/>
                        </a:rPr>
                        <a:t> Minimum 50 GB free disk space</a:t>
                      </a:r>
                    </a:p>
                  </a:txBody>
                  <a:tcPr marL="41825" marR="41825" marT="20912" marB="20912" anchor="ctr"/>
                </a:tc>
                <a:extLst>
                  <a:ext uri="{0D108BD9-81ED-4DB2-BD59-A6C34878D82A}">
                    <a16:rowId xmlns:a16="http://schemas.microsoft.com/office/drawing/2014/main" val="3111804825"/>
                  </a:ext>
                </a:extLst>
              </a:tr>
              <a:tr h="623122">
                <a:tc>
                  <a:txBody>
                    <a:bodyPr/>
                    <a:lstStyle/>
                    <a:p>
                      <a:pPr>
                        <a:buNone/>
                      </a:pPr>
                      <a:r>
                        <a:rPr lang="en-US" sz="1800">
                          <a:latin typeface="Times New Roman" panose="02020603050405020304" pitchFamily="18" charset="0"/>
                          <a:cs typeface="Times New Roman" panose="02020603050405020304" pitchFamily="18" charset="0"/>
                        </a:rPr>
                        <a:t>6</a:t>
                      </a:r>
                    </a:p>
                  </a:txBody>
                  <a:tcPr marL="41825" marR="41825" marT="20912" marB="20912" anchor="ctr"/>
                </a:tc>
                <a:tc>
                  <a:txBody>
                    <a:bodyPr/>
                    <a:lstStyle/>
                    <a:p>
                      <a:pPr>
                        <a:buNone/>
                      </a:pPr>
                      <a:r>
                        <a:rPr lang="en-US" sz="1800" b="1">
                          <a:latin typeface="Times New Roman" panose="02020603050405020304" pitchFamily="18" charset="0"/>
                          <a:cs typeface="Times New Roman" panose="02020603050405020304" pitchFamily="18" charset="0"/>
                        </a:rPr>
                        <a:t>Deep Learning Libraries:</a:t>
                      </a:r>
                      <a:r>
                        <a:rPr lang="en-US" sz="1800">
                          <a:latin typeface="Times New Roman" panose="02020603050405020304" pitchFamily="18" charset="0"/>
                          <a:cs typeface="Times New Roman" panose="02020603050405020304" pitchFamily="18" charset="0"/>
                        </a:rPr>
                        <a:t> PyTorch, NumPy</a:t>
                      </a:r>
                    </a:p>
                  </a:txBody>
                  <a:tcPr marL="41825" marR="41825" marT="20912" marB="20912" anchor="ctr"/>
                </a:tc>
                <a:tc>
                  <a:txBody>
                    <a:bodyPr/>
                    <a:lstStyle/>
                    <a:p>
                      <a:pPr>
                        <a:buNone/>
                      </a:pPr>
                      <a:r>
                        <a:rPr lang="en-US" sz="1800" b="1" dirty="0">
                          <a:latin typeface="Times New Roman" panose="02020603050405020304" pitchFamily="18" charset="0"/>
                          <a:cs typeface="Times New Roman" panose="02020603050405020304" pitchFamily="18" charset="0"/>
                        </a:rPr>
                        <a:t>Input Devices:</a:t>
                      </a:r>
                      <a:r>
                        <a:rPr lang="en-US" sz="1800" dirty="0">
                          <a:latin typeface="Times New Roman" panose="02020603050405020304" pitchFamily="18" charset="0"/>
                          <a:cs typeface="Times New Roman" panose="02020603050405020304" pitchFamily="18" charset="0"/>
                        </a:rPr>
                        <a:t> Any modern computer with keyboard and mouse</a:t>
                      </a:r>
                    </a:p>
                  </a:txBody>
                  <a:tcPr marL="41825" marR="41825" marT="20912" marB="20912" anchor="ctr"/>
                </a:tc>
                <a:extLst>
                  <a:ext uri="{0D108BD9-81ED-4DB2-BD59-A6C34878D82A}">
                    <a16:rowId xmlns:a16="http://schemas.microsoft.com/office/drawing/2014/main" val="1176230800"/>
                  </a:ext>
                </a:extLst>
              </a:tr>
            </a:tbl>
          </a:graphicData>
        </a:graphic>
      </p:graphicFrame>
      <p:sp>
        <p:nvSpPr>
          <p:cNvPr id="4" name="TextBox 3">
            <a:extLst>
              <a:ext uri="{FF2B5EF4-FFF2-40B4-BE49-F238E27FC236}">
                <a16:creationId xmlns:a16="http://schemas.microsoft.com/office/drawing/2014/main" id="{C8CAB99F-5E86-B681-7412-868513EE200B}"/>
              </a:ext>
            </a:extLst>
          </p:cNvPr>
          <p:cNvSpPr txBox="1"/>
          <p:nvPr/>
        </p:nvSpPr>
        <p:spPr>
          <a:xfrm>
            <a:off x="99390" y="58143"/>
            <a:ext cx="8945217" cy="1661993"/>
          </a:xfrm>
          <a:prstGeom prst="rect">
            <a:avLst/>
          </a:prstGeom>
          <a:noFill/>
        </p:spPr>
        <p:txBody>
          <a:bodyPr wrap="square">
            <a:spAutoFit/>
          </a:bodyPr>
          <a:lstStyle/>
          <a:p>
            <a:pPr algn="ctr"/>
            <a:r>
              <a:rPr lang="en-US" sz="3200" b="1" dirty="0">
                <a:solidFill>
                  <a:srgbClr val="203864"/>
                </a:solidFill>
                <a:latin typeface="Times New Roman" panose="02020603050405020304" pitchFamily="18" charset="0"/>
                <a:ea typeface="OpenSans-Bold"/>
                <a:cs typeface="Times New Roman" panose="02020603050405020304" pitchFamily="18" charset="0"/>
              </a:rPr>
              <a:t>SOFTWARE AND HARDWARE REQUIREMENTS </a:t>
            </a:r>
            <a:endParaRPr lang="en-US" sz="3200" dirty="0"/>
          </a:p>
          <a:p>
            <a:pPr algn="ctr"/>
            <a:r>
              <a:rPr lang="en-IN" sz="2000" b="1" dirty="0"/>
              <a:t> </a:t>
            </a:r>
            <a:endParaRPr lang="en-US" sz="2000" dirty="0"/>
          </a:p>
          <a:p>
            <a:pPr marL="0" indent="0" algn="ctr" rtl="0" eaLnBrk="1" latinLnBrk="0" hangingPunct="1">
              <a:buNone/>
            </a:pPr>
            <a:endParaRPr lang="en-US" dirty="0">
              <a:effectLst/>
            </a:endParaRPr>
          </a:p>
        </p:txBody>
      </p:sp>
      <p:pic>
        <p:nvPicPr>
          <p:cNvPr id="6" name="Picture 5">
            <a:extLst>
              <a:ext uri="{FF2B5EF4-FFF2-40B4-BE49-F238E27FC236}">
                <a16:creationId xmlns:a16="http://schemas.microsoft.com/office/drawing/2014/main" id="{94F1ECAA-708A-C7FA-98C6-8C06E98484B0}"/>
              </a:ext>
            </a:extLst>
          </p:cNvPr>
          <p:cNvPicPr>
            <a:picLocks noChangeAspect="1"/>
          </p:cNvPicPr>
          <p:nvPr/>
        </p:nvPicPr>
        <p:blipFill>
          <a:blip r:embed="rId2"/>
          <a:stretch>
            <a:fillRect/>
          </a:stretch>
        </p:blipFill>
        <p:spPr>
          <a:xfrm>
            <a:off x="7892083" y="58143"/>
            <a:ext cx="1152525" cy="685800"/>
          </a:xfrm>
          <a:prstGeom prst="rect">
            <a:avLst/>
          </a:prstGeom>
        </p:spPr>
      </p:pic>
    </p:spTree>
    <p:extLst>
      <p:ext uri="{BB962C8B-B14F-4D97-AF65-F5344CB8AC3E}">
        <p14:creationId xmlns:p14="http://schemas.microsoft.com/office/powerpoint/2010/main" val="134716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49">
            <a:extLst>
              <a:ext uri="{FF2B5EF4-FFF2-40B4-BE49-F238E27FC236}">
                <a16:creationId xmlns:a16="http://schemas.microsoft.com/office/drawing/2014/main" id="{1C32CCA2-E510-6766-4FEF-E2F50E69CFB3}"/>
              </a:ext>
            </a:extLst>
          </p:cNvPr>
          <p:cNvPicPr>
            <a:picLocks noChangeAspect="1"/>
          </p:cNvPicPr>
          <p:nvPr/>
        </p:nvPicPr>
        <p:blipFill>
          <a:blip r:embed="rId2"/>
          <a:stretch>
            <a:fillRect/>
          </a:stretch>
        </p:blipFill>
        <p:spPr>
          <a:xfrm>
            <a:off x="7901940" y="57150"/>
            <a:ext cx="1143000" cy="685800"/>
          </a:xfrm>
          <a:prstGeom prst="rect">
            <a:avLst/>
          </a:prstGeom>
        </p:spPr>
      </p:pic>
      <p:sp>
        <p:nvSpPr>
          <p:cNvPr id="52" name="TextBox 51">
            <a:extLst>
              <a:ext uri="{FF2B5EF4-FFF2-40B4-BE49-F238E27FC236}">
                <a16:creationId xmlns:a16="http://schemas.microsoft.com/office/drawing/2014/main" id="{6BCC4B98-5FBB-7C2E-5A4E-FBA9ED093D02}"/>
              </a:ext>
            </a:extLst>
          </p:cNvPr>
          <p:cNvSpPr txBox="1"/>
          <p:nvPr/>
        </p:nvSpPr>
        <p:spPr>
          <a:xfrm>
            <a:off x="2217420" y="791304"/>
            <a:ext cx="4572000" cy="369332"/>
          </a:xfrm>
          <a:prstGeom prst="rect">
            <a:avLst/>
          </a:prstGeom>
          <a:noFill/>
        </p:spPr>
        <p:txBody>
          <a:bodyPr wrap="square">
            <a:spAutoFit/>
          </a:bodyPr>
          <a:lstStyle/>
          <a:p>
            <a:pPr marL="0" indent="0" algn="ctr" rtl="0" eaLnBrk="1" latinLnBrk="0" hangingPunct="1">
              <a:buNone/>
            </a:pPr>
            <a:r>
              <a:rPr lang="en-US" sz="1800" b="1" kern="1200" dirty="0">
                <a:solidFill>
                  <a:srgbClr val="000000"/>
                </a:solidFill>
                <a:effectLst/>
                <a:latin typeface="Times New Roman" panose="02020603050405020304" pitchFamily="18" charset="0"/>
                <a:ea typeface="+mn-ea"/>
                <a:cs typeface="Times New Roman" panose="02020603050405020304" pitchFamily="18" charset="0"/>
              </a:rPr>
              <a:t>Model Architecture </a:t>
            </a:r>
            <a:endParaRPr lang="en-US" dirty="0">
              <a:effectLst/>
            </a:endParaRPr>
          </a:p>
        </p:txBody>
      </p:sp>
      <p:pic>
        <p:nvPicPr>
          <p:cNvPr id="54" name="Picture 53">
            <a:extLst>
              <a:ext uri="{FF2B5EF4-FFF2-40B4-BE49-F238E27FC236}">
                <a16:creationId xmlns:a16="http://schemas.microsoft.com/office/drawing/2014/main" id="{8F8B8F27-2475-C97B-B2EA-E3C7D7655E96}"/>
              </a:ext>
            </a:extLst>
          </p:cNvPr>
          <p:cNvPicPr>
            <a:picLocks noChangeAspect="1"/>
          </p:cNvPicPr>
          <p:nvPr/>
        </p:nvPicPr>
        <p:blipFill>
          <a:blip r:embed="rId3"/>
          <a:stretch>
            <a:fillRect/>
          </a:stretch>
        </p:blipFill>
        <p:spPr>
          <a:xfrm>
            <a:off x="274711" y="1143000"/>
            <a:ext cx="8869289" cy="3657600"/>
          </a:xfrm>
          <a:prstGeom prst="rect">
            <a:avLst/>
          </a:prstGeom>
        </p:spPr>
      </p:pic>
      <p:sp>
        <p:nvSpPr>
          <p:cNvPr id="56" name="TextBox 55">
            <a:extLst>
              <a:ext uri="{FF2B5EF4-FFF2-40B4-BE49-F238E27FC236}">
                <a16:creationId xmlns:a16="http://schemas.microsoft.com/office/drawing/2014/main" id="{3552A56A-772A-9F85-D951-A9A5B465C0C5}"/>
              </a:ext>
            </a:extLst>
          </p:cNvPr>
          <p:cNvSpPr txBox="1"/>
          <p:nvPr/>
        </p:nvSpPr>
        <p:spPr>
          <a:xfrm>
            <a:off x="548640" y="3960"/>
            <a:ext cx="8031480" cy="584775"/>
          </a:xfrm>
          <a:prstGeom prst="rect">
            <a:avLst/>
          </a:prstGeom>
          <a:noFill/>
        </p:spPr>
        <p:txBody>
          <a:bodyPr wrap="square">
            <a:spAutoFit/>
          </a:bodyPr>
          <a:lstStyle/>
          <a:p>
            <a:pPr marL="0" indent="0" algn="ctr" rtl="0" eaLnBrk="1" latinLnBrk="0" hangingPunct="1">
              <a:buNone/>
            </a:pPr>
            <a:r>
              <a:rPr lang="en-US" sz="3200" b="1" kern="1200" dirty="0">
                <a:solidFill>
                  <a:srgbClr val="203864"/>
                </a:solidFill>
                <a:effectLst/>
                <a:latin typeface="Times New Roman" panose="02020603050405020304" pitchFamily="18" charset="0"/>
                <a:ea typeface="+mn-ea"/>
                <a:cs typeface="Times New Roman" panose="02020603050405020304" pitchFamily="18" charset="0"/>
              </a:rPr>
              <a:t>DESIGN AND ARCHITECTURE</a:t>
            </a:r>
            <a:endParaRPr lang="en-US" sz="3200" dirty="0">
              <a:effectLst/>
            </a:endParaRPr>
          </a:p>
        </p:txBody>
      </p:sp>
    </p:spTree>
    <p:extLst>
      <p:ext uri="{BB962C8B-B14F-4D97-AF65-F5344CB8AC3E}">
        <p14:creationId xmlns:p14="http://schemas.microsoft.com/office/powerpoint/2010/main" val="219551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9437D17-2B91-1D1D-D7A0-E44E1388D242}"/>
              </a:ext>
            </a:extLst>
          </p:cNvPr>
          <p:cNvPicPr>
            <a:picLocks noChangeAspect="1"/>
          </p:cNvPicPr>
          <p:nvPr/>
        </p:nvPicPr>
        <p:blipFill>
          <a:blip r:embed="rId2"/>
          <a:stretch>
            <a:fillRect/>
          </a:stretch>
        </p:blipFill>
        <p:spPr>
          <a:xfrm>
            <a:off x="671885" y="1307230"/>
            <a:ext cx="7800230" cy="2787494"/>
          </a:xfrm>
          <a:prstGeom prst="rect">
            <a:avLst/>
          </a:prstGeom>
        </p:spPr>
      </p:pic>
      <p:sp>
        <p:nvSpPr>
          <p:cNvPr id="9" name="TextBox 8">
            <a:extLst>
              <a:ext uri="{FF2B5EF4-FFF2-40B4-BE49-F238E27FC236}">
                <a16:creationId xmlns:a16="http://schemas.microsoft.com/office/drawing/2014/main" id="{65725FCE-ED0B-7966-FE17-107BE9695AD9}"/>
              </a:ext>
            </a:extLst>
          </p:cNvPr>
          <p:cNvSpPr txBox="1"/>
          <p:nvPr/>
        </p:nvSpPr>
        <p:spPr>
          <a:xfrm>
            <a:off x="2429124" y="511073"/>
            <a:ext cx="4651512" cy="369332"/>
          </a:xfrm>
          <a:prstGeom prst="rect">
            <a:avLst/>
          </a:prstGeom>
          <a:noFill/>
        </p:spPr>
        <p:txBody>
          <a:bodyPr wrap="square">
            <a:spAutoFit/>
          </a:bodyPr>
          <a:lstStyle/>
          <a:p>
            <a:pPr marL="0" algn="ctr" rtl="0" eaLnBrk="1" latinLnBrk="0" hangingPunct="1">
              <a:buNone/>
            </a:pPr>
            <a:r>
              <a:rPr lang="en-IN" sz="1800" b="1" kern="1200" dirty="0">
                <a:solidFill>
                  <a:srgbClr val="000000"/>
                </a:solidFill>
                <a:effectLst/>
                <a:latin typeface="Times New Roman" panose="02020603050405020304" pitchFamily="18" charset="0"/>
                <a:ea typeface="+mn-ea"/>
                <a:cs typeface="Times New Roman" panose="02020603050405020304" pitchFamily="18" charset="0"/>
              </a:rPr>
              <a:t>CNN ARCHITECTURE</a:t>
            </a:r>
            <a:endParaRPr lang="en-US" dirty="0">
              <a:effectLst/>
            </a:endParaRPr>
          </a:p>
        </p:txBody>
      </p:sp>
      <p:pic>
        <p:nvPicPr>
          <p:cNvPr id="10" name="Picture 9">
            <a:extLst>
              <a:ext uri="{FF2B5EF4-FFF2-40B4-BE49-F238E27FC236}">
                <a16:creationId xmlns:a16="http://schemas.microsoft.com/office/drawing/2014/main" id="{91A24C02-394A-FBC5-FC77-CE567F4670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3358" y="48828"/>
            <a:ext cx="1145854" cy="692081"/>
          </a:xfrm>
          <a:prstGeom prst="rect">
            <a:avLst/>
          </a:prstGeom>
        </p:spPr>
      </p:pic>
    </p:spTree>
    <p:extLst>
      <p:ext uri="{BB962C8B-B14F-4D97-AF65-F5344CB8AC3E}">
        <p14:creationId xmlns:p14="http://schemas.microsoft.com/office/powerpoint/2010/main" val="2933515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41441A-5C4D-54A4-2799-BB0DB7C274C6}"/>
              </a:ext>
            </a:extLst>
          </p:cNvPr>
          <p:cNvSpPr txBox="1"/>
          <p:nvPr/>
        </p:nvSpPr>
        <p:spPr>
          <a:xfrm>
            <a:off x="1905000" y="253484"/>
            <a:ext cx="4572000" cy="369332"/>
          </a:xfrm>
          <a:prstGeom prst="rect">
            <a:avLst/>
          </a:prstGeom>
          <a:noFill/>
        </p:spPr>
        <p:txBody>
          <a:bodyPr wrap="square">
            <a:spAutoFit/>
          </a:bodyPr>
          <a:lstStyle/>
          <a:p>
            <a:pPr algn="ctr"/>
            <a:r>
              <a:rPr lang="en-IN" sz="1800" b="1" dirty="0">
                <a:latin typeface="Times New Roman" panose="02020603050405020304" pitchFamily="18" charset="0"/>
                <a:cs typeface="Times New Roman" panose="02020603050405020304" pitchFamily="18" charset="0"/>
              </a:rPr>
              <a:t>FLOW CHART</a:t>
            </a:r>
          </a:p>
        </p:txBody>
      </p:sp>
      <p:pic>
        <p:nvPicPr>
          <p:cNvPr id="5" name="Picture 4">
            <a:extLst>
              <a:ext uri="{FF2B5EF4-FFF2-40B4-BE49-F238E27FC236}">
                <a16:creationId xmlns:a16="http://schemas.microsoft.com/office/drawing/2014/main" id="{2E53F84D-96C7-B99A-0791-12A48F4444A5}"/>
              </a:ext>
            </a:extLst>
          </p:cNvPr>
          <p:cNvPicPr>
            <a:picLocks noChangeAspect="1"/>
          </p:cNvPicPr>
          <p:nvPr/>
        </p:nvPicPr>
        <p:blipFill>
          <a:blip r:embed="rId2"/>
          <a:stretch>
            <a:fillRect/>
          </a:stretch>
        </p:blipFill>
        <p:spPr>
          <a:xfrm>
            <a:off x="746760" y="910269"/>
            <a:ext cx="7825740" cy="3679217"/>
          </a:xfrm>
          <a:prstGeom prst="rect">
            <a:avLst/>
          </a:prstGeom>
        </p:spPr>
      </p:pic>
      <p:pic>
        <p:nvPicPr>
          <p:cNvPr id="8" name="Picture 7">
            <a:extLst>
              <a:ext uri="{FF2B5EF4-FFF2-40B4-BE49-F238E27FC236}">
                <a16:creationId xmlns:a16="http://schemas.microsoft.com/office/drawing/2014/main" id="{FEC31847-B096-CFE8-88D8-979585113977}"/>
              </a:ext>
            </a:extLst>
          </p:cNvPr>
          <p:cNvPicPr>
            <a:picLocks noChangeAspect="1"/>
          </p:cNvPicPr>
          <p:nvPr/>
        </p:nvPicPr>
        <p:blipFill>
          <a:blip r:embed="rId3"/>
          <a:stretch>
            <a:fillRect/>
          </a:stretch>
        </p:blipFill>
        <p:spPr>
          <a:xfrm>
            <a:off x="7886700" y="95250"/>
            <a:ext cx="1143000" cy="685800"/>
          </a:xfrm>
          <a:prstGeom prst="rect">
            <a:avLst/>
          </a:prstGeom>
        </p:spPr>
      </p:pic>
    </p:spTree>
    <p:extLst>
      <p:ext uri="{BB962C8B-B14F-4D97-AF65-F5344CB8AC3E}">
        <p14:creationId xmlns:p14="http://schemas.microsoft.com/office/powerpoint/2010/main" val="2596434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D450EB3-0A5B-6CE8-00F5-34789C536E57}"/>
              </a:ext>
            </a:extLst>
          </p:cNvPr>
          <p:cNvPicPr>
            <a:picLocks noChangeAspect="1"/>
          </p:cNvPicPr>
          <p:nvPr/>
        </p:nvPicPr>
        <p:blipFill>
          <a:blip r:embed="rId2"/>
          <a:stretch>
            <a:fillRect/>
          </a:stretch>
        </p:blipFill>
        <p:spPr>
          <a:xfrm>
            <a:off x="1272541" y="740909"/>
            <a:ext cx="6799792" cy="3984932"/>
          </a:xfrm>
          <a:prstGeom prst="rect">
            <a:avLst/>
          </a:prstGeom>
        </p:spPr>
      </p:pic>
      <p:sp>
        <p:nvSpPr>
          <p:cNvPr id="11" name="TextBox 10">
            <a:extLst>
              <a:ext uri="{FF2B5EF4-FFF2-40B4-BE49-F238E27FC236}">
                <a16:creationId xmlns:a16="http://schemas.microsoft.com/office/drawing/2014/main" id="{B537F8BB-1BAD-2636-9D20-4324B0A2FD62}"/>
              </a:ext>
            </a:extLst>
          </p:cNvPr>
          <p:cNvSpPr txBox="1"/>
          <p:nvPr/>
        </p:nvSpPr>
        <p:spPr>
          <a:xfrm>
            <a:off x="2217420" y="232993"/>
            <a:ext cx="4572000" cy="369332"/>
          </a:xfrm>
          <a:prstGeom prst="rect">
            <a:avLst/>
          </a:prstGeom>
          <a:noFill/>
        </p:spPr>
        <p:txBody>
          <a:bodyPr wrap="square">
            <a:spAutoFit/>
          </a:bodyPr>
          <a:lstStyle/>
          <a:p>
            <a:pPr algn="ctr"/>
            <a:r>
              <a:rPr lang="en-IN" sz="1800" b="1" dirty="0">
                <a:latin typeface="Times New Roman" panose="02020603050405020304" pitchFamily="18" charset="0"/>
                <a:cs typeface="Times New Roman" panose="02020603050405020304" pitchFamily="18" charset="0"/>
              </a:rPr>
              <a:t>USE CASE DIAGRAM</a:t>
            </a:r>
            <a:endParaRPr lang="en-IN" sz="1600" b="1"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EE94214F-978B-625A-7DE2-A2D4DF8FA0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3358" y="48828"/>
            <a:ext cx="1145854" cy="692081"/>
          </a:xfrm>
          <a:prstGeom prst="rect">
            <a:avLst/>
          </a:prstGeom>
        </p:spPr>
      </p:pic>
    </p:spTree>
    <p:extLst>
      <p:ext uri="{BB962C8B-B14F-4D97-AF65-F5344CB8AC3E}">
        <p14:creationId xmlns:p14="http://schemas.microsoft.com/office/powerpoint/2010/main" val="221014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05C8E18C-1F14-216A-0B8C-8BFB24FD97A9}"/>
              </a:ext>
            </a:extLst>
          </p:cNvPr>
          <p:cNvSpPr txBox="1"/>
          <p:nvPr/>
        </p:nvSpPr>
        <p:spPr>
          <a:xfrm>
            <a:off x="1848678" y="137362"/>
            <a:ext cx="4572000" cy="369332"/>
          </a:xfrm>
          <a:prstGeom prst="rect">
            <a:avLst/>
          </a:prstGeom>
          <a:noFill/>
        </p:spPr>
        <p:txBody>
          <a:bodyPr wrap="square">
            <a:spAutoFit/>
          </a:bodyPr>
          <a:lstStyle/>
          <a:p>
            <a:pPr algn="ctr"/>
            <a:r>
              <a:rPr lang="en-IN" sz="1800" b="1" dirty="0">
                <a:latin typeface="Times New Roman" panose="02020603050405020304" pitchFamily="18" charset="0"/>
                <a:cs typeface="Times New Roman" panose="02020603050405020304" pitchFamily="18" charset="0"/>
              </a:rPr>
              <a:t>ACTIVITY DIAGRAM</a:t>
            </a:r>
          </a:p>
        </p:txBody>
      </p:sp>
      <p:pic>
        <p:nvPicPr>
          <p:cNvPr id="31" name="Picture 30">
            <a:extLst>
              <a:ext uri="{FF2B5EF4-FFF2-40B4-BE49-F238E27FC236}">
                <a16:creationId xmlns:a16="http://schemas.microsoft.com/office/drawing/2014/main" id="{E3A6721D-E9CA-182C-0ABF-C718ED892A70}"/>
              </a:ext>
            </a:extLst>
          </p:cNvPr>
          <p:cNvPicPr>
            <a:picLocks noChangeAspect="1"/>
          </p:cNvPicPr>
          <p:nvPr/>
        </p:nvPicPr>
        <p:blipFill>
          <a:blip r:embed="rId2"/>
          <a:stretch>
            <a:fillRect/>
          </a:stretch>
        </p:blipFill>
        <p:spPr>
          <a:xfrm>
            <a:off x="1508760" y="506694"/>
            <a:ext cx="5948258" cy="4419094"/>
          </a:xfrm>
          <a:prstGeom prst="rect">
            <a:avLst/>
          </a:prstGeom>
        </p:spPr>
      </p:pic>
      <p:pic>
        <p:nvPicPr>
          <p:cNvPr id="35" name="Picture 34">
            <a:extLst>
              <a:ext uri="{FF2B5EF4-FFF2-40B4-BE49-F238E27FC236}">
                <a16:creationId xmlns:a16="http://schemas.microsoft.com/office/drawing/2014/main" id="{A8BD8817-3C24-841A-DF5D-9E23ECDA5435}"/>
              </a:ext>
            </a:extLst>
          </p:cNvPr>
          <p:cNvPicPr>
            <a:picLocks noChangeAspect="1"/>
          </p:cNvPicPr>
          <p:nvPr/>
        </p:nvPicPr>
        <p:blipFill>
          <a:blip r:embed="rId3"/>
          <a:stretch>
            <a:fillRect/>
          </a:stretch>
        </p:blipFill>
        <p:spPr>
          <a:xfrm>
            <a:off x="905703" y="4135093"/>
            <a:ext cx="1885950" cy="133350"/>
          </a:xfrm>
          <a:prstGeom prst="rect">
            <a:avLst/>
          </a:prstGeom>
        </p:spPr>
      </p:pic>
      <p:pic>
        <p:nvPicPr>
          <p:cNvPr id="36" name="Picture 35">
            <a:extLst>
              <a:ext uri="{FF2B5EF4-FFF2-40B4-BE49-F238E27FC236}">
                <a16:creationId xmlns:a16="http://schemas.microsoft.com/office/drawing/2014/main" id="{3EC99FC8-8EB5-0C0D-2FA3-7AA24414B8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23358" y="48828"/>
            <a:ext cx="1145854" cy="692081"/>
          </a:xfrm>
          <a:prstGeom prst="rect">
            <a:avLst/>
          </a:prstGeom>
        </p:spPr>
      </p:pic>
    </p:spTree>
    <p:extLst>
      <p:ext uri="{BB962C8B-B14F-4D97-AF65-F5344CB8AC3E}">
        <p14:creationId xmlns:p14="http://schemas.microsoft.com/office/powerpoint/2010/main" val="3791897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80D3F50-D9FB-6CAF-A401-EC00EB2F7B7C}"/>
              </a:ext>
            </a:extLst>
          </p:cNvPr>
          <p:cNvSpPr/>
          <p:nvPr/>
        </p:nvSpPr>
        <p:spPr>
          <a:xfrm>
            <a:off x="469127" y="1455089"/>
            <a:ext cx="2035534" cy="79513"/>
          </a:xfrm>
          <a:prstGeom prst="rect">
            <a:avLst/>
          </a:prstGeom>
          <a:solidFill>
            <a:schemeClr val="bg1"/>
          </a:solid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pic>
        <p:nvPicPr>
          <p:cNvPr id="10" name="Picture 9">
            <a:extLst>
              <a:ext uri="{FF2B5EF4-FFF2-40B4-BE49-F238E27FC236}">
                <a16:creationId xmlns:a16="http://schemas.microsoft.com/office/drawing/2014/main" id="{993FFD6A-AEE7-F40B-DE98-25A6F072BE5D}"/>
              </a:ext>
            </a:extLst>
          </p:cNvPr>
          <p:cNvPicPr>
            <a:picLocks noChangeAspect="1"/>
          </p:cNvPicPr>
          <p:nvPr/>
        </p:nvPicPr>
        <p:blipFill>
          <a:blip r:embed="rId2"/>
          <a:stretch>
            <a:fillRect/>
          </a:stretch>
        </p:blipFill>
        <p:spPr>
          <a:xfrm>
            <a:off x="222636" y="807720"/>
            <a:ext cx="8550157" cy="4152899"/>
          </a:xfrm>
          <a:prstGeom prst="rect">
            <a:avLst/>
          </a:prstGeom>
        </p:spPr>
      </p:pic>
      <p:sp>
        <p:nvSpPr>
          <p:cNvPr id="12" name="TextBox 11">
            <a:extLst>
              <a:ext uri="{FF2B5EF4-FFF2-40B4-BE49-F238E27FC236}">
                <a16:creationId xmlns:a16="http://schemas.microsoft.com/office/drawing/2014/main" id="{87BC3588-5102-584A-A9F4-1F50E19E84D6}"/>
              </a:ext>
            </a:extLst>
          </p:cNvPr>
          <p:cNvSpPr txBox="1"/>
          <p:nvPr/>
        </p:nvSpPr>
        <p:spPr>
          <a:xfrm>
            <a:off x="2286000" y="325010"/>
            <a:ext cx="4572000" cy="369332"/>
          </a:xfrm>
          <a:prstGeom prst="rect">
            <a:avLst/>
          </a:prstGeom>
          <a:noFill/>
        </p:spPr>
        <p:txBody>
          <a:bodyPr wrap="square">
            <a:spAutoFit/>
          </a:bodyPr>
          <a:lstStyle/>
          <a:p>
            <a:pPr algn="ctr"/>
            <a:r>
              <a:rPr lang="en-IN" sz="1800" b="1" dirty="0">
                <a:latin typeface="Times New Roman" panose="02020603050405020304" pitchFamily="18" charset="0"/>
                <a:cs typeface="Times New Roman" panose="02020603050405020304" pitchFamily="18" charset="0"/>
              </a:rPr>
              <a:t>SEQUENCE DIAGRAM</a:t>
            </a:r>
          </a:p>
        </p:txBody>
      </p:sp>
      <p:pic>
        <p:nvPicPr>
          <p:cNvPr id="13" name="Picture 12">
            <a:extLst>
              <a:ext uri="{FF2B5EF4-FFF2-40B4-BE49-F238E27FC236}">
                <a16:creationId xmlns:a16="http://schemas.microsoft.com/office/drawing/2014/main" id="{3B239E67-B026-CDFA-AD48-C12E46A5F0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3358" y="48828"/>
            <a:ext cx="1145854" cy="692081"/>
          </a:xfrm>
          <a:prstGeom prst="rect">
            <a:avLst/>
          </a:prstGeom>
        </p:spPr>
      </p:pic>
      <p:pic>
        <p:nvPicPr>
          <p:cNvPr id="3" name="Picture 2">
            <a:extLst>
              <a:ext uri="{FF2B5EF4-FFF2-40B4-BE49-F238E27FC236}">
                <a16:creationId xmlns:a16="http://schemas.microsoft.com/office/drawing/2014/main" id="{BE40A02B-8569-A3C7-A3F0-78AE8DBA4AD8}"/>
              </a:ext>
            </a:extLst>
          </p:cNvPr>
          <p:cNvPicPr>
            <a:picLocks noChangeAspect="1"/>
          </p:cNvPicPr>
          <p:nvPr/>
        </p:nvPicPr>
        <p:blipFill>
          <a:blip r:embed="rId4"/>
          <a:stretch>
            <a:fillRect/>
          </a:stretch>
        </p:blipFill>
        <p:spPr>
          <a:xfrm>
            <a:off x="5092916" y="3347083"/>
            <a:ext cx="1457528" cy="19053"/>
          </a:xfrm>
          <a:prstGeom prst="rect">
            <a:avLst/>
          </a:prstGeom>
        </p:spPr>
      </p:pic>
    </p:spTree>
    <p:extLst>
      <p:ext uri="{BB962C8B-B14F-4D97-AF65-F5344CB8AC3E}">
        <p14:creationId xmlns:p14="http://schemas.microsoft.com/office/powerpoint/2010/main" val="3875721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69324E-47DA-844C-7CE8-A5877EDF55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0481" y="15205"/>
            <a:ext cx="934480" cy="564414"/>
          </a:xfrm>
          <a:prstGeom prst="rect">
            <a:avLst/>
          </a:prstGeom>
        </p:spPr>
      </p:pic>
      <p:sp>
        <p:nvSpPr>
          <p:cNvPr id="4" name="TextBox 3">
            <a:extLst>
              <a:ext uri="{FF2B5EF4-FFF2-40B4-BE49-F238E27FC236}">
                <a16:creationId xmlns:a16="http://schemas.microsoft.com/office/drawing/2014/main" id="{6C482984-505C-8CA8-A467-F3F9D807C1A9}"/>
              </a:ext>
            </a:extLst>
          </p:cNvPr>
          <p:cNvSpPr txBox="1"/>
          <p:nvPr/>
        </p:nvSpPr>
        <p:spPr>
          <a:xfrm>
            <a:off x="1676400" y="297412"/>
            <a:ext cx="5554980" cy="369332"/>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PROPOSED METHODOLOGY ARCHITECTURE</a:t>
            </a:r>
          </a:p>
        </p:txBody>
      </p:sp>
      <p:pic>
        <p:nvPicPr>
          <p:cNvPr id="6" name="Picture 5">
            <a:extLst>
              <a:ext uri="{FF2B5EF4-FFF2-40B4-BE49-F238E27FC236}">
                <a16:creationId xmlns:a16="http://schemas.microsoft.com/office/drawing/2014/main" id="{B704E64A-18D1-888C-1F0B-19E5E6A8496A}"/>
              </a:ext>
            </a:extLst>
          </p:cNvPr>
          <p:cNvPicPr>
            <a:picLocks noChangeAspect="1"/>
          </p:cNvPicPr>
          <p:nvPr/>
        </p:nvPicPr>
        <p:blipFill>
          <a:blip r:embed="rId3"/>
          <a:stretch>
            <a:fillRect/>
          </a:stretch>
        </p:blipFill>
        <p:spPr>
          <a:xfrm>
            <a:off x="1189805" y="933926"/>
            <a:ext cx="7080676" cy="3717608"/>
          </a:xfrm>
          <a:prstGeom prst="rect">
            <a:avLst/>
          </a:prstGeom>
        </p:spPr>
      </p:pic>
    </p:spTree>
    <p:extLst>
      <p:ext uri="{BB962C8B-B14F-4D97-AF65-F5344CB8AC3E}">
        <p14:creationId xmlns:p14="http://schemas.microsoft.com/office/powerpoint/2010/main" val="3953381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E11C33-1A2B-0707-2E30-4828C2F7DF85}"/>
              </a:ext>
            </a:extLst>
          </p:cNvPr>
          <p:cNvSpPr txBox="1"/>
          <p:nvPr/>
        </p:nvSpPr>
        <p:spPr>
          <a:xfrm>
            <a:off x="184134" y="1182894"/>
            <a:ext cx="8730418" cy="3366563"/>
          </a:xfrm>
          <a:prstGeom prst="rect">
            <a:avLst/>
          </a:prstGeom>
          <a:noFill/>
        </p:spPr>
        <p:txBody>
          <a:bodyPr wrap="square">
            <a:spAutoFit/>
          </a:bodyPr>
          <a:lstStyle/>
          <a:p>
            <a:pPr marL="342900" indent="-342900" algn="just">
              <a:lnSpc>
                <a:spcPct val="150000"/>
              </a:lnSpc>
              <a:buFontTx/>
              <a:buAutoNum type="arabicPeriod"/>
            </a:pPr>
            <a:r>
              <a:rPr lang="en-IN" b="1"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Data Collection:</a:t>
            </a:r>
            <a:r>
              <a:rPr lang="en-US" altLang="en-US" dirty="0">
                <a:latin typeface="Times New Roman" panose="02020603050405020304" pitchFamily="18" charset="0"/>
                <a:cs typeface="Times New Roman" panose="02020603050405020304" pitchFamily="18" charset="0"/>
              </a:rPr>
              <a:t> Collected ransomware executable samples from Malware-Bazaar, Virus-Total, and GitHub. Collected benign executable samples from Snap-Files, Portable-Apps, and GitHub.</a:t>
            </a:r>
          </a:p>
          <a:p>
            <a:pPr marL="342900" indent="-342900" algn="just">
              <a:lnSpc>
                <a:spcPct val="150000"/>
              </a:lnSpc>
              <a:buFontTx/>
              <a:buAutoNum type="arabicPeriod"/>
            </a:pPr>
            <a:r>
              <a:rPr lang="en-US" altLang="en-US" b="1" dirty="0">
                <a:latin typeface="Times New Roman" panose="02020603050405020304" pitchFamily="18" charset="0"/>
                <a:cs typeface="Times New Roman" panose="02020603050405020304" pitchFamily="18" charset="0"/>
              </a:rPr>
              <a:t> Data Preprocessing: </a:t>
            </a:r>
            <a:r>
              <a:rPr lang="en-US" altLang="en-US" dirty="0">
                <a:latin typeface="Times New Roman" panose="02020603050405020304" pitchFamily="18" charset="0"/>
                <a:cs typeface="Times New Roman" panose="02020603050405020304" pitchFamily="18" charset="0"/>
              </a:rPr>
              <a:t>Read raw binary bytes from executable files using Python, convert byte streams into fixed-length sequences.</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Reshaped 1D byte data into 2D matrices. Mapped matrices to grayscale images using byte-to-pixel intensity mapping.</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Split the dataset into 80% training and 20% testing data with random shuffling.</a:t>
            </a:r>
          </a:p>
        </p:txBody>
      </p:sp>
      <p:sp>
        <p:nvSpPr>
          <p:cNvPr id="7" name="TextBox 6">
            <a:extLst>
              <a:ext uri="{FF2B5EF4-FFF2-40B4-BE49-F238E27FC236}">
                <a16:creationId xmlns:a16="http://schemas.microsoft.com/office/drawing/2014/main" id="{9DDFBF40-D6C0-9D7C-54E3-C418DDD4E8D0}"/>
              </a:ext>
            </a:extLst>
          </p:cNvPr>
          <p:cNvSpPr txBox="1"/>
          <p:nvPr/>
        </p:nvSpPr>
        <p:spPr>
          <a:xfrm>
            <a:off x="553250" y="133380"/>
            <a:ext cx="8253368" cy="584775"/>
          </a:xfrm>
          <a:prstGeom prst="rect">
            <a:avLst/>
          </a:prstGeom>
          <a:noFill/>
        </p:spPr>
        <p:txBody>
          <a:bodyPr wrap="square">
            <a:spAutoFit/>
          </a:bodyPr>
          <a:lstStyle/>
          <a:p>
            <a:pPr marL="0" indent="0" algn="ctr" rtl="0" eaLnBrk="1" latinLnBrk="0" hangingPunct="1"/>
            <a:r>
              <a:rPr lang="en-US" sz="3200" b="1" kern="1200" dirty="0">
                <a:solidFill>
                  <a:srgbClr val="203864"/>
                </a:solidFill>
                <a:effectLst/>
                <a:latin typeface="Times New Roman" panose="02020603050405020304" pitchFamily="18" charset="0"/>
                <a:ea typeface="OpenSans-Bold"/>
                <a:cs typeface="Times New Roman" panose="02020603050405020304" pitchFamily="18" charset="0"/>
              </a:rPr>
              <a:t> </a:t>
            </a:r>
            <a:r>
              <a:rPr lang="en-US" sz="3200" b="1" dirty="0">
                <a:solidFill>
                  <a:srgbClr val="203864"/>
                </a:solidFill>
                <a:latin typeface="Times New Roman" panose="02020603050405020304" pitchFamily="18" charset="0"/>
                <a:ea typeface="OpenSans-Bold"/>
                <a:cs typeface="Times New Roman" panose="02020603050405020304" pitchFamily="18" charset="0"/>
              </a:rPr>
              <a:t>IMPLEMENTATION</a:t>
            </a:r>
            <a:endParaRPr lang="en-IN" sz="3200" dirty="0">
              <a:effectLst/>
            </a:endParaRPr>
          </a:p>
        </p:txBody>
      </p:sp>
      <p:pic>
        <p:nvPicPr>
          <p:cNvPr id="2" name="Picture 1">
            <a:extLst>
              <a:ext uri="{FF2B5EF4-FFF2-40B4-BE49-F238E27FC236}">
                <a16:creationId xmlns:a16="http://schemas.microsoft.com/office/drawing/2014/main" id="{5A81DECA-689B-E4AB-B9DA-BBA9F185B7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8698" y="79728"/>
            <a:ext cx="1145854" cy="692081"/>
          </a:xfrm>
          <a:prstGeom prst="rect">
            <a:avLst/>
          </a:prstGeom>
        </p:spPr>
      </p:pic>
    </p:spTree>
    <p:extLst>
      <p:ext uri="{BB962C8B-B14F-4D97-AF65-F5344CB8AC3E}">
        <p14:creationId xmlns:p14="http://schemas.microsoft.com/office/powerpoint/2010/main" val="3803276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C9B727-CF0A-92F3-3E3E-6A0FDB91C643}"/>
              </a:ext>
            </a:extLst>
          </p:cNvPr>
          <p:cNvPicPr>
            <a:picLocks noChangeAspect="1"/>
          </p:cNvPicPr>
          <p:nvPr/>
        </p:nvPicPr>
        <p:blipFill>
          <a:blip r:embed="rId2"/>
          <a:stretch>
            <a:fillRect/>
          </a:stretch>
        </p:blipFill>
        <p:spPr>
          <a:xfrm>
            <a:off x="8063441" y="119608"/>
            <a:ext cx="987638" cy="597460"/>
          </a:xfrm>
          <a:prstGeom prst="rect">
            <a:avLst/>
          </a:prstGeom>
        </p:spPr>
      </p:pic>
      <p:sp>
        <p:nvSpPr>
          <p:cNvPr id="3" name="TextBox 2">
            <a:extLst>
              <a:ext uri="{FF2B5EF4-FFF2-40B4-BE49-F238E27FC236}">
                <a16:creationId xmlns:a16="http://schemas.microsoft.com/office/drawing/2014/main" id="{D7744DE4-6E8C-B515-1992-985A340A3693}"/>
              </a:ext>
            </a:extLst>
          </p:cNvPr>
          <p:cNvSpPr txBox="1"/>
          <p:nvPr/>
        </p:nvSpPr>
        <p:spPr>
          <a:xfrm>
            <a:off x="92921" y="265221"/>
            <a:ext cx="8734849" cy="4613058"/>
          </a:xfrm>
          <a:prstGeom prst="rect">
            <a:avLst/>
          </a:prstGeom>
          <a:noFill/>
        </p:spPr>
        <p:txBody>
          <a:bodyPr wrap="square">
            <a:spAutoFit/>
          </a:bodyPr>
          <a:lstStyle/>
          <a:p>
            <a:pPr marL="342900" lvl="0" indent="-342900" algn="just" eaLnBrk="0" fontAlgn="base" hangingPunct="0">
              <a:lnSpc>
                <a:spcPct val="150000"/>
              </a:lnSpc>
              <a:spcBef>
                <a:spcPct val="0"/>
              </a:spcBef>
              <a:spcAft>
                <a:spcPct val="0"/>
              </a:spcAft>
              <a:buAutoNum type="arabicPeriod" startAt="3"/>
            </a:pPr>
            <a:r>
              <a:rPr lang="en-US" altLang="en-US" b="1" dirty="0">
                <a:latin typeface="Times New Roman" panose="02020603050405020304" pitchFamily="18" charset="0"/>
                <a:cs typeface="Times New Roman" panose="02020603050405020304" pitchFamily="18" charset="0"/>
              </a:rPr>
              <a:t>Model Development: </a:t>
            </a:r>
            <a:r>
              <a:rPr lang="en-US" altLang="en-US" dirty="0">
                <a:latin typeface="Times New Roman" panose="02020603050405020304" pitchFamily="18" charset="0"/>
                <a:cs typeface="Times New Roman" panose="02020603050405020304" pitchFamily="18" charset="0"/>
              </a:rPr>
              <a:t>Designed a CNN-based deep learning model using </a:t>
            </a:r>
            <a:r>
              <a:rPr lang="en-US" altLang="en-US" dirty="0" err="1">
                <a:latin typeface="Times New Roman" panose="02020603050405020304" pitchFamily="18" charset="0"/>
                <a:cs typeface="Times New Roman" panose="02020603050405020304" pitchFamily="18" charset="0"/>
              </a:rPr>
              <a:t>PyTorch</a:t>
            </a:r>
            <a:r>
              <a:rPr lang="en-US" altLang="en-US" dirty="0">
                <a:latin typeface="Times New Roman" panose="02020603050405020304" pitchFamily="18" charset="0"/>
                <a:cs typeface="Times New Roman" panose="02020603050405020304" pitchFamily="18" charset="0"/>
              </a:rPr>
              <a:t>.</a:t>
            </a:r>
          </a:p>
          <a:p>
            <a:pPr algn="ctr">
              <a:lnSpc>
                <a:spcPct val="150000"/>
              </a:lnSpc>
            </a:pPr>
            <a:r>
              <a:rPr lang="en-IN" b="1" dirty="0">
                <a:latin typeface="Times New Roman" panose="02020603050405020304" pitchFamily="18" charset="0"/>
                <a:cs typeface="Times New Roman" panose="02020603050405020304" pitchFamily="18" charset="0"/>
              </a:rPr>
              <a:t>CNN (Convolutional neural network)</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Input Layer</a:t>
            </a:r>
            <a:r>
              <a:rPr lang="en-IN" dirty="0">
                <a:latin typeface="Times New Roman" panose="02020603050405020304" pitchFamily="18" charset="0"/>
                <a:cs typeface="Times New Roman" panose="02020603050405020304" pitchFamily="18" charset="0"/>
              </a:rPr>
              <a:t>: Takes an uploaded image (PNG/JPG/exe/pdf) and converts it into a standardized format (grayscale, resized to 128×128).</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Convolution Layers</a:t>
            </a:r>
            <a:r>
              <a:rPr lang="en-IN" dirty="0">
                <a:latin typeface="Times New Roman" panose="02020603050405020304" pitchFamily="18" charset="0"/>
                <a:cs typeface="Times New Roman" panose="02020603050405020304" pitchFamily="18" charset="0"/>
              </a:rPr>
              <a:t>: Extract key spatial features such as edges, texture patterns, and malicious artefacts present in ransomware-infected files.</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Activation (</a:t>
            </a:r>
            <a:r>
              <a:rPr lang="en-IN" b="1" dirty="0" err="1">
                <a:latin typeface="Times New Roman" panose="02020603050405020304" pitchFamily="18" charset="0"/>
                <a:cs typeface="Times New Roman" panose="02020603050405020304" pitchFamily="18" charset="0"/>
              </a:rPr>
              <a:t>ReLU</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Highlights important patterns.</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Pooling Layer</a:t>
            </a:r>
            <a:r>
              <a:rPr lang="en-IN" dirty="0">
                <a:latin typeface="Times New Roman" panose="02020603050405020304" pitchFamily="18" charset="0"/>
                <a:cs typeface="Times New Roman" panose="02020603050405020304" pitchFamily="18" charset="0"/>
              </a:rPr>
              <a:t>: Reduces dimensionality/size while preserving essential feature patterns.</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Fully Connected Layer</a:t>
            </a:r>
            <a:r>
              <a:rPr lang="en-IN" dirty="0">
                <a:latin typeface="Times New Roman" panose="02020603050405020304" pitchFamily="18" charset="0"/>
                <a:cs typeface="Times New Roman" panose="02020603050405020304" pitchFamily="18" charset="0"/>
              </a:rPr>
              <a:t>: Converts extracted features into class scores:{Ransomware, Legitimate}.</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Soft-max Probability</a:t>
            </a:r>
            <a:r>
              <a:rPr lang="en-IN" dirty="0">
                <a:latin typeface="Times New Roman" panose="02020603050405020304" pitchFamily="18" charset="0"/>
                <a:cs typeface="Times New Roman" panose="02020603050405020304" pitchFamily="18" charset="0"/>
              </a:rPr>
              <a:t>: Produces final confidence score and class label.</a:t>
            </a:r>
          </a:p>
        </p:txBody>
      </p:sp>
    </p:spTree>
    <p:extLst>
      <p:ext uri="{BB962C8B-B14F-4D97-AF65-F5344CB8AC3E}">
        <p14:creationId xmlns:p14="http://schemas.microsoft.com/office/powerpoint/2010/main" val="2959758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A3F771-44B2-8E1B-7CE5-99E6345B622D}"/>
              </a:ext>
            </a:extLst>
          </p:cNvPr>
          <p:cNvPicPr>
            <a:picLocks noChangeAspect="1"/>
          </p:cNvPicPr>
          <p:nvPr/>
        </p:nvPicPr>
        <p:blipFill>
          <a:blip r:embed="rId2"/>
          <a:stretch>
            <a:fillRect/>
          </a:stretch>
        </p:blipFill>
        <p:spPr>
          <a:xfrm>
            <a:off x="8061296" y="77488"/>
            <a:ext cx="982980" cy="597980"/>
          </a:xfrm>
          <a:prstGeom prst="rect">
            <a:avLst/>
          </a:prstGeom>
        </p:spPr>
      </p:pic>
      <p:sp>
        <p:nvSpPr>
          <p:cNvPr id="3" name="TextBox 2">
            <a:extLst>
              <a:ext uri="{FF2B5EF4-FFF2-40B4-BE49-F238E27FC236}">
                <a16:creationId xmlns:a16="http://schemas.microsoft.com/office/drawing/2014/main" id="{4BF1A339-8871-5CDB-4835-7A0372D9AE1F}"/>
              </a:ext>
            </a:extLst>
          </p:cNvPr>
          <p:cNvSpPr txBox="1"/>
          <p:nvPr/>
        </p:nvSpPr>
        <p:spPr>
          <a:xfrm>
            <a:off x="206072" y="201218"/>
            <a:ext cx="8731856" cy="4613058"/>
          </a:xfrm>
          <a:prstGeom prst="rect">
            <a:avLst/>
          </a:prstGeom>
          <a:noFill/>
        </p:spPr>
        <p:txBody>
          <a:bodyPr wrap="square">
            <a:spAutoFit/>
          </a:bodyPr>
          <a:lstStyle/>
          <a:p>
            <a:pPr marL="342900" indent="-342900" algn="just">
              <a:lnSpc>
                <a:spcPct val="150000"/>
              </a:lnSpc>
              <a:buAutoNum type="arabicPeriod" startAt="4"/>
            </a:pPr>
            <a:r>
              <a:rPr lang="en-US" b="1" dirty="0">
                <a:latin typeface="Times New Roman" panose="02020603050405020304" pitchFamily="18" charset="0"/>
                <a:cs typeface="Times New Roman" panose="02020603050405020304" pitchFamily="18" charset="0"/>
              </a:rPr>
              <a:t>Deployment and Detection: </a:t>
            </a:r>
            <a:r>
              <a:rPr lang="en-US" dirty="0">
                <a:latin typeface="Times New Roman" panose="02020603050405020304" pitchFamily="18" charset="0"/>
                <a:cs typeface="Times New Roman" panose="02020603050405020304" pitchFamily="18" charset="0"/>
              </a:rPr>
              <a:t>Deployed the trained model using a Flask web </a:t>
            </a:r>
          </a:p>
          <a:p>
            <a:pPr algn="just">
              <a:lnSpc>
                <a:spcPct val="150000"/>
              </a:lnSpc>
            </a:pPr>
            <a:r>
              <a:rPr lang="en-US" dirty="0">
                <a:latin typeface="Times New Roman" panose="02020603050405020304" pitchFamily="18" charset="0"/>
                <a:cs typeface="Times New Roman" panose="02020603050405020304" pitchFamily="18" charset="0"/>
              </a:rPr>
              <a:t>API. Integrated MySQL database for user authentication and prediction history.</a:t>
            </a:r>
            <a:r>
              <a:rPr lang="en-US" dirty="0"/>
              <a:t> </a:t>
            </a:r>
            <a:r>
              <a:rPr lang="en-US" dirty="0">
                <a:latin typeface="Times New Roman" panose="02020603050405020304" pitchFamily="18" charset="0"/>
                <a:cs typeface="Times New Roman" panose="02020603050405020304" pitchFamily="18" charset="0"/>
              </a:rPr>
              <a:t>Uses the Twilio API to send voice call alerts when ransomware is detected.</a:t>
            </a:r>
          </a:p>
          <a:p>
            <a:pPr algn="ctr">
              <a:lnSpc>
                <a:spcPct val="150000"/>
              </a:lnSpc>
            </a:pPr>
            <a:r>
              <a:rPr lang="en-US" b="1" dirty="0">
                <a:latin typeface="Times New Roman" panose="02020603050405020304" pitchFamily="18" charset="0"/>
                <a:cs typeface="Times New Roman" panose="02020603050405020304" pitchFamily="18" charset="0"/>
              </a:rPr>
              <a:t>Twilio Alert </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Event Trigger</a:t>
            </a:r>
            <a:r>
              <a:rPr lang="en-US" dirty="0">
                <a:latin typeface="Times New Roman" panose="02020603050405020304" pitchFamily="18" charset="0"/>
                <a:cs typeface="Times New Roman" panose="02020603050405020304" pitchFamily="18" charset="0"/>
              </a:rPr>
              <a:t>: When the CNN classifier detects Ransomware.</a:t>
            </a:r>
          </a:p>
          <a:p>
            <a:pPr marL="285750" indent="-285750" algn="just">
              <a:lnSpc>
                <a:spcPct val="150000"/>
              </a:lnSpc>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TwilioClient</a:t>
            </a:r>
            <a:r>
              <a:rPr lang="en-US" b="1" dirty="0">
                <a:latin typeface="Times New Roman" panose="02020603050405020304" pitchFamily="18" charset="0"/>
                <a:cs typeface="Times New Roman" panose="02020603050405020304" pitchFamily="18" charset="0"/>
              </a:rPr>
              <a:t> Initialization</a:t>
            </a:r>
            <a:r>
              <a:rPr lang="en-US" dirty="0">
                <a:latin typeface="Times New Roman" panose="02020603050405020304" pitchFamily="18" charset="0"/>
                <a:cs typeface="Times New Roman" panose="02020603050405020304" pitchFamily="18" charset="0"/>
              </a:rPr>
              <a:t>: Uses secure credentials (ACCOUNT_SID, AUTH_TOKEN).</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Alert Mechanism</a:t>
            </a:r>
            <a:r>
              <a:rPr lang="en-US" dirty="0">
                <a:latin typeface="Times New Roman" panose="02020603050405020304" pitchFamily="18" charset="0"/>
                <a:cs typeface="Times New Roman" panose="02020603050405020304" pitchFamily="18" charset="0"/>
              </a:rPr>
              <a:t>: Initiates an automated phone call to the registered user.</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Voice Message</a:t>
            </a:r>
            <a:r>
              <a:rPr lang="en-US" dirty="0">
                <a:latin typeface="Times New Roman" panose="02020603050405020304" pitchFamily="18" charset="0"/>
                <a:cs typeface="Times New Roman" panose="02020603050405020304" pitchFamily="18" charset="0"/>
              </a:rPr>
              <a:t>: Plays a spoken alert: “Ransomware detected. Please take immediate action”.</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Notification Delivery</a:t>
            </a:r>
            <a:r>
              <a:rPr lang="en-US" dirty="0">
                <a:latin typeface="Times New Roman" panose="02020603050405020304" pitchFamily="18" charset="0"/>
                <a:cs typeface="Times New Roman" panose="02020603050405020304" pitchFamily="18" charset="0"/>
              </a:rPr>
              <a:t>: User receives a real-time phone call alert for critical threat detection.</a:t>
            </a:r>
          </a:p>
        </p:txBody>
      </p:sp>
    </p:spTree>
    <p:extLst>
      <p:ext uri="{BB962C8B-B14F-4D97-AF65-F5344CB8AC3E}">
        <p14:creationId xmlns:p14="http://schemas.microsoft.com/office/powerpoint/2010/main" val="1469166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32DD00-250B-43E6-6331-134AF98ED1F7}"/>
              </a:ext>
            </a:extLst>
          </p:cNvPr>
          <p:cNvSpPr txBox="1"/>
          <p:nvPr/>
        </p:nvSpPr>
        <p:spPr>
          <a:xfrm>
            <a:off x="114300" y="74419"/>
            <a:ext cx="4730750" cy="4480073"/>
          </a:xfrm>
          <a:prstGeom prst="rect">
            <a:avLst/>
          </a:prstGeom>
          <a:noFill/>
        </p:spPr>
        <p:txBody>
          <a:bodyPr wrap="square">
            <a:spAutoFit/>
          </a:bodyPr>
          <a:lstStyle/>
          <a:p>
            <a:pPr>
              <a:lnSpc>
                <a:spcPct val="150000"/>
              </a:lnSpc>
            </a:pPr>
            <a:r>
              <a:rPr lang="en-US" sz="1600" b="1" u="sng" dirty="0">
                <a:latin typeface="Times New Roman" panose="02020603050405020304" pitchFamily="18" charset="0"/>
                <a:cs typeface="Times New Roman" panose="02020603050405020304" pitchFamily="18" charset="0"/>
              </a:rPr>
              <a:t>CNN Implementation </a:t>
            </a:r>
          </a:p>
          <a:p>
            <a:pPr>
              <a:lnSpc>
                <a:spcPct val="150000"/>
              </a:lnSpc>
            </a:pPr>
            <a:r>
              <a:rPr lang="en-US" sz="1600" b="1" dirty="0">
                <a:latin typeface="Times New Roman" panose="02020603050405020304" pitchFamily="18" charset="0"/>
                <a:cs typeface="Times New Roman" panose="02020603050405020304" pitchFamily="18" charset="0"/>
              </a:rPr>
              <a:t># Load image and preprocess</a:t>
            </a:r>
          </a:p>
          <a:p>
            <a:pPr>
              <a:lnSpc>
                <a:spcPct val="150000"/>
              </a:lnSpc>
            </a:pPr>
            <a:r>
              <a:rPr lang="en-US" sz="1600" dirty="0" err="1">
                <a:latin typeface="Times New Roman" panose="02020603050405020304" pitchFamily="18" charset="0"/>
                <a:cs typeface="Times New Roman" panose="02020603050405020304" pitchFamily="18" charset="0"/>
              </a:rPr>
              <a:t>img</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Image.open</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io.BytesIO</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file.read</a:t>
            </a:r>
            <a:r>
              <a:rPr lang="en-US" sz="1600" dirty="0">
                <a:latin typeface="Times New Roman" panose="02020603050405020304" pitchFamily="18" charset="0"/>
                <a:cs typeface="Times New Roman" panose="02020603050405020304" pitchFamily="18" charset="0"/>
              </a:rPr>
              <a:t>())).convert("L")</a:t>
            </a:r>
          </a:p>
          <a:p>
            <a:pPr>
              <a:lnSpc>
                <a:spcPct val="150000"/>
              </a:lnSpc>
            </a:pPr>
            <a:r>
              <a:rPr lang="en-US" sz="1600" dirty="0" err="1">
                <a:latin typeface="Times New Roman" panose="02020603050405020304" pitchFamily="18" charset="0"/>
                <a:cs typeface="Times New Roman" panose="02020603050405020304" pitchFamily="18" charset="0"/>
              </a:rPr>
              <a:t>img</a:t>
            </a:r>
            <a:r>
              <a:rPr lang="en-US" sz="1600" dirty="0">
                <a:latin typeface="Times New Roman" panose="02020603050405020304" pitchFamily="18" charset="0"/>
                <a:cs typeface="Times New Roman" panose="02020603050405020304" pitchFamily="18" charset="0"/>
              </a:rPr>
              <a:t> = transform(</a:t>
            </a:r>
            <a:r>
              <a:rPr lang="en-US" sz="1600" dirty="0" err="1">
                <a:latin typeface="Times New Roman" panose="02020603050405020304" pitchFamily="18" charset="0"/>
                <a:cs typeface="Times New Roman" panose="02020603050405020304" pitchFamily="18" charset="0"/>
              </a:rPr>
              <a:t>img</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unsqueeze</a:t>
            </a:r>
            <a:r>
              <a:rPr lang="en-US" sz="1600" dirty="0">
                <a:latin typeface="Times New Roman" panose="02020603050405020304" pitchFamily="18" charset="0"/>
                <a:cs typeface="Times New Roman" panose="02020603050405020304" pitchFamily="18" charset="0"/>
              </a:rPr>
              <a:t>(0).to(device)</a:t>
            </a:r>
          </a:p>
          <a:p>
            <a:pPr>
              <a:lnSpc>
                <a:spcPct val="150000"/>
              </a:lnSpc>
            </a:pPr>
            <a:r>
              <a:rPr lang="en-US" sz="1600" b="1" dirty="0">
                <a:latin typeface="Times New Roman" panose="02020603050405020304" pitchFamily="18" charset="0"/>
                <a:cs typeface="Times New Roman" panose="02020603050405020304" pitchFamily="18" charset="0"/>
              </a:rPr>
              <a:t># Predict using the DeepCNN model</a:t>
            </a:r>
          </a:p>
          <a:p>
            <a:pPr>
              <a:lnSpc>
                <a:spcPct val="150000"/>
              </a:lnSpc>
            </a:pPr>
            <a:r>
              <a:rPr lang="en-US" sz="1600" dirty="0">
                <a:latin typeface="Times New Roman" panose="02020603050405020304" pitchFamily="18" charset="0"/>
                <a:cs typeface="Times New Roman" panose="02020603050405020304" pitchFamily="18" charset="0"/>
              </a:rPr>
              <a:t>with </a:t>
            </a:r>
            <a:r>
              <a:rPr lang="en-US" sz="1600" dirty="0" err="1">
                <a:latin typeface="Times New Roman" panose="02020603050405020304" pitchFamily="18" charset="0"/>
                <a:cs typeface="Times New Roman" panose="02020603050405020304" pitchFamily="18" charset="0"/>
              </a:rPr>
              <a:t>torch.no_grad</a:t>
            </a: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   output = model(</a:t>
            </a:r>
            <a:r>
              <a:rPr lang="en-US" sz="1600" dirty="0" err="1">
                <a:latin typeface="Times New Roman" panose="02020603050405020304" pitchFamily="18" charset="0"/>
                <a:cs typeface="Times New Roman" panose="02020603050405020304" pitchFamily="18" charset="0"/>
              </a:rPr>
              <a:t>img</a:t>
            </a: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   prob = </a:t>
            </a:r>
            <a:r>
              <a:rPr lang="en-US" sz="1600" dirty="0" err="1">
                <a:latin typeface="Times New Roman" panose="02020603050405020304" pitchFamily="18" charset="0"/>
                <a:cs typeface="Times New Roman" panose="02020603050405020304" pitchFamily="18" charset="0"/>
              </a:rPr>
              <a:t>torch.softmax</a:t>
            </a:r>
            <a:r>
              <a:rPr lang="en-US" sz="1600" dirty="0">
                <a:latin typeface="Times New Roman" panose="02020603050405020304" pitchFamily="18" charset="0"/>
                <a:cs typeface="Times New Roman" panose="02020603050405020304" pitchFamily="18" charset="0"/>
              </a:rPr>
              <a:t>(output, dim=1)[0]    </a:t>
            </a:r>
          </a:p>
          <a:p>
            <a:pPr>
              <a:lnSpc>
                <a:spcPct val="150000"/>
              </a:lnSpc>
            </a:pPr>
            <a:r>
              <a:rPr lang="en-US" sz="1600" dirty="0">
                <a:latin typeface="Times New Roman" panose="02020603050405020304" pitchFamily="18" charset="0"/>
                <a:cs typeface="Times New Roman" panose="02020603050405020304" pitchFamily="18" charset="0"/>
              </a:rPr>
              <a:t>   pred  = </a:t>
            </a:r>
            <a:r>
              <a:rPr lang="en-US" sz="1600" dirty="0" err="1">
                <a:latin typeface="Times New Roman" panose="02020603050405020304" pitchFamily="18" charset="0"/>
                <a:cs typeface="Times New Roman" panose="02020603050405020304" pitchFamily="18" charset="0"/>
              </a:rPr>
              <a:t>torch.argmax</a:t>
            </a:r>
            <a:r>
              <a:rPr lang="en-US" sz="1600" dirty="0">
                <a:latin typeface="Times New Roman" panose="02020603050405020304" pitchFamily="18" charset="0"/>
                <a:cs typeface="Times New Roman" panose="02020603050405020304" pitchFamily="18" charset="0"/>
              </a:rPr>
              <a:t>(prob).item()</a:t>
            </a:r>
          </a:p>
          <a:p>
            <a:pPr>
              <a:lnSpc>
                <a:spcPct val="150000"/>
              </a:lnSpc>
            </a:pPr>
            <a:r>
              <a:rPr lang="en-US" sz="1600" b="1" dirty="0">
                <a:latin typeface="Times New Roman" panose="02020603050405020304" pitchFamily="18" charset="0"/>
                <a:cs typeface="Times New Roman" panose="02020603050405020304" pitchFamily="18" charset="0"/>
              </a:rPr>
              <a:t># Final label</a:t>
            </a:r>
          </a:p>
          <a:p>
            <a:pPr>
              <a:lnSpc>
                <a:spcPct val="150000"/>
              </a:lnSpc>
            </a:pPr>
            <a:r>
              <a:rPr lang="en-US" sz="1600" dirty="0">
                <a:latin typeface="Times New Roman" panose="02020603050405020304" pitchFamily="18" charset="0"/>
                <a:cs typeface="Times New Roman" panose="02020603050405020304" pitchFamily="18" charset="0"/>
              </a:rPr>
              <a:t>label = "</a:t>
            </a:r>
            <a:r>
              <a:rPr lang="en-US" sz="1600" b="1" dirty="0">
                <a:latin typeface="Times New Roman" panose="02020603050405020304" pitchFamily="18" charset="0"/>
                <a:cs typeface="Times New Roman" panose="02020603050405020304" pitchFamily="18" charset="0"/>
              </a:rPr>
              <a:t>Ransomware</a:t>
            </a:r>
            <a:r>
              <a:rPr lang="en-US" sz="1600" dirty="0">
                <a:latin typeface="Times New Roman" panose="02020603050405020304" pitchFamily="18" charset="0"/>
                <a:cs typeface="Times New Roman" panose="02020603050405020304" pitchFamily="18" charset="0"/>
              </a:rPr>
              <a:t>" if pred == 1 else "</a:t>
            </a:r>
            <a:r>
              <a:rPr lang="en-US" sz="1600" b="1" dirty="0">
                <a:latin typeface="Times New Roman" panose="02020603050405020304" pitchFamily="18" charset="0"/>
                <a:cs typeface="Times New Roman" panose="02020603050405020304" pitchFamily="18" charset="0"/>
              </a:rPr>
              <a:t>Legitimate</a:t>
            </a:r>
            <a:r>
              <a:rPr lang="en-US" sz="16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E2C3A3E0-2428-D246-3D60-24E84B9E9E16}"/>
              </a:ext>
            </a:extLst>
          </p:cNvPr>
          <p:cNvSpPr txBox="1"/>
          <p:nvPr/>
        </p:nvSpPr>
        <p:spPr>
          <a:xfrm>
            <a:off x="4572000" y="74419"/>
            <a:ext cx="4373880" cy="4110741"/>
          </a:xfrm>
          <a:prstGeom prst="rect">
            <a:avLst/>
          </a:prstGeom>
          <a:noFill/>
        </p:spPr>
        <p:txBody>
          <a:bodyPr wrap="square">
            <a:spAutoFit/>
          </a:bodyPr>
          <a:lstStyle/>
          <a:p>
            <a:pPr>
              <a:lnSpc>
                <a:spcPct val="150000"/>
              </a:lnSpc>
            </a:pPr>
            <a:r>
              <a:rPr lang="en-US" sz="1600" b="1" u="sng" dirty="0">
                <a:latin typeface="Times New Roman" panose="02020603050405020304" pitchFamily="18" charset="0"/>
                <a:cs typeface="Times New Roman" panose="02020603050405020304" pitchFamily="18" charset="0"/>
              </a:rPr>
              <a:t>Twilio Alert Implementation</a:t>
            </a:r>
          </a:p>
          <a:p>
            <a:pPr>
              <a:lnSpc>
                <a:spcPct val="150000"/>
              </a:lnSpc>
            </a:pPr>
            <a:r>
              <a:rPr lang="en-US" sz="1600" b="1" dirty="0">
                <a:latin typeface="Times New Roman" panose="02020603050405020304" pitchFamily="18" charset="0"/>
                <a:cs typeface="Times New Roman" panose="02020603050405020304" pitchFamily="18" charset="0"/>
              </a:rPr>
              <a:t># Twilio client</a:t>
            </a:r>
          </a:p>
          <a:p>
            <a:pPr>
              <a:lnSpc>
                <a:spcPct val="150000"/>
              </a:lnSpc>
            </a:pPr>
            <a:r>
              <a:rPr lang="en-US" sz="1600" dirty="0">
                <a:latin typeface="Times New Roman" panose="02020603050405020304" pitchFamily="18" charset="0"/>
                <a:cs typeface="Times New Roman" panose="02020603050405020304" pitchFamily="18" charset="0"/>
              </a:rPr>
              <a:t>client = Client(ACCOUNT_SID, AUTH_TOKEN)</a:t>
            </a:r>
          </a:p>
          <a:p>
            <a:pPr>
              <a:lnSpc>
                <a:spcPct val="150000"/>
              </a:lnSpc>
            </a:pPr>
            <a:r>
              <a:rPr lang="en-US" sz="1600" b="1" dirty="0">
                <a:latin typeface="Times New Roman" panose="02020603050405020304" pitchFamily="18" charset="0"/>
                <a:cs typeface="Times New Roman" panose="02020603050405020304" pitchFamily="18" charset="0"/>
              </a:rPr>
              <a:t># Make alert call when ransomware is detected</a:t>
            </a:r>
          </a:p>
          <a:p>
            <a:pPr>
              <a:lnSpc>
                <a:spcPct val="150000"/>
              </a:lnSpc>
            </a:pPr>
            <a:r>
              <a:rPr lang="en-US" sz="1600" dirty="0">
                <a:latin typeface="Times New Roman" panose="02020603050405020304" pitchFamily="18" charset="0"/>
                <a:cs typeface="Times New Roman" panose="02020603050405020304" pitchFamily="18" charset="0"/>
              </a:rPr>
              <a:t>def </a:t>
            </a:r>
            <a:r>
              <a:rPr lang="en-US" sz="1600" dirty="0" err="1">
                <a:latin typeface="Times New Roman" panose="02020603050405020304" pitchFamily="18" charset="0"/>
                <a:cs typeface="Times New Roman" panose="02020603050405020304" pitchFamily="18" charset="0"/>
              </a:rPr>
              <a:t>make_alert_call</a:t>
            </a: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err="1">
                <a:latin typeface="Times New Roman" panose="02020603050405020304" pitchFamily="18" charset="0"/>
                <a:cs typeface="Times New Roman" panose="02020603050405020304" pitchFamily="18" charset="0"/>
              </a:rPr>
              <a:t>client.calls.create</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twiml</a:t>
            </a:r>
            <a:r>
              <a:rPr lang="en-US" sz="1600" dirty="0">
                <a:latin typeface="Times New Roman" panose="02020603050405020304" pitchFamily="18" charset="0"/>
                <a:cs typeface="Times New Roman" panose="02020603050405020304" pitchFamily="18" charset="0"/>
              </a:rPr>
              <a:t>='&lt;Response&gt;&lt;Say&gt;Alert! Ransomware detected.&lt;/Say&gt;&lt;/Response&gt;',        from_=TWILIO_NUMBER, to=USER_PHONE)</a:t>
            </a:r>
          </a:p>
          <a:p>
            <a:pPr>
              <a:lnSpc>
                <a:spcPct val="150000"/>
              </a:lnSpc>
            </a:pPr>
            <a:r>
              <a:rPr lang="en-US" sz="1600" b="1" dirty="0">
                <a:latin typeface="Times New Roman" panose="02020603050405020304" pitchFamily="18" charset="0"/>
                <a:cs typeface="Times New Roman" panose="02020603050405020304" pitchFamily="18" charset="0"/>
              </a:rPr>
              <a:t># Trigger alert</a:t>
            </a:r>
          </a:p>
          <a:p>
            <a:pPr>
              <a:lnSpc>
                <a:spcPct val="150000"/>
              </a:lnSpc>
            </a:pPr>
            <a:r>
              <a:rPr lang="en-US" sz="1600" dirty="0">
                <a:latin typeface="Times New Roman" panose="02020603050405020304" pitchFamily="18" charset="0"/>
                <a:cs typeface="Times New Roman" panose="02020603050405020304" pitchFamily="18" charset="0"/>
              </a:rPr>
              <a:t>if label == "Ransomware":   </a:t>
            </a:r>
          </a:p>
          <a:p>
            <a:pPr>
              <a:lnSpc>
                <a:spcPct val="15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make_alert_call</a:t>
            </a:r>
            <a:r>
              <a:rPr lang="en-US" sz="1600" dirty="0">
                <a:latin typeface="Times New Roman" panose="02020603050405020304" pitchFamily="18" charset="0"/>
                <a:cs typeface="Times New Roman" panose="02020603050405020304" pitchFamily="18" charset="0"/>
              </a:rPr>
              <a:t>()</a:t>
            </a:r>
          </a:p>
        </p:txBody>
      </p:sp>
      <p:pic>
        <p:nvPicPr>
          <p:cNvPr id="7" name="Picture 6">
            <a:extLst>
              <a:ext uri="{FF2B5EF4-FFF2-40B4-BE49-F238E27FC236}">
                <a16:creationId xmlns:a16="http://schemas.microsoft.com/office/drawing/2014/main" id="{AA391495-C973-D9DF-8196-EAAEFE301401}"/>
              </a:ext>
            </a:extLst>
          </p:cNvPr>
          <p:cNvPicPr>
            <a:picLocks noChangeAspect="1"/>
          </p:cNvPicPr>
          <p:nvPr/>
        </p:nvPicPr>
        <p:blipFill>
          <a:blip r:embed="rId2"/>
          <a:stretch>
            <a:fillRect/>
          </a:stretch>
        </p:blipFill>
        <p:spPr>
          <a:xfrm>
            <a:off x="7886700" y="85849"/>
            <a:ext cx="1143000" cy="695325"/>
          </a:xfrm>
          <a:prstGeom prst="rect">
            <a:avLst/>
          </a:prstGeom>
        </p:spPr>
      </p:pic>
    </p:spTree>
    <p:extLst>
      <p:ext uri="{BB962C8B-B14F-4D97-AF65-F5344CB8AC3E}">
        <p14:creationId xmlns:p14="http://schemas.microsoft.com/office/powerpoint/2010/main" val="18764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5E3E25-C061-809A-487E-521DFEF346F8}"/>
              </a:ext>
            </a:extLst>
          </p:cNvPr>
          <p:cNvSpPr txBox="1"/>
          <p:nvPr/>
        </p:nvSpPr>
        <p:spPr>
          <a:xfrm>
            <a:off x="322729" y="221889"/>
            <a:ext cx="7799295" cy="584775"/>
          </a:xfrm>
          <a:prstGeom prst="rect">
            <a:avLst/>
          </a:prstGeom>
          <a:noFill/>
        </p:spPr>
        <p:txBody>
          <a:bodyPr wrap="square">
            <a:spAutoFit/>
          </a:bodyPr>
          <a:lstStyle/>
          <a:p>
            <a:pPr marL="0" indent="0" algn="ctr" rtl="0" eaLnBrk="1" latinLnBrk="0" hangingPunct="1"/>
            <a:r>
              <a:rPr lang="en-US" sz="3200" b="1" dirty="0">
                <a:solidFill>
                  <a:srgbClr val="203864"/>
                </a:solidFill>
                <a:effectLst/>
                <a:latin typeface="Times New Roman" panose="02020603050405020304" pitchFamily="18" charset="0"/>
                <a:cs typeface="Times New Roman" panose="02020603050405020304" pitchFamily="18" charset="0"/>
              </a:rPr>
              <a:t>TESTING</a:t>
            </a:r>
            <a:endParaRPr lang="en-IN" sz="3200" dirty="0">
              <a:effectLst/>
            </a:endParaRPr>
          </a:p>
        </p:txBody>
      </p:sp>
      <p:sp>
        <p:nvSpPr>
          <p:cNvPr id="11" name="TextBox 10">
            <a:extLst>
              <a:ext uri="{FF2B5EF4-FFF2-40B4-BE49-F238E27FC236}">
                <a16:creationId xmlns:a16="http://schemas.microsoft.com/office/drawing/2014/main" id="{E5EB5CB9-B34C-5F02-1B9E-5F922B04DD40}"/>
              </a:ext>
            </a:extLst>
          </p:cNvPr>
          <p:cNvSpPr txBox="1"/>
          <p:nvPr/>
        </p:nvSpPr>
        <p:spPr>
          <a:xfrm>
            <a:off x="224557" y="716443"/>
            <a:ext cx="8331232" cy="498663"/>
          </a:xfrm>
          <a:prstGeom prst="rect">
            <a:avLst/>
          </a:prstGeom>
          <a:noFill/>
        </p:spPr>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1. UNIT TESTING:</a:t>
            </a:r>
            <a:endParaRPr lang="en-IN" sz="2000" b="1" dirty="0">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6CAB1B0A-D10B-3FCA-0581-2DBC468B69FE}"/>
              </a:ext>
            </a:extLst>
          </p:cNvPr>
          <p:cNvGraphicFramePr>
            <a:graphicFrameLocks noGrp="1"/>
          </p:cNvGraphicFramePr>
          <p:nvPr>
            <p:extLst>
              <p:ext uri="{D42A27DB-BD31-4B8C-83A1-F6EECF244321}">
                <p14:modId xmlns:p14="http://schemas.microsoft.com/office/powerpoint/2010/main" val="74540893"/>
              </p:ext>
            </p:extLst>
          </p:nvPr>
        </p:nvGraphicFramePr>
        <p:xfrm>
          <a:off x="322729" y="1332578"/>
          <a:ext cx="8688854" cy="3679890"/>
        </p:xfrm>
        <a:graphic>
          <a:graphicData uri="http://schemas.openxmlformats.org/drawingml/2006/table">
            <a:tbl>
              <a:tblPr firstRow="1" bandRow="1"/>
              <a:tblGrid>
                <a:gridCol w="1307288">
                  <a:extLst>
                    <a:ext uri="{9D8B030D-6E8A-4147-A177-3AD203B41FA5}">
                      <a16:colId xmlns:a16="http://schemas.microsoft.com/office/drawing/2014/main" val="3548562719"/>
                    </a:ext>
                  </a:extLst>
                </a:gridCol>
                <a:gridCol w="2067340">
                  <a:extLst>
                    <a:ext uri="{9D8B030D-6E8A-4147-A177-3AD203B41FA5}">
                      <a16:colId xmlns:a16="http://schemas.microsoft.com/office/drawing/2014/main" val="1915633020"/>
                    </a:ext>
                  </a:extLst>
                </a:gridCol>
                <a:gridCol w="1288111">
                  <a:extLst>
                    <a:ext uri="{9D8B030D-6E8A-4147-A177-3AD203B41FA5}">
                      <a16:colId xmlns:a16="http://schemas.microsoft.com/office/drawing/2014/main" val="1832155160"/>
                    </a:ext>
                  </a:extLst>
                </a:gridCol>
                <a:gridCol w="1812897">
                  <a:extLst>
                    <a:ext uri="{9D8B030D-6E8A-4147-A177-3AD203B41FA5}">
                      <a16:colId xmlns:a16="http://schemas.microsoft.com/office/drawing/2014/main" val="708372134"/>
                    </a:ext>
                  </a:extLst>
                </a:gridCol>
                <a:gridCol w="1526651">
                  <a:extLst>
                    <a:ext uri="{9D8B030D-6E8A-4147-A177-3AD203B41FA5}">
                      <a16:colId xmlns:a16="http://schemas.microsoft.com/office/drawing/2014/main" val="3438480492"/>
                    </a:ext>
                  </a:extLst>
                </a:gridCol>
                <a:gridCol w="686567">
                  <a:extLst>
                    <a:ext uri="{9D8B030D-6E8A-4147-A177-3AD203B41FA5}">
                      <a16:colId xmlns:a16="http://schemas.microsoft.com/office/drawing/2014/main" val="2717388764"/>
                    </a:ext>
                  </a:extLst>
                </a:gridCol>
              </a:tblGrid>
              <a:tr h="448378">
                <a:tc>
                  <a:txBody>
                    <a:bodyPr/>
                    <a:lstStyle/>
                    <a:p>
                      <a:pPr algn="l">
                        <a:lnSpc>
                          <a:spcPct val="150000"/>
                        </a:lnSpc>
                      </a:pPr>
                      <a:r>
                        <a:rPr lang="en-IN" sz="1400" b="1" dirty="0">
                          <a:latin typeface="Times New Roman" panose="02020603050405020304" pitchFamily="18" charset="0"/>
                          <a:cs typeface="Times New Roman" panose="02020603050405020304" pitchFamily="18" charset="0"/>
                        </a:rPr>
                        <a:t>Test Name</a:t>
                      </a:r>
                    </a:p>
                  </a:txBody>
                  <a:tcPr>
                    <a:solidFill>
                      <a:schemeClr val="accent6">
                        <a:lumMod val="20000"/>
                        <a:lumOff val="80000"/>
                      </a:schemeClr>
                    </a:solidFill>
                  </a:tcPr>
                </a:tc>
                <a:tc>
                  <a:txBody>
                    <a:bodyPr/>
                    <a:lstStyle/>
                    <a:p>
                      <a:pPr algn="l">
                        <a:lnSpc>
                          <a:spcPct val="150000"/>
                        </a:lnSpc>
                      </a:pPr>
                      <a:r>
                        <a:rPr lang="en-IN" sz="1400" b="1" dirty="0">
                          <a:latin typeface="Times New Roman" panose="02020603050405020304" pitchFamily="18" charset="0"/>
                          <a:cs typeface="Times New Roman" panose="02020603050405020304" pitchFamily="18" charset="0"/>
                        </a:rPr>
                        <a:t>Test Description</a:t>
                      </a:r>
                    </a:p>
                  </a:txBody>
                  <a:tcPr>
                    <a:solidFill>
                      <a:schemeClr val="accent6">
                        <a:lumMod val="20000"/>
                        <a:lumOff val="80000"/>
                      </a:schemeClr>
                    </a:solidFill>
                  </a:tcPr>
                </a:tc>
                <a:tc>
                  <a:txBody>
                    <a:bodyPr/>
                    <a:lstStyle/>
                    <a:p>
                      <a:pPr algn="l">
                        <a:lnSpc>
                          <a:spcPct val="150000"/>
                        </a:lnSpc>
                      </a:pPr>
                      <a:r>
                        <a:rPr lang="en-IN" sz="1400" b="1" dirty="0">
                          <a:latin typeface="Times New Roman" panose="02020603050405020304" pitchFamily="18" charset="0"/>
                          <a:cs typeface="Times New Roman" panose="02020603050405020304" pitchFamily="18" charset="0"/>
                        </a:rPr>
                        <a:t>Input</a:t>
                      </a:r>
                    </a:p>
                  </a:txBody>
                  <a:tcPr>
                    <a:solidFill>
                      <a:schemeClr val="accent6">
                        <a:lumMod val="20000"/>
                        <a:lumOff val="80000"/>
                      </a:schemeClr>
                    </a:solidFill>
                  </a:tcPr>
                </a:tc>
                <a:tc>
                  <a:txBody>
                    <a:bodyPr/>
                    <a:lstStyle/>
                    <a:p>
                      <a:pPr algn="l">
                        <a:lnSpc>
                          <a:spcPct val="150000"/>
                        </a:lnSpc>
                      </a:pPr>
                      <a:r>
                        <a:rPr lang="en-IN" sz="1400" b="1" dirty="0">
                          <a:latin typeface="Times New Roman" panose="02020603050405020304" pitchFamily="18" charset="0"/>
                          <a:cs typeface="Times New Roman" panose="02020603050405020304" pitchFamily="18" charset="0"/>
                        </a:rPr>
                        <a:t>Expected Output</a:t>
                      </a:r>
                    </a:p>
                  </a:txBody>
                  <a:tcPr>
                    <a:solidFill>
                      <a:schemeClr val="accent6">
                        <a:lumMod val="20000"/>
                        <a:lumOff val="80000"/>
                      </a:schemeClr>
                    </a:solidFill>
                  </a:tcPr>
                </a:tc>
                <a:tc>
                  <a:txBody>
                    <a:bodyPr/>
                    <a:lstStyle/>
                    <a:p>
                      <a:pPr algn="l">
                        <a:lnSpc>
                          <a:spcPct val="150000"/>
                        </a:lnSpc>
                      </a:pPr>
                      <a:r>
                        <a:rPr lang="en-IN" sz="1400" b="1" dirty="0">
                          <a:latin typeface="Times New Roman" panose="02020603050405020304" pitchFamily="18" charset="0"/>
                          <a:cs typeface="Times New Roman" panose="02020603050405020304" pitchFamily="18" charset="0"/>
                        </a:rPr>
                        <a:t>Actual Output</a:t>
                      </a:r>
                    </a:p>
                  </a:txBody>
                  <a:tcPr>
                    <a:solidFill>
                      <a:schemeClr val="accent6">
                        <a:lumMod val="20000"/>
                        <a:lumOff val="80000"/>
                      </a:schemeClr>
                    </a:solidFill>
                  </a:tcPr>
                </a:tc>
                <a:tc>
                  <a:txBody>
                    <a:bodyPr/>
                    <a:lstStyle/>
                    <a:p>
                      <a:pPr algn="l">
                        <a:lnSpc>
                          <a:spcPct val="150000"/>
                        </a:lnSpc>
                      </a:pPr>
                      <a:r>
                        <a:rPr lang="en-IN" sz="1400" b="1" dirty="0">
                          <a:latin typeface="Times New Roman" panose="02020603050405020304" pitchFamily="18" charset="0"/>
                          <a:cs typeface="Times New Roman" panose="02020603050405020304" pitchFamily="18" charset="0"/>
                        </a:rPr>
                        <a:t>Test Result</a:t>
                      </a:r>
                    </a:p>
                  </a:txBody>
                  <a:tcPr>
                    <a:solidFill>
                      <a:schemeClr val="accent6">
                        <a:lumMod val="20000"/>
                        <a:lumOff val="80000"/>
                      </a:schemeClr>
                    </a:solidFill>
                  </a:tcPr>
                </a:tc>
                <a:extLst>
                  <a:ext uri="{0D108BD9-81ED-4DB2-BD59-A6C34878D82A}">
                    <a16:rowId xmlns:a16="http://schemas.microsoft.com/office/drawing/2014/main" val="3613306583"/>
                  </a:ext>
                </a:extLst>
              </a:tr>
              <a:tr h="280943">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Image file validation </a:t>
                      </a:r>
                    </a:p>
                    <a:p>
                      <a:pPr algn="l">
                        <a:lnSpc>
                          <a:spcPct val="150000"/>
                        </a:lnSpc>
                      </a:pPr>
                      <a:endParaRPr lang="en-IN" sz="1400" dirty="0">
                        <a:latin typeface="Times New Roman" panose="02020603050405020304" pitchFamily="18" charset="0"/>
                        <a:cs typeface="Times New Roman" panose="02020603050405020304" pitchFamily="18" charset="0"/>
                      </a:endParaRP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Validate supported image formats</a:t>
                      </a: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a:t>
                      </a:r>
                      <a:r>
                        <a:rPr lang="en-IN" sz="1400" dirty="0" err="1">
                          <a:latin typeface="Times New Roman" panose="02020603050405020304" pitchFamily="18" charset="0"/>
                          <a:cs typeface="Times New Roman" panose="02020603050405020304" pitchFamily="18" charset="0"/>
                        </a:rPr>
                        <a:t>png</a:t>
                      </a:r>
                      <a:r>
                        <a:rPr lang="en-IN" sz="1400" dirty="0">
                          <a:latin typeface="Times New Roman" panose="02020603050405020304" pitchFamily="18" charset="0"/>
                          <a:cs typeface="Times New Roman" panose="02020603050405020304" pitchFamily="18" charset="0"/>
                        </a:rPr>
                        <a:t>, .jpg, .jpeg, .pdf, .exe</a:t>
                      </a: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File accepted </a:t>
                      </a: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File accepted  </a:t>
                      </a: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Pass </a:t>
                      </a:r>
                    </a:p>
                  </a:txBody>
                  <a:tcPr/>
                </a:tc>
                <a:extLst>
                  <a:ext uri="{0D108BD9-81ED-4DB2-BD59-A6C34878D82A}">
                    <a16:rowId xmlns:a16="http://schemas.microsoft.com/office/drawing/2014/main" val="1630784236"/>
                  </a:ext>
                </a:extLst>
              </a:tr>
              <a:tr h="1544616">
                <a:tc>
                  <a:txBody>
                    <a:bodyPr/>
                    <a:lstStyle/>
                    <a:p>
                      <a:pPr algn="l">
                        <a:lnSpc>
                          <a:spcPct val="150000"/>
                        </a:lnSpc>
                      </a:pPr>
                      <a:r>
                        <a:rPr lang="en-IN" sz="1400" dirty="0">
                          <a:latin typeface="Times New Roman" panose="02020603050405020304" pitchFamily="18" charset="0"/>
                          <a:cs typeface="Times New Roman" panose="02020603050405020304" pitchFamily="18" charset="0"/>
                        </a:rPr>
                        <a:t>Image preprocessing </a:t>
                      </a:r>
                    </a:p>
                    <a:p>
                      <a:pPr algn="l">
                        <a:lnSpc>
                          <a:spcPct val="150000"/>
                        </a:lnSpc>
                      </a:pPr>
                      <a:endParaRPr lang="en-IN" sz="1400" dirty="0">
                        <a:latin typeface="Times New Roman" panose="02020603050405020304" pitchFamily="18" charset="0"/>
                        <a:cs typeface="Times New Roman" panose="02020603050405020304" pitchFamily="18" charset="0"/>
                      </a:endParaRPr>
                    </a:p>
                    <a:p>
                      <a:pPr algn="l">
                        <a:lnSpc>
                          <a:spcPct val="150000"/>
                        </a:lnSpc>
                      </a:pPr>
                      <a:r>
                        <a:rPr lang="en-IN" sz="1400" dirty="0">
                          <a:latin typeface="Times New Roman" panose="02020603050405020304" pitchFamily="18" charset="0"/>
                          <a:cs typeface="Times New Roman" panose="02020603050405020304" pitchFamily="18" charset="0"/>
                        </a:rPr>
                        <a:t>Model prediction </a:t>
                      </a: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Check resizing, grayscale conversion &amp;normalization </a:t>
                      </a:r>
                    </a:p>
                    <a:p>
                      <a:pPr algn="l">
                        <a:lnSpc>
                          <a:spcPct val="150000"/>
                        </a:lnSpc>
                      </a:pPr>
                      <a:r>
                        <a:rPr lang="en-IN" sz="1400" dirty="0">
                          <a:latin typeface="Times New Roman" panose="02020603050405020304" pitchFamily="18" charset="0"/>
                          <a:cs typeface="Times New Roman" panose="02020603050405020304" pitchFamily="18" charset="0"/>
                        </a:rPr>
                        <a:t>Validate </a:t>
                      </a:r>
                      <a:r>
                        <a:rPr lang="en-IN" sz="1400" dirty="0" err="1">
                          <a:latin typeface="Times New Roman" panose="02020603050405020304" pitchFamily="18" charset="0"/>
                          <a:cs typeface="Times New Roman" panose="02020603050405020304" pitchFamily="18" charset="0"/>
                        </a:rPr>
                        <a:t>Softmax</a:t>
                      </a:r>
                      <a:r>
                        <a:rPr lang="en-IN"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probability output </a:t>
                      </a:r>
                      <a:endParaRPr lang="en-IN" sz="1400" dirty="0">
                        <a:latin typeface="Times New Roman" panose="02020603050405020304" pitchFamily="18" charset="0"/>
                        <a:cs typeface="Times New Roman" panose="02020603050405020304" pitchFamily="18" charset="0"/>
                      </a:endParaRP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Uploaded image </a:t>
                      </a:r>
                    </a:p>
                    <a:p>
                      <a:pPr algn="l">
                        <a:lnSpc>
                          <a:spcPct val="150000"/>
                        </a:lnSpc>
                      </a:pPr>
                      <a:endParaRPr lang="en-IN" sz="1400" dirty="0">
                        <a:latin typeface="Times New Roman" panose="02020603050405020304" pitchFamily="18" charset="0"/>
                        <a:cs typeface="Times New Roman" panose="02020603050405020304" pitchFamily="18" charset="0"/>
                      </a:endParaRPr>
                    </a:p>
                    <a:p>
                      <a:pPr algn="l">
                        <a:lnSpc>
                          <a:spcPct val="150000"/>
                        </a:lnSpc>
                      </a:pPr>
                      <a:r>
                        <a:rPr lang="en-IN" sz="1400" dirty="0" err="1">
                          <a:latin typeface="Times New Roman" panose="02020603050405020304" pitchFamily="18" charset="0"/>
                          <a:cs typeface="Times New Roman" panose="02020603050405020304" pitchFamily="18" charset="0"/>
                        </a:rPr>
                        <a:t>Preprocessed</a:t>
                      </a:r>
                      <a:r>
                        <a:rPr lang="en-IN" sz="1400" dirty="0">
                          <a:latin typeface="Times New Roman" panose="02020603050405020304" pitchFamily="18" charset="0"/>
                          <a:cs typeface="Times New Roman" panose="02020603050405020304" pitchFamily="18" charset="0"/>
                        </a:rPr>
                        <a:t> tensor </a:t>
                      </a: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Tensor(1x1x128x128)</a:t>
                      </a:r>
                    </a:p>
                    <a:p>
                      <a:pPr algn="l">
                        <a:lnSpc>
                          <a:spcPct val="150000"/>
                        </a:lnSpc>
                      </a:pPr>
                      <a:endParaRPr lang="en-IN" sz="1400" dirty="0">
                        <a:latin typeface="Times New Roman" panose="02020603050405020304" pitchFamily="18" charset="0"/>
                        <a:cs typeface="Times New Roman" panose="02020603050405020304" pitchFamily="18" charset="0"/>
                      </a:endParaRPr>
                    </a:p>
                    <a:p>
                      <a:pPr algn="l">
                        <a:lnSpc>
                          <a:spcPct val="150000"/>
                        </a:lnSpc>
                      </a:pPr>
                      <a:endParaRPr lang="en-IN" sz="1400" dirty="0">
                        <a:latin typeface="Times New Roman" panose="02020603050405020304" pitchFamily="18" charset="0"/>
                        <a:cs typeface="Times New Roman" panose="02020603050405020304" pitchFamily="18" charset="0"/>
                      </a:endParaRPr>
                    </a:p>
                    <a:p>
                      <a:pPr algn="l">
                        <a:lnSpc>
                          <a:spcPct val="150000"/>
                        </a:lnSpc>
                      </a:pPr>
                      <a:r>
                        <a:rPr lang="en-IN" sz="1400" dirty="0">
                          <a:latin typeface="Times New Roman" panose="02020603050405020304" pitchFamily="18" charset="0"/>
                          <a:cs typeface="Times New Roman" panose="02020603050405020304" pitchFamily="18" charset="0"/>
                        </a:rPr>
                        <a:t>Two-class probability (Ransomware /Legitimate)</a:t>
                      </a: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Correct tensor generated </a:t>
                      </a:r>
                    </a:p>
                    <a:p>
                      <a:pPr algn="l">
                        <a:lnSpc>
                          <a:spcPct val="150000"/>
                        </a:lnSpc>
                      </a:pPr>
                      <a:endParaRPr lang="en-IN" sz="1400" dirty="0">
                        <a:latin typeface="Times New Roman" panose="02020603050405020304" pitchFamily="18" charset="0"/>
                        <a:cs typeface="Times New Roman" panose="02020603050405020304" pitchFamily="18" charset="0"/>
                      </a:endParaRPr>
                    </a:p>
                    <a:p>
                      <a:pPr algn="l">
                        <a:lnSpc>
                          <a:spcPct val="150000"/>
                        </a:lnSpc>
                      </a:pPr>
                      <a:r>
                        <a:rPr lang="en-IN" sz="1400" dirty="0">
                          <a:latin typeface="Times New Roman" panose="02020603050405020304" pitchFamily="18" charset="0"/>
                          <a:cs typeface="Times New Roman" panose="02020603050405020304" pitchFamily="18" charset="0"/>
                        </a:rPr>
                        <a:t>Correct probabilities returned </a:t>
                      </a: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Pass</a:t>
                      </a:r>
                    </a:p>
                    <a:p>
                      <a:pPr algn="l">
                        <a:lnSpc>
                          <a:spcPct val="150000"/>
                        </a:lnSpc>
                      </a:pPr>
                      <a:endParaRPr lang="en-IN" sz="1400" dirty="0">
                        <a:latin typeface="Times New Roman" panose="02020603050405020304" pitchFamily="18" charset="0"/>
                        <a:cs typeface="Times New Roman" panose="02020603050405020304" pitchFamily="18" charset="0"/>
                      </a:endParaRPr>
                    </a:p>
                    <a:p>
                      <a:pPr algn="l">
                        <a:lnSpc>
                          <a:spcPct val="150000"/>
                        </a:lnSpc>
                      </a:pPr>
                      <a:endParaRPr lang="en-IN" sz="1400" dirty="0">
                        <a:latin typeface="Times New Roman" panose="02020603050405020304" pitchFamily="18" charset="0"/>
                        <a:cs typeface="Times New Roman" panose="02020603050405020304" pitchFamily="18" charset="0"/>
                      </a:endParaRPr>
                    </a:p>
                    <a:p>
                      <a:pPr algn="l">
                        <a:lnSpc>
                          <a:spcPct val="150000"/>
                        </a:lnSpc>
                      </a:pPr>
                      <a:r>
                        <a:rPr lang="en-IN" sz="1400" dirty="0">
                          <a:latin typeface="Times New Roman" panose="02020603050405020304" pitchFamily="18" charset="0"/>
                          <a:cs typeface="Times New Roman" panose="02020603050405020304" pitchFamily="18" charset="0"/>
                        </a:rPr>
                        <a:t>Pass</a:t>
                      </a:r>
                    </a:p>
                    <a:p>
                      <a:pPr algn="l">
                        <a:lnSpc>
                          <a:spcPct val="150000"/>
                        </a:lnSpc>
                      </a:pPr>
                      <a:endParaRPr lang="en-IN" sz="1400" dirty="0">
                        <a:latin typeface="Times New Roman" panose="02020603050405020304" pitchFamily="18" charset="0"/>
                        <a:cs typeface="Times New Roman" panose="02020603050405020304" pitchFamily="18" charset="0"/>
                      </a:endParaRPr>
                    </a:p>
                    <a:p>
                      <a:pPr algn="l">
                        <a:lnSpc>
                          <a:spcPct val="150000"/>
                        </a:lnSpc>
                      </a:pP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60505593"/>
                  </a:ext>
                </a:extLst>
              </a:tr>
            </a:tbl>
          </a:graphicData>
        </a:graphic>
      </p:graphicFrame>
      <p:cxnSp>
        <p:nvCxnSpPr>
          <p:cNvPr id="30" name="Straight Connector 29">
            <a:extLst>
              <a:ext uri="{FF2B5EF4-FFF2-40B4-BE49-F238E27FC236}">
                <a16:creationId xmlns:a16="http://schemas.microsoft.com/office/drawing/2014/main" id="{5B9F4001-66DF-05E1-31C9-289E620073E8}"/>
              </a:ext>
            </a:extLst>
          </p:cNvPr>
          <p:cNvCxnSpPr>
            <a:cxnSpLocks/>
          </p:cNvCxnSpPr>
          <p:nvPr/>
        </p:nvCxnSpPr>
        <p:spPr>
          <a:xfrm>
            <a:off x="322729" y="4029585"/>
            <a:ext cx="8688854" cy="0"/>
          </a:xfrm>
          <a:prstGeom prst="line">
            <a:avLst/>
          </a:prstGeom>
          <a:ln/>
        </p:spPr>
        <p:style>
          <a:lnRef idx="3">
            <a:schemeClr val="dk1"/>
          </a:lnRef>
          <a:fillRef idx="0">
            <a:schemeClr val="dk1"/>
          </a:fillRef>
          <a:effectRef idx="2">
            <a:schemeClr val="dk1"/>
          </a:effectRef>
          <a:fontRef idx="minor">
            <a:schemeClr val="tx1"/>
          </a:fontRef>
        </p:style>
      </p:cxnSp>
      <p:pic>
        <p:nvPicPr>
          <p:cNvPr id="3" name="Picture 2">
            <a:extLst>
              <a:ext uri="{FF2B5EF4-FFF2-40B4-BE49-F238E27FC236}">
                <a16:creationId xmlns:a16="http://schemas.microsoft.com/office/drawing/2014/main" id="{91852123-1C1B-1AFB-1449-51A3F77C1F8F}"/>
              </a:ext>
            </a:extLst>
          </p:cNvPr>
          <p:cNvPicPr>
            <a:picLocks noChangeAspect="1"/>
          </p:cNvPicPr>
          <p:nvPr/>
        </p:nvPicPr>
        <p:blipFill>
          <a:blip r:embed="rId2"/>
          <a:stretch>
            <a:fillRect/>
          </a:stretch>
        </p:blipFill>
        <p:spPr>
          <a:xfrm>
            <a:off x="7794928" y="84565"/>
            <a:ext cx="1143000" cy="695325"/>
          </a:xfrm>
          <a:prstGeom prst="rect">
            <a:avLst/>
          </a:prstGeom>
        </p:spPr>
      </p:pic>
    </p:spTree>
    <p:extLst>
      <p:ext uri="{BB962C8B-B14F-4D97-AF65-F5344CB8AC3E}">
        <p14:creationId xmlns:p14="http://schemas.microsoft.com/office/powerpoint/2010/main" val="3305243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D4B6698-E4E3-97DF-9876-833A64E544D2}"/>
              </a:ext>
            </a:extLst>
          </p:cNvPr>
          <p:cNvGraphicFramePr>
            <a:graphicFrameLocks noGrp="1"/>
          </p:cNvGraphicFramePr>
          <p:nvPr>
            <p:extLst>
              <p:ext uri="{D42A27DB-BD31-4B8C-83A1-F6EECF244321}">
                <p14:modId xmlns:p14="http://schemas.microsoft.com/office/powerpoint/2010/main" val="2229230560"/>
              </p:ext>
            </p:extLst>
          </p:nvPr>
        </p:nvGraphicFramePr>
        <p:xfrm>
          <a:off x="77725" y="855417"/>
          <a:ext cx="8988550" cy="3733040"/>
        </p:xfrm>
        <a:graphic>
          <a:graphicData uri="http://schemas.openxmlformats.org/drawingml/2006/table">
            <a:tbl>
              <a:tblPr firstRow="1" bandRow="1"/>
              <a:tblGrid>
                <a:gridCol w="1791680">
                  <a:extLst>
                    <a:ext uri="{9D8B030D-6E8A-4147-A177-3AD203B41FA5}">
                      <a16:colId xmlns:a16="http://schemas.microsoft.com/office/drawing/2014/main" val="3539242059"/>
                    </a:ext>
                  </a:extLst>
                </a:gridCol>
                <a:gridCol w="1692781">
                  <a:extLst>
                    <a:ext uri="{9D8B030D-6E8A-4147-A177-3AD203B41FA5}">
                      <a16:colId xmlns:a16="http://schemas.microsoft.com/office/drawing/2014/main" val="1781767413"/>
                    </a:ext>
                  </a:extLst>
                </a:gridCol>
                <a:gridCol w="1327868">
                  <a:extLst>
                    <a:ext uri="{9D8B030D-6E8A-4147-A177-3AD203B41FA5}">
                      <a16:colId xmlns:a16="http://schemas.microsoft.com/office/drawing/2014/main" val="781674513"/>
                    </a:ext>
                  </a:extLst>
                </a:gridCol>
                <a:gridCol w="1297473">
                  <a:extLst>
                    <a:ext uri="{9D8B030D-6E8A-4147-A177-3AD203B41FA5}">
                      <a16:colId xmlns:a16="http://schemas.microsoft.com/office/drawing/2014/main" val="3143283742"/>
                    </a:ext>
                  </a:extLst>
                </a:gridCol>
                <a:gridCol w="1922805">
                  <a:extLst>
                    <a:ext uri="{9D8B030D-6E8A-4147-A177-3AD203B41FA5}">
                      <a16:colId xmlns:a16="http://schemas.microsoft.com/office/drawing/2014/main" val="4012402201"/>
                    </a:ext>
                  </a:extLst>
                </a:gridCol>
                <a:gridCol w="955943">
                  <a:extLst>
                    <a:ext uri="{9D8B030D-6E8A-4147-A177-3AD203B41FA5}">
                      <a16:colId xmlns:a16="http://schemas.microsoft.com/office/drawing/2014/main" val="3125972411"/>
                    </a:ext>
                  </a:extLst>
                </a:gridCol>
              </a:tblGrid>
              <a:tr h="513416">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Test Name</a:t>
                      </a:r>
                    </a:p>
                  </a:txBody>
                  <a:tcPr>
                    <a:solidFill>
                      <a:schemeClr val="accent6">
                        <a:lumMod val="20000"/>
                        <a:lumOff val="80000"/>
                      </a:schemeClr>
                    </a:solidFill>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Test Description</a:t>
                      </a:r>
                    </a:p>
                  </a:txBody>
                  <a:tcPr>
                    <a:solidFill>
                      <a:schemeClr val="accent6">
                        <a:lumMod val="20000"/>
                        <a:lumOff val="80000"/>
                      </a:schemeClr>
                    </a:solidFill>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Input</a:t>
                      </a:r>
                    </a:p>
                  </a:txBody>
                  <a:tcPr>
                    <a:solidFill>
                      <a:schemeClr val="accent6">
                        <a:lumMod val="20000"/>
                        <a:lumOff val="80000"/>
                      </a:schemeClr>
                    </a:solidFill>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Expected output </a:t>
                      </a:r>
                    </a:p>
                  </a:txBody>
                  <a:tcPr>
                    <a:solidFill>
                      <a:schemeClr val="accent6">
                        <a:lumMod val="20000"/>
                        <a:lumOff val="80000"/>
                      </a:schemeClr>
                    </a:solidFill>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Actual output </a:t>
                      </a:r>
                    </a:p>
                  </a:txBody>
                  <a:tcPr>
                    <a:solidFill>
                      <a:schemeClr val="accent6">
                        <a:lumMod val="20000"/>
                        <a:lumOff val="80000"/>
                      </a:schemeClr>
                    </a:solidFill>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Results </a:t>
                      </a:r>
                    </a:p>
                  </a:txBody>
                  <a:tcPr>
                    <a:solidFill>
                      <a:schemeClr val="accent6">
                        <a:lumMod val="20000"/>
                        <a:lumOff val="80000"/>
                      </a:schemeClr>
                    </a:solidFill>
                  </a:tcPr>
                </a:tc>
                <a:extLst>
                  <a:ext uri="{0D108BD9-81ED-4DB2-BD59-A6C34878D82A}">
                    <a16:rowId xmlns:a16="http://schemas.microsoft.com/office/drawing/2014/main" val="199658223"/>
                  </a:ext>
                </a:extLst>
              </a:tr>
              <a:tr h="754433">
                <a:tc>
                  <a:txBody>
                    <a:bodyPr/>
                    <a:lstStyle/>
                    <a:p>
                      <a:pPr algn="l">
                        <a:lnSpc>
                          <a:spcPct val="150000"/>
                        </a:lnSpc>
                      </a:pPr>
                      <a:r>
                        <a:rPr lang="en-US" sz="1400" dirty="0">
                          <a:latin typeface="Times New Roman" panose="02020603050405020304" pitchFamily="18" charset="0"/>
                          <a:cs typeface="Times New Roman" panose="02020603050405020304" pitchFamily="18" charset="0"/>
                        </a:rPr>
                        <a:t>Full pipeline execution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Test upload-&gt; preprocess -&gt;  predict flow</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Normal image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Legitimate file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Legitimate file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Pass</a:t>
                      </a:r>
                    </a:p>
                    <a:p>
                      <a:pPr algn="l">
                        <a:lnSpc>
                          <a:spcPct val="150000"/>
                        </a:lnSpc>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85983851"/>
                  </a:ext>
                </a:extLst>
              </a:tr>
              <a:tr h="487544">
                <a:tc>
                  <a:txBody>
                    <a:bodyPr/>
                    <a:lstStyle/>
                    <a:p>
                      <a:pPr algn="l">
                        <a:lnSpc>
                          <a:spcPct val="150000"/>
                        </a:lnSpc>
                      </a:pPr>
                      <a:r>
                        <a:rPr lang="en-US" sz="1400" dirty="0">
                          <a:latin typeface="Times New Roman" panose="02020603050405020304" pitchFamily="18" charset="0"/>
                          <a:cs typeface="Times New Roman" panose="02020603050405020304" pitchFamily="18" charset="0"/>
                        </a:rPr>
                        <a:t>Ransomware detection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Check if CNN detects malicious image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Ransomware image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Ransomware detected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Successfully detected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Pass</a:t>
                      </a:r>
                    </a:p>
                    <a:p>
                      <a:pPr algn="l">
                        <a:lnSpc>
                          <a:spcPct val="150000"/>
                        </a:lnSpc>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32490190"/>
                  </a:ext>
                </a:extLst>
              </a:tr>
              <a:tr h="418131">
                <a:tc>
                  <a:txBody>
                    <a:bodyPr/>
                    <a:lstStyle/>
                    <a:p>
                      <a:pPr algn="l">
                        <a:lnSpc>
                          <a:spcPct val="150000"/>
                        </a:lnSpc>
                      </a:pPr>
                      <a:r>
                        <a:rPr lang="en-US" sz="1400" dirty="0">
                          <a:latin typeface="Times New Roman" panose="02020603050405020304" pitchFamily="18" charset="0"/>
                          <a:cs typeface="Times New Roman" panose="02020603050405020304" pitchFamily="18" charset="0"/>
                        </a:rPr>
                        <a:t>Alert function trigger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Validate Twilio call after detection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Prediction = ransomware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Phone call initiated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Call triggered successfully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Pass</a:t>
                      </a:r>
                    </a:p>
                    <a:p>
                      <a:pPr algn="l">
                        <a:lnSpc>
                          <a:spcPct val="150000"/>
                        </a:lnSpc>
                      </a:pPr>
                      <a:endParaRPr lang="en-US" sz="1400" dirty="0">
                        <a:latin typeface="Times New Roman" panose="02020603050405020304" pitchFamily="18" charset="0"/>
                        <a:cs typeface="Times New Roman" panose="02020603050405020304" pitchFamily="18" charset="0"/>
                      </a:endParaRPr>
                    </a:p>
                    <a:p>
                      <a:pPr algn="l">
                        <a:lnSpc>
                          <a:spcPct val="150000"/>
                        </a:lnSpc>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16332667"/>
                  </a:ext>
                </a:extLst>
              </a:tr>
            </a:tbl>
          </a:graphicData>
        </a:graphic>
      </p:graphicFrame>
      <p:sp>
        <p:nvSpPr>
          <p:cNvPr id="6" name="TextBox 5">
            <a:extLst>
              <a:ext uri="{FF2B5EF4-FFF2-40B4-BE49-F238E27FC236}">
                <a16:creationId xmlns:a16="http://schemas.microsoft.com/office/drawing/2014/main" id="{D62FDE7B-8A4A-CD80-E1B3-7368BAAA3232}"/>
              </a:ext>
            </a:extLst>
          </p:cNvPr>
          <p:cNvSpPr txBox="1"/>
          <p:nvPr/>
        </p:nvSpPr>
        <p:spPr>
          <a:xfrm>
            <a:off x="-65401" y="74223"/>
            <a:ext cx="8915399" cy="498663"/>
          </a:xfrm>
          <a:prstGeom prst="rect">
            <a:avLst/>
          </a:prstGeom>
          <a:noFill/>
        </p:spPr>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2. INTEGRATED TESTING:</a:t>
            </a:r>
            <a:endParaRPr lang="en-IN" sz="2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5BCB878-0398-07A8-325F-2012E8B9B812}"/>
              </a:ext>
            </a:extLst>
          </p:cNvPr>
          <p:cNvPicPr>
            <a:picLocks noChangeAspect="1"/>
          </p:cNvPicPr>
          <p:nvPr/>
        </p:nvPicPr>
        <p:blipFill>
          <a:blip r:embed="rId2"/>
          <a:stretch>
            <a:fillRect/>
          </a:stretch>
        </p:blipFill>
        <p:spPr>
          <a:xfrm>
            <a:off x="7886697" y="84565"/>
            <a:ext cx="1143000" cy="695325"/>
          </a:xfrm>
          <a:prstGeom prst="rect">
            <a:avLst/>
          </a:prstGeom>
        </p:spPr>
      </p:pic>
    </p:spTree>
    <p:extLst>
      <p:ext uri="{BB962C8B-B14F-4D97-AF65-F5344CB8AC3E}">
        <p14:creationId xmlns:p14="http://schemas.microsoft.com/office/powerpoint/2010/main" val="2773921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CF1DD8D-5CC8-458C-DEEF-66AB37651F97}"/>
              </a:ext>
            </a:extLst>
          </p:cNvPr>
          <p:cNvSpPr txBox="1"/>
          <p:nvPr/>
        </p:nvSpPr>
        <p:spPr>
          <a:xfrm>
            <a:off x="0" y="205860"/>
            <a:ext cx="8380674" cy="498663"/>
          </a:xfrm>
          <a:prstGeom prst="rect">
            <a:avLst/>
          </a:prstGeom>
          <a:noFill/>
        </p:spPr>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3. SYSTEM TESTING:</a:t>
            </a:r>
            <a:endParaRPr lang="en-IN" sz="2000" b="1"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CF2002D0-56D8-6918-5DB2-2287C0EBB34A}"/>
              </a:ext>
            </a:extLst>
          </p:cNvPr>
          <p:cNvGraphicFramePr>
            <a:graphicFrameLocks noGrp="1"/>
          </p:cNvGraphicFramePr>
          <p:nvPr>
            <p:extLst>
              <p:ext uri="{D42A27DB-BD31-4B8C-83A1-F6EECF244321}">
                <p14:modId xmlns:p14="http://schemas.microsoft.com/office/powerpoint/2010/main" val="2694186388"/>
              </p:ext>
            </p:extLst>
          </p:nvPr>
        </p:nvGraphicFramePr>
        <p:xfrm>
          <a:off x="294197" y="860503"/>
          <a:ext cx="8507898" cy="3413000"/>
        </p:xfrm>
        <a:graphic>
          <a:graphicData uri="http://schemas.openxmlformats.org/drawingml/2006/table">
            <a:tbl>
              <a:tblPr firstRow="1" bandRow="1"/>
              <a:tblGrid>
                <a:gridCol w="1417983">
                  <a:extLst>
                    <a:ext uri="{9D8B030D-6E8A-4147-A177-3AD203B41FA5}">
                      <a16:colId xmlns:a16="http://schemas.microsoft.com/office/drawing/2014/main" val="1359752278"/>
                    </a:ext>
                  </a:extLst>
                </a:gridCol>
                <a:gridCol w="1417983">
                  <a:extLst>
                    <a:ext uri="{9D8B030D-6E8A-4147-A177-3AD203B41FA5}">
                      <a16:colId xmlns:a16="http://schemas.microsoft.com/office/drawing/2014/main" val="774833086"/>
                    </a:ext>
                  </a:extLst>
                </a:gridCol>
                <a:gridCol w="1417983">
                  <a:extLst>
                    <a:ext uri="{9D8B030D-6E8A-4147-A177-3AD203B41FA5}">
                      <a16:colId xmlns:a16="http://schemas.microsoft.com/office/drawing/2014/main" val="4163068893"/>
                    </a:ext>
                  </a:extLst>
                </a:gridCol>
                <a:gridCol w="1417983">
                  <a:extLst>
                    <a:ext uri="{9D8B030D-6E8A-4147-A177-3AD203B41FA5}">
                      <a16:colId xmlns:a16="http://schemas.microsoft.com/office/drawing/2014/main" val="1499243223"/>
                    </a:ext>
                  </a:extLst>
                </a:gridCol>
                <a:gridCol w="1417983">
                  <a:extLst>
                    <a:ext uri="{9D8B030D-6E8A-4147-A177-3AD203B41FA5}">
                      <a16:colId xmlns:a16="http://schemas.microsoft.com/office/drawing/2014/main" val="3722389521"/>
                    </a:ext>
                  </a:extLst>
                </a:gridCol>
                <a:gridCol w="1417983">
                  <a:extLst>
                    <a:ext uri="{9D8B030D-6E8A-4147-A177-3AD203B41FA5}">
                      <a16:colId xmlns:a16="http://schemas.microsoft.com/office/drawing/2014/main" val="2856498102"/>
                    </a:ext>
                  </a:extLst>
                </a:gridCol>
              </a:tblGrid>
              <a:tr h="370840">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Test name </a:t>
                      </a:r>
                    </a:p>
                  </a:txBody>
                  <a:tcPr>
                    <a:solidFill>
                      <a:schemeClr val="accent6">
                        <a:lumMod val="20000"/>
                        <a:lumOff val="80000"/>
                      </a:schemeClr>
                    </a:solidFill>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Test Description </a:t>
                      </a:r>
                    </a:p>
                  </a:txBody>
                  <a:tcPr>
                    <a:solidFill>
                      <a:schemeClr val="accent6">
                        <a:lumMod val="20000"/>
                        <a:lumOff val="80000"/>
                      </a:schemeClr>
                    </a:solidFill>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Input </a:t>
                      </a:r>
                    </a:p>
                  </a:txBody>
                  <a:tcPr>
                    <a:solidFill>
                      <a:schemeClr val="accent6">
                        <a:lumMod val="20000"/>
                        <a:lumOff val="80000"/>
                      </a:schemeClr>
                    </a:solidFill>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Expected output </a:t>
                      </a:r>
                    </a:p>
                  </a:txBody>
                  <a:tcPr>
                    <a:solidFill>
                      <a:schemeClr val="accent6">
                        <a:lumMod val="20000"/>
                        <a:lumOff val="80000"/>
                      </a:schemeClr>
                    </a:solidFill>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Actual output </a:t>
                      </a:r>
                    </a:p>
                  </a:txBody>
                  <a:tcPr>
                    <a:solidFill>
                      <a:schemeClr val="accent6">
                        <a:lumMod val="20000"/>
                        <a:lumOff val="80000"/>
                      </a:schemeClr>
                    </a:solidFill>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Results</a:t>
                      </a:r>
                    </a:p>
                  </a:txBody>
                  <a:tcPr>
                    <a:solidFill>
                      <a:schemeClr val="accent6">
                        <a:lumMod val="20000"/>
                        <a:lumOff val="80000"/>
                      </a:schemeClr>
                    </a:solidFill>
                  </a:tcPr>
                </a:tc>
                <a:extLst>
                  <a:ext uri="{0D108BD9-81ED-4DB2-BD59-A6C34878D82A}">
                    <a16:rowId xmlns:a16="http://schemas.microsoft.com/office/drawing/2014/main" val="2192581163"/>
                  </a:ext>
                </a:extLst>
              </a:tr>
              <a:tr h="370840">
                <a:tc>
                  <a:txBody>
                    <a:bodyPr/>
                    <a:lstStyle/>
                    <a:p>
                      <a:pPr algn="l">
                        <a:lnSpc>
                          <a:spcPct val="150000"/>
                        </a:lnSpc>
                      </a:pPr>
                      <a:r>
                        <a:rPr lang="en-US" sz="1400" dirty="0">
                          <a:latin typeface="Times New Roman" panose="02020603050405020304" pitchFamily="18" charset="0"/>
                          <a:cs typeface="Times New Roman" panose="02020603050405020304" pitchFamily="18" charset="0"/>
                        </a:rPr>
                        <a:t>End –to-end workflow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Validate entire system performance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Image uploaded via web UI</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Full workflow completes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Work correctly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Pass </a:t>
                      </a:r>
                    </a:p>
                  </a:txBody>
                  <a:tcPr/>
                </a:tc>
                <a:extLst>
                  <a:ext uri="{0D108BD9-81ED-4DB2-BD59-A6C34878D82A}">
                    <a16:rowId xmlns:a16="http://schemas.microsoft.com/office/drawing/2014/main" val="1894603676"/>
                  </a:ext>
                </a:extLst>
              </a:tr>
              <a:tr h="370840">
                <a:tc>
                  <a:txBody>
                    <a:bodyPr/>
                    <a:lstStyle/>
                    <a:p>
                      <a:pPr algn="l">
                        <a:lnSpc>
                          <a:spcPct val="150000"/>
                        </a:lnSpc>
                      </a:pPr>
                      <a:r>
                        <a:rPr lang="en-US" sz="1400" dirty="0">
                          <a:latin typeface="Times New Roman" panose="02020603050405020304" pitchFamily="18" charset="0"/>
                          <a:cs typeface="Times New Roman" panose="02020603050405020304" pitchFamily="18" charset="0"/>
                        </a:rPr>
                        <a:t>Response time check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Measure system speed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Multiple test images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&lt; 2 sec response time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1.2-1.5 sec observed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Pass</a:t>
                      </a:r>
                    </a:p>
                    <a:p>
                      <a:pPr algn="l">
                        <a:lnSpc>
                          <a:spcPct val="150000"/>
                        </a:lnSpc>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3812517"/>
                  </a:ext>
                </a:extLst>
              </a:tr>
              <a:tr h="962334">
                <a:tc>
                  <a:txBody>
                    <a:bodyPr/>
                    <a:lstStyle/>
                    <a:p>
                      <a:pPr algn="l">
                        <a:lnSpc>
                          <a:spcPct val="150000"/>
                        </a:lnSpc>
                      </a:pPr>
                      <a:r>
                        <a:rPr lang="en-US" sz="1400" dirty="0">
                          <a:latin typeface="Times New Roman" panose="02020603050405020304" pitchFamily="18" charset="0"/>
                          <a:cs typeface="Times New Roman" panose="02020603050405020304" pitchFamily="18" charset="0"/>
                        </a:rPr>
                        <a:t>Error handling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Validate </a:t>
                      </a:r>
                      <a:r>
                        <a:rPr lang="en-US" sz="1400" dirty="0" err="1">
                          <a:latin typeface="Times New Roman" panose="02020603050405020304" pitchFamily="18" charset="0"/>
                          <a:cs typeface="Times New Roman" panose="02020603050405020304" pitchFamily="18" charset="0"/>
                        </a:rPr>
                        <a:t>behaviour</a:t>
                      </a:r>
                      <a:r>
                        <a:rPr lang="en-US" sz="1400" dirty="0">
                          <a:latin typeface="Times New Roman" panose="02020603050405020304" pitchFamily="18" charset="0"/>
                          <a:cs typeface="Times New Roman" panose="02020603050405020304" pitchFamily="18" charset="0"/>
                        </a:rPr>
                        <a:t> for invalid inputs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apk</a:t>
                      </a:r>
                      <a:r>
                        <a:rPr lang="en-US" sz="1400" dirty="0">
                          <a:latin typeface="Times New Roman" panose="02020603050405020304" pitchFamily="18" charset="0"/>
                          <a:cs typeface="Times New Roman" panose="02020603050405020304" pitchFamily="18" charset="0"/>
                        </a:rPr>
                        <a:t>, .doc, corrupt image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“Invalid file format “ error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Error displayed correctly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Pass</a:t>
                      </a:r>
                    </a:p>
                    <a:p>
                      <a:pPr algn="l">
                        <a:lnSpc>
                          <a:spcPct val="150000"/>
                        </a:lnSpc>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33605375"/>
                  </a:ext>
                </a:extLst>
              </a:tr>
            </a:tbl>
          </a:graphicData>
        </a:graphic>
      </p:graphicFrame>
      <p:pic>
        <p:nvPicPr>
          <p:cNvPr id="2" name="Picture 1">
            <a:extLst>
              <a:ext uri="{FF2B5EF4-FFF2-40B4-BE49-F238E27FC236}">
                <a16:creationId xmlns:a16="http://schemas.microsoft.com/office/drawing/2014/main" id="{1200EF8C-4348-F79E-055A-0B6335A02ACF}"/>
              </a:ext>
            </a:extLst>
          </p:cNvPr>
          <p:cNvPicPr>
            <a:picLocks noChangeAspect="1"/>
          </p:cNvPicPr>
          <p:nvPr/>
        </p:nvPicPr>
        <p:blipFill>
          <a:blip r:embed="rId2"/>
          <a:stretch>
            <a:fillRect/>
          </a:stretch>
        </p:blipFill>
        <p:spPr>
          <a:xfrm>
            <a:off x="7794928" y="84565"/>
            <a:ext cx="1143000" cy="695325"/>
          </a:xfrm>
          <a:prstGeom prst="rect">
            <a:avLst/>
          </a:prstGeom>
        </p:spPr>
      </p:pic>
    </p:spTree>
    <p:extLst>
      <p:ext uri="{BB962C8B-B14F-4D97-AF65-F5344CB8AC3E}">
        <p14:creationId xmlns:p14="http://schemas.microsoft.com/office/powerpoint/2010/main" val="1949374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DAE8A8-D825-52E3-8C2C-7B1B8BBC9CFC}"/>
              </a:ext>
            </a:extLst>
          </p:cNvPr>
          <p:cNvSpPr txBox="1"/>
          <p:nvPr/>
        </p:nvSpPr>
        <p:spPr>
          <a:xfrm>
            <a:off x="120315" y="85852"/>
            <a:ext cx="8785479" cy="584775"/>
          </a:xfrm>
          <a:prstGeom prst="rect">
            <a:avLst/>
          </a:prstGeom>
          <a:noFill/>
        </p:spPr>
        <p:txBody>
          <a:bodyPr wrap="square">
            <a:spAutoFit/>
          </a:bodyPr>
          <a:lstStyle/>
          <a:p>
            <a:pPr marL="0" indent="0" algn="ctr">
              <a:buNone/>
            </a:pPr>
            <a:r>
              <a:rPr lang="en-US" sz="3200" b="1" dirty="0">
                <a:solidFill>
                  <a:schemeClr val="accent1">
                    <a:lumMod val="50000"/>
                  </a:schemeClr>
                </a:solidFill>
                <a:latin typeface="Times New Roman" panose="02020603050405020304" pitchFamily="18" charset="0"/>
                <a:cs typeface="Times New Roman" panose="02020603050405020304" pitchFamily="18" charset="0"/>
              </a:rPr>
              <a:t>SCREENSHOTS OF OUTPUTS </a:t>
            </a:r>
            <a:endParaRPr lang="en-US" sz="3200"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33FD276-0644-D977-0970-8BC9BA4B2A05}"/>
              </a:ext>
            </a:extLst>
          </p:cNvPr>
          <p:cNvPicPr>
            <a:picLocks noChangeAspect="1"/>
          </p:cNvPicPr>
          <p:nvPr/>
        </p:nvPicPr>
        <p:blipFill>
          <a:blip r:embed="rId2"/>
          <a:stretch>
            <a:fillRect/>
          </a:stretch>
        </p:blipFill>
        <p:spPr>
          <a:xfrm>
            <a:off x="4145611" y="707285"/>
            <a:ext cx="4851623" cy="4387021"/>
          </a:xfrm>
          <a:prstGeom prst="rect">
            <a:avLst/>
          </a:prstGeom>
        </p:spPr>
      </p:pic>
      <p:pic>
        <p:nvPicPr>
          <p:cNvPr id="4" name="Picture 3">
            <a:extLst>
              <a:ext uri="{FF2B5EF4-FFF2-40B4-BE49-F238E27FC236}">
                <a16:creationId xmlns:a16="http://schemas.microsoft.com/office/drawing/2014/main" id="{008BE1F3-4730-B00C-EA29-C46B5B79D1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1380" y="15204"/>
            <a:ext cx="1145854" cy="692081"/>
          </a:xfrm>
          <a:prstGeom prst="rect">
            <a:avLst/>
          </a:prstGeom>
        </p:spPr>
      </p:pic>
      <p:sp>
        <p:nvSpPr>
          <p:cNvPr id="8" name="TextBox 7">
            <a:extLst>
              <a:ext uri="{FF2B5EF4-FFF2-40B4-BE49-F238E27FC236}">
                <a16:creationId xmlns:a16="http://schemas.microsoft.com/office/drawing/2014/main" id="{A22A6EFA-4611-D925-1C2B-83BAC24C8BE9}"/>
              </a:ext>
            </a:extLst>
          </p:cNvPr>
          <p:cNvSpPr txBox="1"/>
          <p:nvPr/>
        </p:nvSpPr>
        <p:spPr>
          <a:xfrm>
            <a:off x="105075" y="638637"/>
            <a:ext cx="4040536" cy="4524315"/>
          </a:xfrm>
          <a:prstGeom prst="rect">
            <a:avLst/>
          </a:prstGeom>
          <a:noFill/>
        </p:spPr>
        <p:txBody>
          <a:bodyPr wrap="square">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Home Page:</a:t>
            </a:r>
            <a:r>
              <a:rPr lang="en-US" dirty="0">
                <a:latin typeface="Times New Roman" panose="02020603050405020304" pitchFamily="18" charset="0"/>
                <a:cs typeface="Times New Roman" panose="02020603050405020304" pitchFamily="18" charset="0"/>
              </a:rPr>
              <a:t> Introduces the ransomware detection system and allows users to start scanning using the ‘</a:t>
            </a:r>
            <a:r>
              <a:rPr lang="en-US" b="1" dirty="0">
                <a:latin typeface="Times New Roman" panose="02020603050405020304" pitchFamily="18" charset="0"/>
                <a:cs typeface="Times New Roman" panose="02020603050405020304" pitchFamily="18" charset="0"/>
              </a:rPr>
              <a:t>Initiate Scan’</a:t>
            </a:r>
            <a:r>
              <a:rPr lang="en-US" dirty="0">
                <a:latin typeface="Times New Roman" panose="02020603050405020304" pitchFamily="18" charset="0"/>
                <a:cs typeface="Times New Roman" panose="02020603050405020304" pitchFamily="18" charset="0"/>
              </a:rPr>
              <a:t> button.</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System FAQ:</a:t>
            </a:r>
            <a:r>
              <a:rPr lang="en-US" dirty="0">
                <a:latin typeface="Times New Roman" panose="02020603050405020304" pitchFamily="18" charset="0"/>
                <a:cs typeface="Times New Roman" panose="02020603050405020304" pitchFamily="18" charset="0"/>
              </a:rPr>
              <a:t> Explains how predictions work, supported file formats, and how user data is kept secure.</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Defense Mechanisms:</a:t>
            </a:r>
            <a:r>
              <a:rPr lang="en-US" dirty="0">
                <a:latin typeface="Times New Roman" panose="02020603050405020304" pitchFamily="18" charset="0"/>
                <a:cs typeface="Times New Roman" panose="02020603050405020304" pitchFamily="18" charset="0"/>
              </a:rPr>
              <a:t> Shows key security features like neural network analysis, real-time detection, and zero-trust processing.</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Contact Operations:</a:t>
            </a:r>
            <a:r>
              <a:rPr lang="en-US" dirty="0">
                <a:latin typeface="Times New Roman" panose="02020603050405020304" pitchFamily="18" charset="0"/>
                <a:cs typeface="Times New Roman" panose="02020603050405020304" pitchFamily="18" charset="0"/>
              </a:rPr>
              <a:t> Provides contact details for support and confirms system ownership and authenticity.</a:t>
            </a:r>
          </a:p>
        </p:txBody>
      </p:sp>
    </p:spTree>
    <p:extLst>
      <p:ext uri="{BB962C8B-B14F-4D97-AF65-F5344CB8AC3E}">
        <p14:creationId xmlns:p14="http://schemas.microsoft.com/office/powerpoint/2010/main" val="2360344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9F831118-4057-A962-0570-75299DC915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7309" y="51567"/>
            <a:ext cx="1036691" cy="626148"/>
          </a:xfrm>
          <a:prstGeom prst="rect">
            <a:avLst/>
          </a:prstGeom>
        </p:spPr>
      </p:pic>
      <p:pic>
        <p:nvPicPr>
          <p:cNvPr id="3" name="Picture 2">
            <a:extLst>
              <a:ext uri="{FF2B5EF4-FFF2-40B4-BE49-F238E27FC236}">
                <a16:creationId xmlns:a16="http://schemas.microsoft.com/office/drawing/2014/main" id="{9C6A78E6-25A4-41C2-CF14-55F2FFE529BC}"/>
              </a:ext>
            </a:extLst>
          </p:cNvPr>
          <p:cNvPicPr>
            <a:picLocks noChangeAspect="1"/>
          </p:cNvPicPr>
          <p:nvPr/>
        </p:nvPicPr>
        <p:blipFill>
          <a:blip r:embed="rId3"/>
          <a:stretch>
            <a:fillRect/>
          </a:stretch>
        </p:blipFill>
        <p:spPr>
          <a:xfrm>
            <a:off x="5083024" y="677715"/>
            <a:ext cx="3845924" cy="2127753"/>
          </a:xfrm>
          <a:prstGeom prst="rect">
            <a:avLst/>
          </a:prstGeom>
        </p:spPr>
      </p:pic>
      <p:pic>
        <p:nvPicPr>
          <p:cNvPr id="7" name="Picture 6">
            <a:extLst>
              <a:ext uri="{FF2B5EF4-FFF2-40B4-BE49-F238E27FC236}">
                <a16:creationId xmlns:a16="http://schemas.microsoft.com/office/drawing/2014/main" id="{C73B0EBF-7003-7A0C-DF72-EF3162B49337}"/>
              </a:ext>
            </a:extLst>
          </p:cNvPr>
          <p:cNvPicPr>
            <a:picLocks noChangeAspect="1"/>
          </p:cNvPicPr>
          <p:nvPr/>
        </p:nvPicPr>
        <p:blipFill>
          <a:blip r:embed="rId4"/>
          <a:stretch>
            <a:fillRect/>
          </a:stretch>
        </p:blipFill>
        <p:spPr>
          <a:xfrm>
            <a:off x="5083025" y="2857500"/>
            <a:ext cx="3845924" cy="2234433"/>
          </a:xfrm>
          <a:prstGeom prst="rect">
            <a:avLst/>
          </a:prstGeom>
        </p:spPr>
      </p:pic>
      <p:pic>
        <p:nvPicPr>
          <p:cNvPr id="5" name="Picture 4">
            <a:extLst>
              <a:ext uri="{FF2B5EF4-FFF2-40B4-BE49-F238E27FC236}">
                <a16:creationId xmlns:a16="http://schemas.microsoft.com/office/drawing/2014/main" id="{0572650F-7EA8-E7FE-92B9-30F54A980220}"/>
              </a:ext>
            </a:extLst>
          </p:cNvPr>
          <p:cNvPicPr>
            <a:picLocks noChangeAspect="1"/>
          </p:cNvPicPr>
          <p:nvPr/>
        </p:nvPicPr>
        <p:blipFill>
          <a:blip r:embed="rId5"/>
          <a:stretch>
            <a:fillRect/>
          </a:stretch>
        </p:blipFill>
        <p:spPr>
          <a:xfrm>
            <a:off x="38285" y="51567"/>
            <a:ext cx="5000897" cy="5040366"/>
          </a:xfrm>
          <a:prstGeom prst="rect">
            <a:avLst/>
          </a:prstGeom>
        </p:spPr>
      </p:pic>
    </p:spTree>
    <p:extLst>
      <p:ext uri="{BB962C8B-B14F-4D97-AF65-F5344CB8AC3E}">
        <p14:creationId xmlns:p14="http://schemas.microsoft.com/office/powerpoint/2010/main" val="3520202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57CA63A-BE87-5AFB-FCE1-2B07E427BE21}"/>
              </a:ext>
            </a:extLst>
          </p:cNvPr>
          <p:cNvPicPr>
            <a:picLocks noChangeAspect="1"/>
          </p:cNvPicPr>
          <p:nvPr/>
        </p:nvPicPr>
        <p:blipFill>
          <a:blip r:embed="rId2"/>
          <a:stretch>
            <a:fillRect/>
          </a:stretch>
        </p:blipFill>
        <p:spPr>
          <a:xfrm>
            <a:off x="3566158" y="121884"/>
            <a:ext cx="2623956" cy="4911919"/>
          </a:xfrm>
          <a:prstGeom prst="rect">
            <a:avLst/>
          </a:prstGeom>
        </p:spPr>
      </p:pic>
      <p:pic>
        <p:nvPicPr>
          <p:cNvPr id="11" name="Picture 10">
            <a:extLst>
              <a:ext uri="{FF2B5EF4-FFF2-40B4-BE49-F238E27FC236}">
                <a16:creationId xmlns:a16="http://schemas.microsoft.com/office/drawing/2014/main" id="{C74A5C48-55AD-1EE0-069D-EF541C8FB7FD}"/>
              </a:ext>
            </a:extLst>
          </p:cNvPr>
          <p:cNvPicPr>
            <a:picLocks noChangeAspect="1"/>
          </p:cNvPicPr>
          <p:nvPr/>
        </p:nvPicPr>
        <p:blipFill>
          <a:blip r:embed="rId3"/>
          <a:stretch>
            <a:fillRect/>
          </a:stretch>
        </p:blipFill>
        <p:spPr>
          <a:xfrm>
            <a:off x="6324598" y="121884"/>
            <a:ext cx="2623955" cy="4911919"/>
          </a:xfrm>
          <a:prstGeom prst="rect">
            <a:avLst/>
          </a:prstGeom>
        </p:spPr>
      </p:pic>
      <p:pic>
        <p:nvPicPr>
          <p:cNvPr id="2" name="Picture 1">
            <a:extLst>
              <a:ext uri="{FF2B5EF4-FFF2-40B4-BE49-F238E27FC236}">
                <a16:creationId xmlns:a16="http://schemas.microsoft.com/office/drawing/2014/main" id="{F278F5D9-4170-75F3-F4BE-BF2D305FD1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37185" y="121884"/>
            <a:ext cx="1145854" cy="692081"/>
          </a:xfrm>
          <a:prstGeom prst="rect">
            <a:avLst/>
          </a:prstGeom>
        </p:spPr>
      </p:pic>
      <p:sp>
        <p:nvSpPr>
          <p:cNvPr id="4" name="TextBox 3">
            <a:extLst>
              <a:ext uri="{FF2B5EF4-FFF2-40B4-BE49-F238E27FC236}">
                <a16:creationId xmlns:a16="http://schemas.microsoft.com/office/drawing/2014/main" id="{1C00BAD5-B597-F704-DBF1-CAFC683D324F}"/>
              </a:ext>
            </a:extLst>
          </p:cNvPr>
          <p:cNvSpPr txBox="1"/>
          <p:nvPr/>
        </p:nvSpPr>
        <p:spPr>
          <a:xfrm>
            <a:off x="0" y="798653"/>
            <a:ext cx="3489960" cy="3693319"/>
          </a:xfrm>
          <a:prstGeom prst="rect">
            <a:avLst/>
          </a:prstGeom>
          <a:noFill/>
        </p:spPr>
        <p:txBody>
          <a:bodyPr wrap="square">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Create Account Page: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Allows new users to register by entering a username, email, phone number, and password. This enables secure access to the ransomware detection platform.</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Login Page: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Allows registered users to sign in using their email and password. After login, users can upload files, view predictions, and access system features securely.</a:t>
            </a:r>
          </a:p>
        </p:txBody>
      </p:sp>
    </p:spTree>
    <p:extLst>
      <p:ext uri="{BB962C8B-B14F-4D97-AF65-F5344CB8AC3E}">
        <p14:creationId xmlns:p14="http://schemas.microsoft.com/office/powerpoint/2010/main" val="1612506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DBF518-2319-79AF-D197-C281B6A6E87A}"/>
              </a:ext>
            </a:extLst>
          </p:cNvPr>
          <p:cNvPicPr>
            <a:picLocks noChangeAspect="1"/>
          </p:cNvPicPr>
          <p:nvPr/>
        </p:nvPicPr>
        <p:blipFill>
          <a:blip r:embed="rId2"/>
          <a:stretch>
            <a:fillRect/>
          </a:stretch>
        </p:blipFill>
        <p:spPr>
          <a:xfrm>
            <a:off x="4465320" y="571500"/>
            <a:ext cx="4600494" cy="4472976"/>
          </a:xfrm>
          <a:prstGeom prst="rect">
            <a:avLst/>
          </a:prstGeom>
        </p:spPr>
      </p:pic>
      <p:sp>
        <p:nvSpPr>
          <p:cNvPr id="4" name="TextBox 3">
            <a:extLst>
              <a:ext uri="{FF2B5EF4-FFF2-40B4-BE49-F238E27FC236}">
                <a16:creationId xmlns:a16="http://schemas.microsoft.com/office/drawing/2014/main" id="{629D3AA3-25F1-FF7F-D2B8-EC7DA4695DA1}"/>
              </a:ext>
            </a:extLst>
          </p:cNvPr>
          <p:cNvSpPr txBox="1"/>
          <p:nvPr/>
        </p:nvSpPr>
        <p:spPr>
          <a:xfrm>
            <a:off x="78186" y="99024"/>
            <a:ext cx="4493814" cy="4801314"/>
          </a:xfrm>
          <a:prstGeom prst="rect">
            <a:avLst/>
          </a:prstGeom>
          <a:noFill/>
        </p:spPr>
        <p:txBody>
          <a:bodyPr wrap="square">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Predict Page (Upload Screen):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Allows logged-in users to upload or drag-and-drop files for ransomware analysis and start scanning using the ‘</a:t>
            </a:r>
            <a:r>
              <a:rPr lang="en-US" b="1" dirty="0">
                <a:latin typeface="Times New Roman" panose="02020603050405020304" pitchFamily="18" charset="0"/>
                <a:cs typeface="Times New Roman" panose="02020603050405020304" pitchFamily="18" charset="0"/>
              </a:rPr>
              <a:t>Analyze Image’</a:t>
            </a:r>
            <a:r>
              <a:rPr lang="en-US" dirty="0">
                <a:latin typeface="Times New Roman" panose="02020603050405020304" pitchFamily="18" charset="0"/>
                <a:cs typeface="Times New Roman" panose="02020603050405020304" pitchFamily="18" charset="0"/>
              </a:rPr>
              <a:t> button.</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Legitimate File Result: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Displays detailed file analysis and behavioral indicators, confirming the file is safe with a confidence score.</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Ransomware Detected Result: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Shows file and behavioral analysis along with a clear </a:t>
            </a:r>
            <a:r>
              <a:rPr lang="en-US" b="1" dirty="0">
                <a:latin typeface="Times New Roman" panose="02020603050405020304" pitchFamily="18" charset="0"/>
                <a:cs typeface="Times New Roman" panose="02020603050405020304" pitchFamily="18" charset="0"/>
              </a:rPr>
              <a:t>Ransomware Detected</a:t>
            </a:r>
            <a:r>
              <a:rPr lang="en-US" dirty="0">
                <a:latin typeface="Times New Roman" panose="02020603050405020304" pitchFamily="18" charset="0"/>
                <a:cs typeface="Times New Roman" panose="02020603050405020304" pitchFamily="18" charset="0"/>
              </a:rPr>
              <a:t> alert and confidence percentage.</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Alert Notification (Call):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When ransomware is detected, the system can trigger an alert notification (call) to immediately warn the user or administrator.</a:t>
            </a:r>
          </a:p>
        </p:txBody>
      </p:sp>
      <p:pic>
        <p:nvPicPr>
          <p:cNvPr id="2" name="Picture 1">
            <a:extLst>
              <a:ext uri="{FF2B5EF4-FFF2-40B4-BE49-F238E27FC236}">
                <a16:creationId xmlns:a16="http://schemas.microsoft.com/office/drawing/2014/main" id="{45F74BE9-DC1E-3DF1-0006-FDB1F5425F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19960" y="99024"/>
            <a:ext cx="1145854" cy="692081"/>
          </a:xfrm>
          <a:prstGeom prst="rect">
            <a:avLst/>
          </a:prstGeom>
        </p:spPr>
      </p:pic>
    </p:spTree>
    <p:extLst>
      <p:ext uri="{BB962C8B-B14F-4D97-AF65-F5344CB8AC3E}">
        <p14:creationId xmlns:p14="http://schemas.microsoft.com/office/powerpoint/2010/main" val="2950606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screenshot of a computer&#10;&#10;AI-generated content may be incorrect.">
            <a:extLst>
              <a:ext uri="{FF2B5EF4-FFF2-40B4-BE49-F238E27FC236}">
                <a16:creationId xmlns:a16="http://schemas.microsoft.com/office/drawing/2014/main" id="{CEA3F26D-55F7-467E-32E8-218309A0E673}"/>
              </a:ext>
            </a:extLst>
          </p:cNvPr>
          <p:cNvPicPr>
            <a:picLocks noChangeAspect="1"/>
          </p:cNvPicPr>
          <p:nvPr/>
        </p:nvPicPr>
        <p:blipFill>
          <a:blip r:embed="rId2"/>
          <a:stretch>
            <a:fillRect/>
          </a:stretch>
        </p:blipFill>
        <p:spPr>
          <a:xfrm>
            <a:off x="93426" y="0"/>
            <a:ext cx="2771694" cy="5143500"/>
          </a:xfrm>
          <a:prstGeom prst="rect">
            <a:avLst/>
          </a:prstGeom>
        </p:spPr>
      </p:pic>
      <p:pic>
        <p:nvPicPr>
          <p:cNvPr id="2" name="Picture 1" descr="A screenshot of a phone&#10;&#10;AI-generated content may be incorrect.">
            <a:extLst>
              <a:ext uri="{FF2B5EF4-FFF2-40B4-BE49-F238E27FC236}">
                <a16:creationId xmlns:a16="http://schemas.microsoft.com/office/drawing/2014/main" id="{572956DD-E75D-98C3-6A80-A8039210420D}"/>
              </a:ext>
            </a:extLst>
          </p:cNvPr>
          <p:cNvPicPr>
            <a:picLocks noChangeAspect="1"/>
          </p:cNvPicPr>
          <p:nvPr/>
        </p:nvPicPr>
        <p:blipFill>
          <a:blip r:embed="rId3"/>
          <a:stretch>
            <a:fillRect/>
          </a:stretch>
        </p:blipFill>
        <p:spPr>
          <a:xfrm>
            <a:off x="2998887" y="15205"/>
            <a:ext cx="2845984" cy="5143500"/>
          </a:xfrm>
          <a:prstGeom prst="rect">
            <a:avLst/>
          </a:prstGeom>
        </p:spPr>
      </p:pic>
      <p:pic>
        <p:nvPicPr>
          <p:cNvPr id="3" name="Picture 2">
            <a:extLst>
              <a:ext uri="{FF2B5EF4-FFF2-40B4-BE49-F238E27FC236}">
                <a16:creationId xmlns:a16="http://schemas.microsoft.com/office/drawing/2014/main" id="{E027FA94-E7CE-87AD-DD39-3E9485E04BE2}"/>
              </a:ext>
            </a:extLst>
          </p:cNvPr>
          <p:cNvPicPr>
            <a:picLocks noChangeAspect="1"/>
          </p:cNvPicPr>
          <p:nvPr/>
        </p:nvPicPr>
        <p:blipFill>
          <a:blip r:embed="rId4"/>
          <a:stretch>
            <a:fillRect/>
          </a:stretch>
        </p:blipFill>
        <p:spPr>
          <a:xfrm>
            <a:off x="5978638" y="642694"/>
            <a:ext cx="2588501" cy="4348371"/>
          </a:xfrm>
          <a:prstGeom prst="rect">
            <a:avLst/>
          </a:prstGeom>
        </p:spPr>
      </p:pic>
      <p:pic>
        <p:nvPicPr>
          <p:cNvPr id="10" name="Picture 9">
            <a:extLst>
              <a:ext uri="{FF2B5EF4-FFF2-40B4-BE49-F238E27FC236}">
                <a16:creationId xmlns:a16="http://schemas.microsoft.com/office/drawing/2014/main" id="{75342C0C-7A47-770B-BC77-75B1BF34DE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51380" y="15204"/>
            <a:ext cx="1145854" cy="692081"/>
          </a:xfrm>
          <a:prstGeom prst="rect">
            <a:avLst/>
          </a:prstGeom>
        </p:spPr>
      </p:pic>
    </p:spTree>
    <p:extLst>
      <p:ext uri="{BB962C8B-B14F-4D97-AF65-F5344CB8AC3E}">
        <p14:creationId xmlns:p14="http://schemas.microsoft.com/office/powerpoint/2010/main" val="37566184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3543129-F6C7-A2B6-0B53-7266D19A2000}"/>
              </a:ext>
            </a:extLst>
          </p:cNvPr>
          <p:cNvSpPr txBox="1"/>
          <p:nvPr/>
        </p:nvSpPr>
        <p:spPr>
          <a:xfrm>
            <a:off x="-49530" y="323881"/>
            <a:ext cx="9433560" cy="584775"/>
          </a:xfrm>
          <a:prstGeom prst="rect">
            <a:avLst/>
          </a:prstGeom>
          <a:noFill/>
        </p:spPr>
        <p:txBody>
          <a:bodyPr wrap="square">
            <a:spAutoFit/>
          </a:bodyPr>
          <a:lstStyle/>
          <a:p>
            <a:pPr marL="0" indent="0" algn="ctr" rtl="0" eaLnBrk="1" latinLnBrk="0" hangingPunct="1"/>
            <a:r>
              <a:rPr lang="en-US" sz="3200" b="1" dirty="0">
                <a:solidFill>
                  <a:srgbClr val="203864"/>
                </a:solidFill>
                <a:latin typeface="Times New Roman" panose="02020603050405020304" pitchFamily="18" charset="0"/>
                <a:cs typeface="Times New Roman" panose="02020603050405020304" pitchFamily="18" charset="0"/>
              </a:rPr>
              <a:t>CONCLUSION</a:t>
            </a:r>
          </a:p>
        </p:txBody>
      </p:sp>
      <p:sp>
        <p:nvSpPr>
          <p:cNvPr id="7" name="TextBox 6">
            <a:extLst>
              <a:ext uri="{FF2B5EF4-FFF2-40B4-BE49-F238E27FC236}">
                <a16:creationId xmlns:a16="http://schemas.microsoft.com/office/drawing/2014/main" id="{6076ABBA-4AA9-153F-5C18-37557C3D86DB}"/>
              </a:ext>
            </a:extLst>
          </p:cNvPr>
          <p:cNvSpPr txBox="1"/>
          <p:nvPr/>
        </p:nvSpPr>
        <p:spPr>
          <a:xfrm>
            <a:off x="148590" y="931628"/>
            <a:ext cx="8846820" cy="1525418"/>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project successfully detects ransomware with CNN. The system gives fast and accurate results through a user-friendly web application. Real-time Call alerts make the system more reliable and useful for early warning. Overall, the project proves that deep learning can detect ransomware effectively before it causes damage.</a:t>
            </a:r>
          </a:p>
        </p:txBody>
      </p:sp>
      <p:sp>
        <p:nvSpPr>
          <p:cNvPr id="9" name="TextBox 8">
            <a:extLst>
              <a:ext uri="{FF2B5EF4-FFF2-40B4-BE49-F238E27FC236}">
                <a16:creationId xmlns:a16="http://schemas.microsoft.com/office/drawing/2014/main" id="{B1862584-F963-2A57-F698-40F2409B61AD}"/>
              </a:ext>
            </a:extLst>
          </p:cNvPr>
          <p:cNvSpPr txBox="1"/>
          <p:nvPr/>
        </p:nvSpPr>
        <p:spPr>
          <a:xfrm>
            <a:off x="190500" y="3244097"/>
            <a:ext cx="8953500" cy="1525418"/>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Add support for more ransomware families to improve accuracy. Build a real-time monitoring system that scans files automatically without user upload. Create a desktop or mobile app version for easier use. Add cloud storage protection and automatic file isolation when a threat is detected. Improve alert features by sending email alerts and logging to the dashboard.</a:t>
            </a:r>
          </a:p>
        </p:txBody>
      </p:sp>
      <p:sp>
        <p:nvSpPr>
          <p:cNvPr id="11" name="TextBox 10">
            <a:extLst>
              <a:ext uri="{FF2B5EF4-FFF2-40B4-BE49-F238E27FC236}">
                <a16:creationId xmlns:a16="http://schemas.microsoft.com/office/drawing/2014/main" id="{4DE9321B-071F-DA9E-3A03-88E0DA4A5782}"/>
              </a:ext>
            </a:extLst>
          </p:cNvPr>
          <p:cNvSpPr txBox="1"/>
          <p:nvPr/>
        </p:nvSpPr>
        <p:spPr>
          <a:xfrm>
            <a:off x="419100" y="2610637"/>
            <a:ext cx="8542020" cy="584775"/>
          </a:xfrm>
          <a:prstGeom prst="rect">
            <a:avLst/>
          </a:prstGeom>
          <a:noFill/>
        </p:spPr>
        <p:txBody>
          <a:bodyPr wrap="square">
            <a:spAutoFit/>
          </a:bodyPr>
          <a:lstStyle/>
          <a:p>
            <a:pPr marL="0" indent="0" algn="ctr" rtl="0" eaLnBrk="1" latinLnBrk="0" hangingPunct="1"/>
            <a:r>
              <a:rPr lang="en-US" sz="3200" b="1" dirty="0">
                <a:solidFill>
                  <a:srgbClr val="203864"/>
                </a:solidFill>
                <a:latin typeface="Times New Roman" panose="02020603050405020304" pitchFamily="18" charset="0"/>
                <a:cs typeface="Times New Roman" panose="02020603050405020304" pitchFamily="18" charset="0"/>
              </a:rPr>
              <a:t>FUTURE ENHANCEMENTS </a:t>
            </a:r>
            <a:endParaRPr lang="en-IN" sz="3200" dirty="0">
              <a:effectLst/>
            </a:endParaRPr>
          </a:p>
        </p:txBody>
      </p:sp>
      <p:pic>
        <p:nvPicPr>
          <p:cNvPr id="12" name="Picture 11">
            <a:extLst>
              <a:ext uri="{FF2B5EF4-FFF2-40B4-BE49-F238E27FC236}">
                <a16:creationId xmlns:a16="http://schemas.microsoft.com/office/drawing/2014/main" id="{E2721891-927C-B990-CC5D-EB985F84AD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5266" y="140798"/>
            <a:ext cx="1145854" cy="692081"/>
          </a:xfrm>
          <a:prstGeom prst="rect">
            <a:avLst/>
          </a:prstGeom>
        </p:spPr>
      </p:pic>
    </p:spTree>
    <p:extLst>
      <p:ext uri="{BB962C8B-B14F-4D97-AF65-F5344CB8AC3E}">
        <p14:creationId xmlns:p14="http://schemas.microsoft.com/office/powerpoint/2010/main" val="37992085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27C0BBE-5DA9-DC65-BC0A-4A32F65B9FF4}"/>
              </a:ext>
            </a:extLst>
          </p:cNvPr>
          <p:cNvSpPr txBox="1"/>
          <p:nvPr/>
        </p:nvSpPr>
        <p:spPr>
          <a:xfrm>
            <a:off x="261257" y="197898"/>
            <a:ext cx="8389448" cy="584775"/>
          </a:xfrm>
          <a:prstGeom prst="rect">
            <a:avLst/>
          </a:prstGeom>
          <a:noFill/>
        </p:spPr>
        <p:txBody>
          <a:bodyPr wrap="square">
            <a:spAutoFit/>
          </a:bodyPr>
          <a:lstStyle/>
          <a:p>
            <a:pPr marL="0" indent="0" algn="ctr" rtl="0" eaLnBrk="1" latinLnBrk="0" hangingPunct="1"/>
            <a:r>
              <a:rPr lang="en-US" sz="3200" b="1" dirty="0">
                <a:solidFill>
                  <a:srgbClr val="203864"/>
                </a:solidFill>
                <a:latin typeface="Times New Roman" panose="02020603050405020304" pitchFamily="18" charset="0"/>
                <a:cs typeface="Times New Roman" panose="02020603050405020304" pitchFamily="18" charset="0"/>
              </a:rPr>
              <a:t>REFERENCES</a:t>
            </a:r>
            <a:endParaRPr lang="en-IN" sz="3200" dirty="0">
              <a:effectLst/>
            </a:endParaRPr>
          </a:p>
        </p:txBody>
      </p:sp>
      <p:sp>
        <p:nvSpPr>
          <p:cNvPr id="7" name="TextBox 6">
            <a:extLst>
              <a:ext uri="{FF2B5EF4-FFF2-40B4-BE49-F238E27FC236}">
                <a16:creationId xmlns:a16="http://schemas.microsoft.com/office/drawing/2014/main" id="{9BCD12B2-D3FC-4F85-C25B-DB7D0DF7FC1C}"/>
              </a:ext>
            </a:extLst>
          </p:cNvPr>
          <p:cNvSpPr txBox="1"/>
          <p:nvPr/>
        </p:nvSpPr>
        <p:spPr>
          <a:xfrm>
            <a:off x="622508" y="782673"/>
            <a:ext cx="7898983" cy="411074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Alraizza</a:t>
            </a:r>
            <a:r>
              <a:rPr lang="en-US" sz="1600" dirty="0">
                <a:latin typeface="Times New Roman" panose="02020603050405020304" pitchFamily="18" charset="0"/>
                <a:cs typeface="Times New Roman" panose="02020603050405020304" pitchFamily="18" charset="0"/>
              </a:rPr>
              <a:t>, A., &amp; </a:t>
            </a:r>
            <a:r>
              <a:rPr lang="en-US" sz="1600" dirty="0" err="1">
                <a:latin typeface="Times New Roman" panose="02020603050405020304" pitchFamily="18" charset="0"/>
                <a:cs typeface="Times New Roman" panose="02020603050405020304" pitchFamily="18" charset="0"/>
              </a:rPr>
              <a:t>Algarni</a:t>
            </a:r>
            <a:r>
              <a:rPr lang="en-US" sz="1600" dirty="0">
                <a:latin typeface="Times New Roman" panose="02020603050405020304" pitchFamily="18" charset="0"/>
                <a:cs typeface="Times New Roman" panose="02020603050405020304" pitchFamily="18" charset="0"/>
              </a:rPr>
              <a:t>, A. (2023). </a:t>
            </a:r>
            <a:r>
              <a:rPr lang="en-US" sz="1600" i="1" dirty="0">
                <a:latin typeface="Times New Roman" panose="02020603050405020304" pitchFamily="18" charset="0"/>
                <a:cs typeface="Times New Roman" panose="02020603050405020304" pitchFamily="18" charset="0"/>
              </a:rPr>
              <a:t>Ransomware detection using machine learning: A survey</a:t>
            </a:r>
            <a:r>
              <a:rPr lang="en-US" sz="1600" dirty="0">
                <a:latin typeface="Times New Roman" panose="02020603050405020304" pitchFamily="18" charset="0"/>
                <a:cs typeface="Times New Roman" panose="02020603050405020304" pitchFamily="18" charset="0"/>
              </a:rPr>
              <a:t>. Big Data and Cognitive Computing, 7(3), 143.</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Kok, S., Abdullah, A., </a:t>
            </a:r>
            <a:r>
              <a:rPr lang="en-IN" sz="1600" dirty="0" err="1">
                <a:latin typeface="Times New Roman" panose="02020603050405020304" pitchFamily="18" charset="0"/>
                <a:cs typeface="Times New Roman" panose="02020603050405020304" pitchFamily="18" charset="0"/>
              </a:rPr>
              <a:t>Jhanjhi</a:t>
            </a:r>
            <a:r>
              <a:rPr lang="en-IN" sz="1600" dirty="0">
                <a:latin typeface="Times New Roman" panose="02020603050405020304" pitchFamily="18" charset="0"/>
                <a:cs typeface="Times New Roman" panose="02020603050405020304" pitchFamily="18" charset="0"/>
              </a:rPr>
              <a:t>, N., &amp; Supramaniam, M. (2019). </a:t>
            </a:r>
            <a:r>
              <a:rPr lang="en-IN" sz="1600" i="1" dirty="0">
                <a:latin typeface="Times New Roman" panose="02020603050405020304" pitchFamily="18" charset="0"/>
                <a:cs typeface="Times New Roman" panose="02020603050405020304" pitchFamily="18" charset="0"/>
              </a:rPr>
              <a:t>Ransomware threat and detection techniques: A review</a:t>
            </a:r>
            <a:r>
              <a:rPr lang="en-IN" sz="1600" dirty="0">
                <a:latin typeface="Times New Roman" panose="02020603050405020304" pitchFamily="18" charset="0"/>
                <a:cs typeface="Times New Roman" panose="02020603050405020304" pitchFamily="18" charset="0"/>
              </a:rPr>
              <a:t>. Int. J. </a:t>
            </a:r>
            <a:r>
              <a:rPr lang="en-IN" sz="1600" dirty="0" err="1">
                <a:latin typeface="Times New Roman" panose="02020603050405020304" pitchFamily="18" charset="0"/>
                <a:cs typeface="Times New Roman" panose="02020603050405020304" pitchFamily="18" charset="0"/>
              </a:rPr>
              <a:t>Comput</a:t>
            </a:r>
            <a:r>
              <a:rPr lang="en-IN" sz="1600" dirty="0">
                <a:latin typeface="Times New Roman" panose="02020603050405020304" pitchFamily="18" charset="0"/>
                <a:cs typeface="Times New Roman" panose="02020603050405020304" pitchFamily="18" charset="0"/>
              </a:rPr>
              <a:t>. Sci. </a:t>
            </a:r>
            <a:r>
              <a:rPr lang="en-IN" sz="1600" dirty="0" err="1">
                <a:latin typeface="Times New Roman" panose="02020603050405020304" pitchFamily="18" charset="0"/>
                <a:cs typeface="Times New Roman" panose="02020603050405020304" pitchFamily="18" charset="0"/>
              </a:rPr>
              <a:t>Netw</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Secur</a:t>
            </a:r>
            <a:r>
              <a:rPr lang="en-IN" sz="1600" dirty="0">
                <a:latin typeface="Times New Roman" panose="02020603050405020304" pitchFamily="18" charset="0"/>
                <a:cs typeface="Times New Roman" panose="02020603050405020304" pitchFamily="18" charset="0"/>
              </a:rPr>
              <a:t>, 19(2), 136.</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Musonda, M., Zimba, A., &amp; </a:t>
            </a:r>
            <a:r>
              <a:rPr lang="en-IN" sz="1600" dirty="0" err="1">
                <a:latin typeface="Times New Roman" panose="02020603050405020304" pitchFamily="18" charset="0"/>
                <a:cs typeface="Times New Roman" panose="02020603050405020304" pitchFamily="18" charset="0"/>
              </a:rPr>
              <a:t>Sinyinda</a:t>
            </a:r>
            <a:r>
              <a:rPr lang="en-IN" sz="1600" dirty="0">
                <a:latin typeface="Times New Roman" panose="02020603050405020304" pitchFamily="18" charset="0"/>
                <a:cs typeface="Times New Roman" panose="02020603050405020304" pitchFamily="18" charset="0"/>
              </a:rPr>
              <a:t>, M. (2023). </a:t>
            </a:r>
            <a:r>
              <a:rPr lang="en-IN" sz="1600" i="1" dirty="0">
                <a:latin typeface="Times New Roman" panose="02020603050405020304" pitchFamily="18" charset="0"/>
                <a:cs typeface="Times New Roman" panose="02020603050405020304" pitchFamily="18" charset="0"/>
              </a:rPr>
              <a:t>Machine learning-based crypto ransomware detection model on Windows platforms</a:t>
            </a:r>
            <a:r>
              <a:rPr lang="en-IN" sz="1600" dirty="0">
                <a:latin typeface="Times New Roman" panose="02020603050405020304" pitchFamily="18" charset="0"/>
                <a:cs typeface="Times New Roman" panose="02020603050405020304" pitchFamily="18" charset="0"/>
              </a:rPr>
              <a:t>. ICICT-Zambia, 5(1), 141-147.</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Ganfure</a:t>
            </a:r>
            <a:r>
              <a:rPr lang="en-US" sz="1600" dirty="0">
                <a:latin typeface="Times New Roman" panose="02020603050405020304" pitchFamily="18" charset="0"/>
                <a:cs typeface="Times New Roman" panose="02020603050405020304" pitchFamily="18" charset="0"/>
              </a:rPr>
              <a:t>, G. O., Wu, C.-F., Chang, Y.-H., &amp; Shih, W.-K. (2022). </a:t>
            </a:r>
            <a:r>
              <a:rPr lang="en-US" sz="1600" i="1" dirty="0" err="1">
                <a:latin typeface="Times New Roman" panose="02020603050405020304" pitchFamily="18" charset="0"/>
                <a:cs typeface="Times New Roman" panose="02020603050405020304" pitchFamily="18" charset="0"/>
              </a:rPr>
              <a:t>Deepware</a:t>
            </a:r>
            <a:r>
              <a:rPr lang="en-US" sz="1600" i="1" dirty="0">
                <a:latin typeface="Times New Roman" panose="02020603050405020304" pitchFamily="18" charset="0"/>
                <a:cs typeface="Times New Roman" panose="02020603050405020304" pitchFamily="18" charset="0"/>
              </a:rPr>
              <a:t>: Imaging performance counters with deep learning to detect ransomware</a:t>
            </a:r>
            <a:r>
              <a:rPr lang="en-US" sz="1600" dirty="0">
                <a:latin typeface="Times New Roman" panose="02020603050405020304" pitchFamily="18" charset="0"/>
                <a:cs typeface="Times New Roman" panose="02020603050405020304" pitchFamily="18" charset="0"/>
              </a:rPr>
              <a:t>. IEEE Transactions on Computers, 72(3), 600-613.</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Almomani, I., et al. (2021). </a:t>
            </a:r>
            <a:r>
              <a:rPr lang="en-US" sz="1600" i="1" dirty="0">
                <a:latin typeface="Times New Roman" panose="02020603050405020304" pitchFamily="18" charset="0"/>
                <a:cs typeface="Times New Roman" panose="02020603050405020304" pitchFamily="18" charset="0"/>
              </a:rPr>
              <a:t>Android ransomware detection using a hybrid evolutionary approach</a:t>
            </a:r>
            <a:r>
              <a:rPr lang="en-US" sz="1600" dirty="0">
                <a:latin typeface="Times New Roman" panose="02020603050405020304" pitchFamily="18" charset="0"/>
                <a:cs typeface="Times New Roman" panose="02020603050405020304" pitchFamily="18" charset="0"/>
              </a:rPr>
              <a:t>. IEEE Access, 9, 57674-57691.</a:t>
            </a:r>
            <a:endParaRPr lang="en-IN" sz="16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494AD21E-36D3-55FC-5FB7-3788CDB527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8853" y="144244"/>
            <a:ext cx="1145854" cy="692081"/>
          </a:xfrm>
          <a:prstGeom prst="rect">
            <a:avLst/>
          </a:prstGeom>
        </p:spPr>
      </p:pic>
    </p:spTree>
    <p:extLst>
      <p:ext uri="{BB962C8B-B14F-4D97-AF65-F5344CB8AC3E}">
        <p14:creationId xmlns:p14="http://schemas.microsoft.com/office/powerpoint/2010/main" val="3788100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650BD15-191F-4C37-8EB9-6BAF011B3238}">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3143</TotalTime>
  <Words>1788</Words>
  <Application>Microsoft Office PowerPoint</Application>
  <PresentationFormat>On-screen Show (16:9)</PresentationFormat>
  <Paragraphs>205</Paragraphs>
  <Slides>27</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sv varsha</cp:lastModifiedBy>
  <cp:revision>42</cp:revision>
  <dcterms:created xsi:type="dcterms:W3CDTF">2025-03-18T15:28:33Z</dcterms:created>
  <dcterms:modified xsi:type="dcterms:W3CDTF">2026-01-07T18:52:37Z</dcterms:modified>
</cp:coreProperties>
</file>